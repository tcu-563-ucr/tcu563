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4" r:id="rId3"/>
    <p:sldId id="275" r:id="rId4"/>
    <p:sldId id="276" r:id="rId5"/>
    <p:sldId id="277" r:id="rId6"/>
    <p:sldId id="278" r:id="rId7"/>
    <p:sldId id="279" r:id="rId8"/>
    <p:sldId id="302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304" r:id="rId29"/>
    <p:sldId id="305" r:id="rId30"/>
    <p:sldId id="301" r:id="rId31"/>
  </p:sldIdLst>
  <p:sldSz cx="9144000" cy="6858000" type="screen4x3"/>
  <p:notesSz cx="9144000" cy="6858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06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0" i="0">
                <a:solidFill>
                  <a:srgbClr val="7B5D50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010" y="3556"/>
            <a:ext cx="820419" cy="819785"/>
          </a:xfrm>
          <a:custGeom>
            <a:avLst/>
            <a:gdLst/>
            <a:ahLst/>
            <a:cxnLst/>
            <a:rect l="l" t="t" r="r" b="b"/>
            <a:pathLst>
              <a:path w="820419" h="819785">
                <a:moveTo>
                  <a:pt x="819949" y="0"/>
                </a:moveTo>
                <a:lnTo>
                  <a:pt x="506" y="0"/>
                </a:lnTo>
                <a:lnTo>
                  <a:pt x="0" y="819404"/>
                </a:lnTo>
                <a:lnTo>
                  <a:pt x="48653" y="818012"/>
                </a:lnTo>
                <a:lnTo>
                  <a:pt x="96069" y="813890"/>
                </a:lnTo>
                <a:lnTo>
                  <a:pt x="142676" y="807114"/>
                </a:lnTo>
                <a:lnTo>
                  <a:pt x="188396" y="797760"/>
                </a:lnTo>
                <a:lnTo>
                  <a:pt x="233153" y="785906"/>
                </a:lnTo>
                <a:lnTo>
                  <a:pt x="276870" y="771629"/>
                </a:lnTo>
                <a:lnTo>
                  <a:pt x="319469" y="755005"/>
                </a:lnTo>
                <a:lnTo>
                  <a:pt x="360876" y="736111"/>
                </a:lnTo>
                <a:lnTo>
                  <a:pt x="401011" y="715024"/>
                </a:lnTo>
                <a:lnTo>
                  <a:pt x="439799" y="691821"/>
                </a:lnTo>
                <a:lnTo>
                  <a:pt x="477163" y="666580"/>
                </a:lnTo>
                <a:lnTo>
                  <a:pt x="513025" y="639376"/>
                </a:lnTo>
                <a:lnTo>
                  <a:pt x="547310" y="610287"/>
                </a:lnTo>
                <a:lnTo>
                  <a:pt x="579939" y="579389"/>
                </a:lnTo>
                <a:lnTo>
                  <a:pt x="610837" y="546760"/>
                </a:lnTo>
                <a:lnTo>
                  <a:pt x="639926" y="512477"/>
                </a:lnTo>
                <a:lnTo>
                  <a:pt x="667130" y="476615"/>
                </a:lnTo>
                <a:lnTo>
                  <a:pt x="692371" y="439253"/>
                </a:lnTo>
                <a:lnTo>
                  <a:pt x="715574" y="400467"/>
                </a:lnTo>
                <a:lnTo>
                  <a:pt x="736660" y="360334"/>
                </a:lnTo>
                <a:lnTo>
                  <a:pt x="755553" y="318930"/>
                </a:lnTo>
                <a:lnTo>
                  <a:pt x="772177" y="276333"/>
                </a:lnTo>
                <a:lnTo>
                  <a:pt x="786453" y="232620"/>
                </a:lnTo>
                <a:lnTo>
                  <a:pt x="798307" y="187868"/>
                </a:lnTo>
                <a:lnTo>
                  <a:pt x="807660" y="142152"/>
                </a:lnTo>
                <a:lnTo>
                  <a:pt x="814436" y="95551"/>
                </a:lnTo>
                <a:lnTo>
                  <a:pt x="818558" y="48141"/>
                </a:lnTo>
                <a:lnTo>
                  <a:pt x="819949" y="0"/>
                </a:lnTo>
                <a:close/>
              </a:path>
            </a:pathLst>
          </a:custGeom>
          <a:solidFill>
            <a:srgbClr val="FFF9F1">
              <a:alpha val="3294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010" y="3556"/>
            <a:ext cx="820419" cy="819785"/>
          </a:xfrm>
          <a:custGeom>
            <a:avLst/>
            <a:gdLst/>
            <a:ahLst/>
            <a:cxnLst/>
            <a:rect l="l" t="t" r="r" b="b"/>
            <a:pathLst>
              <a:path w="820419" h="819785">
                <a:moveTo>
                  <a:pt x="819949" y="0"/>
                </a:moveTo>
                <a:lnTo>
                  <a:pt x="818558" y="48141"/>
                </a:lnTo>
                <a:lnTo>
                  <a:pt x="814436" y="95551"/>
                </a:lnTo>
                <a:lnTo>
                  <a:pt x="807660" y="142152"/>
                </a:lnTo>
                <a:lnTo>
                  <a:pt x="798307" y="187868"/>
                </a:lnTo>
                <a:lnTo>
                  <a:pt x="786453" y="232620"/>
                </a:lnTo>
                <a:lnTo>
                  <a:pt x="772177" y="276333"/>
                </a:lnTo>
                <a:lnTo>
                  <a:pt x="755553" y="318930"/>
                </a:lnTo>
                <a:lnTo>
                  <a:pt x="736660" y="360334"/>
                </a:lnTo>
                <a:lnTo>
                  <a:pt x="715574" y="400467"/>
                </a:lnTo>
                <a:lnTo>
                  <a:pt x="692371" y="439253"/>
                </a:lnTo>
                <a:lnTo>
                  <a:pt x="667130" y="476615"/>
                </a:lnTo>
                <a:lnTo>
                  <a:pt x="639926" y="512477"/>
                </a:lnTo>
                <a:lnTo>
                  <a:pt x="610837" y="546760"/>
                </a:lnTo>
                <a:lnTo>
                  <a:pt x="579939" y="579389"/>
                </a:lnTo>
                <a:lnTo>
                  <a:pt x="547310" y="610287"/>
                </a:lnTo>
                <a:lnTo>
                  <a:pt x="513025" y="639376"/>
                </a:lnTo>
                <a:lnTo>
                  <a:pt x="477163" y="666580"/>
                </a:lnTo>
                <a:lnTo>
                  <a:pt x="439799" y="691821"/>
                </a:lnTo>
                <a:lnTo>
                  <a:pt x="401011" y="715024"/>
                </a:lnTo>
                <a:lnTo>
                  <a:pt x="360876" y="736111"/>
                </a:lnTo>
                <a:lnTo>
                  <a:pt x="319469" y="755005"/>
                </a:lnTo>
                <a:lnTo>
                  <a:pt x="276870" y="771629"/>
                </a:lnTo>
                <a:lnTo>
                  <a:pt x="233153" y="785906"/>
                </a:lnTo>
                <a:lnTo>
                  <a:pt x="188396" y="797760"/>
                </a:lnTo>
                <a:lnTo>
                  <a:pt x="142676" y="807114"/>
                </a:lnTo>
                <a:lnTo>
                  <a:pt x="96069" y="813890"/>
                </a:lnTo>
                <a:lnTo>
                  <a:pt x="48653" y="818012"/>
                </a:lnTo>
                <a:lnTo>
                  <a:pt x="505" y="819404"/>
                </a:lnTo>
                <a:lnTo>
                  <a:pt x="336" y="819404"/>
                </a:lnTo>
                <a:lnTo>
                  <a:pt x="168" y="819404"/>
                </a:lnTo>
                <a:lnTo>
                  <a:pt x="0" y="819404"/>
                </a:lnTo>
                <a:lnTo>
                  <a:pt x="506" y="0"/>
                </a:lnTo>
                <a:lnTo>
                  <a:pt x="819949" y="0"/>
                </a:lnTo>
                <a:close/>
              </a:path>
            </a:pathLst>
          </a:custGeom>
          <a:ln w="3175">
            <a:solidFill>
              <a:srgbClr val="DAC2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28015" y="6095"/>
            <a:ext cx="1784604" cy="17830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68821" y="21081"/>
            <a:ext cx="1702435" cy="1702435"/>
          </a:xfrm>
          <a:custGeom>
            <a:avLst/>
            <a:gdLst/>
            <a:ahLst/>
            <a:cxnLst/>
            <a:rect l="l" t="t" r="r" b="b"/>
            <a:pathLst>
              <a:path w="1702435" h="1702435">
                <a:moveTo>
                  <a:pt x="0" y="851154"/>
                </a:moveTo>
                <a:lnTo>
                  <a:pt x="1347" y="802859"/>
                </a:lnTo>
                <a:lnTo>
                  <a:pt x="5341" y="755271"/>
                </a:lnTo>
                <a:lnTo>
                  <a:pt x="11909" y="708461"/>
                </a:lnTo>
                <a:lnTo>
                  <a:pt x="20981" y="662500"/>
                </a:lnTo>
                <a:lnTo>
                  <a:pt x="32484" y="617462"/>
                </a:lnTo>
                <a:lnTo>
                  <a:pt x="46346" y="573417"/>
                </a:lnTo>
                <a:lnTo>
                  <a:pt x="62495" y="530438"/>
                </a:lnTo>
                <a:lnTo>
                  <a:pt x="80860" y="488596"/>
                </a:lnTo>
                <a:lnTo>
                  <a:pt x="101369" y="447964"/>
                </a:lnTo>
                <a:lnTo>
                  <a:pt x="123949" y="408613"/>
                </a:lnTo>
                <a:lnTo>
                  <a:pt x="148530" y="370615"/>
                </a:lnTo>
                <a:lnTo>
                  <a:pt x="175039" y="334042"/>
                </a:lnTo>
                <a:lnTo>
                  <a:pt x="203404" y="298966"/>
                </a:lnTo>
                <a:lnTo>
                  <a:pt x="233553" y="265459"/>
                </a:lnTo>
                <a:lnTo>
                  <a:pt x="265416" y="233593"/>
                </a:lnTo>
                <a:lnTo>
                  <a:pt x="298919" y="203439"/>
                </a:lnTo>
                <a:lnTo>
                  <a:pt x="333991" y="175070"/>
                </a:lnTo>
                <a:lnTo>
                  <a:pt x="370561" y="148557"/>
                </a:lnTo>
                <a:lnTo>
                  <a:pt x="408556" y="123973"/>
                </a:lnTo>
                <a:lnTo>
                  <a:pt x="447904" y="101388"/>
                </a:lnTo>
                <a:lnTo>
                  <a:pt x="488534" y="80876"/>
                </a:lnTo>
                <a:lnTo>
                  <a:pt x="530373" y="62508"/>
                </a:lnTo>
                <a:lnTo>
                  <a:pt x="573351" y="46355"/>
                </a:lnTo>
                <a:lnTo>
                  <a:pt x="617394" y="32490"/>
                </a:lnTo>
                <a:lnTo>
                  <a:pt x="662432" y="20985"/>
                </a:lnTo>
                <a:lnTo>
                  <a:pt x="708393" y="11912"/>
                </a:lnTo>
                <a:lnTo>
                  <a:pt x="755204" y="5342"/>
                </a:lnTo>
                <a:lnTo>
                  <a:pt x="802793" y="1347"/>
                </a:lnTo>
                <a:lnTo>
                  <a:pt x="851090" y="0"/>
                </a:lnTo>
                <a:lnTo>
                  <a:pt x="899386" y="1347"/>
                </a:lnTo>
                <a:lnTo>
                  <a:pt x="946976" y="5342"/>
                </a:lnTo>
                <a:lnTo>
                  <a:pt x="993786" y="11912"/>
                </a:lnTo>
                <a:lnTo>
                  <a:pt x="1039746" y="20985"/>
                </a:lnTo>
                <a:lnTo>
                  <a:pt x="1084783" y="32490"/>
                </a:lnTo>
                <a:lnTo>
                  <a:pt x="1128825" y="46355"/>
                </a:lnTo>
                <a:lnTo>
                  <a:pt x="1171801" y="62508"/>
                </a:lnTo>
                <a:lnTo>
                  <a:pt x="1213639" y="80876"/>
                </a:lnTo>
                <a:lnTo>
                  <a:pt x="1254268" y="101388"/>
                </a:lnTo>
                <a:lnTo>
                  <a:pt x="1293614" y="123973"/>
                </a:lnTo>
                <a:lnTo>
                  <a:pt x="1331607" y="148557"/>
                </a:lnTo>
                <a:lnTo>
                  <a:pt x="1368174" y="175070"/>
                </a:lnTo>
                <a:lnTo>
                  <a:pt x="1403245" y="203439"/>
                </a:lnTo>
                <a:lnTo>
                  <a:pt x="1436746" y="233593"/>
                </a:lnTo>
                <a:lnTo>
                  <a:pt x="1468606" y="265459"/>
                </a:lnTo>
                <a:lnTo>
                  <a:pt x="1498754" y="298966"/>
                </a:lnTo>
                <a:lnTo>
                  <a:pt x="1527117" y="334042"/>
                </a:lnTo>
                <a:lnTo>
                  <a:pt x="1553624" y="370615"/>
                </a:lnTo>
                <a:lnTo>
                  <a:pt x="1578203" y="408613"/>
                </a:lnTo>
                <a:lnTo>
                  <a:pt x="1600782" y="447964"/>
                </a:lnTo>
                <a:lnTo>
                  <a:pt x="1621289" y="488596"/>
                </a:lnTo>
                <a:lnTo>
                  <a:pt x="1639653" y="530438"/>
                </a:lnTo>
                <a:lnTo>
                  <a:pt x="1655801" y="573417"/>
                </a:lnTo>
                <a:lnTo>
                  <a:pt x="1669661" y="617462"/>
                </a:lnTo>
                <a:lnTo>
                  <a:pt x="1681163" y="662500"/>
                </a:lnTo>
                <a:lnTo>
                  <a:pt x="1690234" y="708461"/>
                </a:lnTo>
                <a:lnTo>
                  <a:pt x="1696802" y="755271"/>
                </a:lnTo>
                <a:lnTo>
                  <a:pt x="1700795" y="802859"/>
                </a:lnTo>
                <a:lnTo>
                  <a:pt x="1702142" y="851154"/>
                </a:lnTo>
                <a:lnTo>
                  <a:pt x="1700795" y="899447"/>
                </a:lnTo>
                <a:lnTo>
                  <a:pt x="1696802" y="947034"/>
                </a:lnTo>
                <a:lnTo>
                  <a:pt x="1690234" y="993843"/>
                </a:lnTo>
                <a:lnTo>
                  <a:pt x="1681163" y="1039800"/>
                </a:lnTo>
                <a:lnTo>
                  <a:pt x="1669661" y="1084835"/>
                </a:lnTo>
                <a:lnTo>
                  <a:pt x="1655801" y="1128876"/>
                </a:lnTo>
                <a:lnTo>
                  <a:pt x="1639653" y="1171850"/>
                </a:lnTo>
                <a:lnTo>
                  <a:pt x="1621289" y="1213687"/>
                </a:lnTo>
                <a:lnTo>
                  <a:pt x="1600782" y="1254314"/>
                </a:lnTo>
                <a:lnTo>
                  <a:pt x="1578203" y="1293659"/>
                </a:lnTo>
                <a:lnTo>
                  <a:pt x="1553624" y="1331651"/>
                </a:lnTo>
                <a:lnTo>
                  <a:pt x="1527117" y="1368218"/>
                </a:lnTo>
                <a:lnTo>
                  <a:pt x="1498754" y="1403287"/>
                </a:lnTo>
                <a:lnTo>
                  <a:pt x="1468606" y="1436788"/>
                </a:lnTo>
                <a:lnTo>
                  <a:pt x="1436746" y="1468647"/>
                </a:lnTo>
                <a:lnTo>
                  <a:pt x="1403245" y="1498795"/>
                </a:lnTo>
                <a:lnTo>
                  <a:pt x="1368174" y="1527157"/>
                </a:lnTo>
                <a:lnTo>
                  <a:pt x="1331607" y="1553664"/>
                </a:lnTo>
                <a:lnTo>
                  <a:pt x="1293614" y="1578242"/>
                </a:lnTo>
                <a:lnTo>
                  <a:pt x="1254268" y="1600821"/>
                </a:lnTo>
                <a:lnTo>
                  <a:pt x="1213639" y="1621328"/>
                </a:lnTo>
                <a:lnTo>
                  <a:pt x="1171801" y="1639691"/>
                </a:lnTo>
                <a:lnTo>
                  <a:pt x="1128825" y="1655839"/>
                </a:lnTo>
                <a:lnTo>
                  <a:pt x="1084783" y="1669700"/>
                </a:lnTo>
                <a:lnTo>
                  <a:pt x="1039746" y="1681201"/>
                </a:lnTo>
                <a:lnTo>
                  <a:pt x="993786" y="1690272"/>
                </a:lnTo>
                <a:lnTo>
                  <a:pt x="946976" y="1696840"/>
                </a:lnTo>
                <a:lnTo>
                  <a:pt x="899386" y="1700833"/>
                </a:lnTo>
                <a:lnTo>
                  <a:pt x="851090" y="1702181"/>
                </a:lnTo>
                <a:lnTo>
                  <a:pt x="802793" y="1700833"/>
                </a:lnTo>
                <a:lnTo>
                  <a:pt x="755204" y="1696840"/>
                </a:lnTo>
                <a:lnTo>
                  <a:pt x="708393" y="1690272"/>
                </a:lnTo>
                <a:lnTo>
                  <a:pt x="662432" y="1681201"/>
                </a:lnTo>
                <a:lnTo>
                  <a:pt x="617394" y="1669700"/>
                </a:lnTo>
                <a:lnTo>
                  <a:pt x="573351" y="1655839"/>
                </a:lnTo>
                <a:lnTo>
                  <a:pt x="530373" y="1639691"/>
                </a:lnTo>
                <a:lnTo>
                  <a:pt x="488534" y="1621328"/>
                </a:lnTo>
                <a:lnTo>
                  <a:pt x="447904" y="1600821"/>
                </a:lnTo>
                <a:lnTo>
                  <a:pt x="408556" y="1578242"/>
                </a:lnTo>
                <a:lnTo>
                  <a:pt x="370561" y="1553664"/>
                </a:lnTo>
                <a:lnTo>
                  <a:pt x="333991" y="1527157"/>
                </a:lnTo>
                <a:lnTo>
                  <a:pt x="298919" y="1498795"/>
                </a:lnTo>
                <a:lnTo>
                  <a:pt x="265416" y="1468647"/>
                </a:lnTo>
                <a:lnTo>
                  <a:pt x="233553" y="1436788"/>
                </a:lnTo>
                <a:lnTo>
                  <a:pt x="203404" y="1403287"/>
                </a:lnTo>
                <a:lnTo>
                  <a:pt x="175039" y="1368218"/>
                </a:lnTo>
                <a:lnTo>
                  <a:pt x="148530" y="1331651"/>
                </a:lnTo>
                <a:lnTo>
                  <a:pt x="123949" y="1293659"/>
                </a:lnTo>
                <a:lnTo>
                  <a:pt x="101369" y="1254314"/>
                </a:lnTo>
                <a:lnTo>
                  <a:pt x="80860" y="1213687"/>
                </a:lnTo>
                <a:lnTo>
                  <a:pt x="62495" y="1171850"/>
                </a:lnTo>
                <a:lnTo>
                  <a:pt x="46346" y="1128876"/>
                </a:lnTo>
                <a:lnTo>
                  <a:pt x="32484" y="1084835"/>
                </a:lnTo>
                <a:lnTo>
                  <a:pt x="20981" y="1039800"/>
                </a:lnTo>
                <a:lnTo>
                  <a:pt x="11909" y="993843"/>
                </a:lnTo>
                <a:lnTo>
                  <a:pt x="5341" y="947034"/>
                </a:lnTo>
                <a:lnTo>
                  <a:pt x="1347" y="899447"/>
                </a:lnTo>
                <a:lnTo>
                  <a:pt x="0" y="851154"/>
                </a:lnTo>
                <a:close/>
              </a:path>
            </a:pathLst>
          </a:custGeom>
          <a:ln w="27305">
            <a:solidFill>
              <a:srgbClr val="FFF5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72212" y="1045464"/>
            <a:ext cx="1155192" cy="11506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87319" y="1050633"/>
            <a:ext cx="1116813" cy="111147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87319" y="1050633"/>
            <a:ext cx="1116965" cy="1111885"/>
          </a:xfrm>
          <a:custGeom>
            <a:avLst/>
            <a:gdLst/>
            <a:ahLst/>
            <a:cxnLst/>
            <a:rect l="l" t="t" r="r" b="b"/>
            <a:pathLst>
              <a:path w="1116965" h="1111885">
                <a:moveTo>
                  <a:pt x="118496" y="204634"/>
                </a:moveTo>
                <a:lnTo>
                  <a:pt x="149785" y="168741"/>
                </a:lnTo>
                <a:lnTo>
                  <a:pt x="183515" y="136234"/>
                </a:lnTo>
                <a:lnTo>
                  <a:pt x="219451" y="107137"/>
                </a:lnTo>
                <a:lnTo>
                  <a:pt x="257356" y="81474"/>
                </a:lnTo>
                <a:lnTo>
                  <a:pt x="296996" y="59270"/>
                </a:lnTo>
                <a:lnTo>
                  <a:pt x="338135" y="40547"/>
                </a:lnTo>
                <a:lnTo>
                  <a:pt x="380538" y="25331"/>
                </a:lnTo>
                <a:lnTo>
                  <a:pt x="423971" y="13644"/>
                </a:lnTo>
                <a:lnTo>
                  <a:pt x="468196" y="5510"/>
                </a:lnTo>
                <a:lnTo>
                  <a:pt x="512980" y="954"/>
                </a:lnTo>
                <a:lnTo>
                  <a:pt x="558087" y="0"/>
                </a:lnTo>
                <a:lnTo>
                  <a:pt x="603281" y="2670"/>
                </a:lnTo>
                <a:lnTo>
                  <a:pt x="648327" y="8990"/>
                </a:lnTo>
                <a:lnTo>
                  <a:pt x="692991" y="18983"/>
                </a:lnTo>
                <a:lnTo>
                  <a:pt x="737036" y="32672"/>
                </a:lnTo>
                <a:lnTo>
                  <a:pt x="780227" y="50083"/>
                </a:lnTo>
                <a:lnTo>
                  <a:pt x="822330" y="71238"/>
                </a:lnTo>
                <a:lnTo>
                  <a:pt x="863108" y="96162"/>
                </a:lnTo>
                <a:lnTo>
                  <a:pt x="902327" y="124878"/>
                </a:lnTo>
                <a:lnTo>
                  <a:pt x="939023" y="156757"/>
                </a:lnTo>
                <a:lnTo>
                  <a:pt x="972365" y="190998"/>
                </a:lnTo>
                <a:lnTo>
                  <a:pt x="1002325" y="227366"/>
                </a:lnTo>
                <a:lnTo>
                  <a:pt x="1028874" y="265625"/>
                </a:lnTo>
                <a:lnTo>
                  <a:pt x="1051985" y="305541"/>
                </a:lnTo>
                <a:lnTo>
                  <a:pt x="1071626" y="346879"/>
                </a:lnTo>
                <a:lnTo>
                  <a:pt x="1087772" y="389404"/>
                </a:lnTo>
                <a:lnTo>
                  <a:pt x="1100392" y="432881"/>
                </a:lnTo>
                <a:lnTo>
                  <a:pt x="1109458" y="477076"/>
                </a:lnTo>
                <a:lnTo>
                  <a:pt x="1114941" y="521754"/>
                </a:lnTo>
                <a:lnTo>
                  <a:pt x="1116813" y="566679"/>
                </a:lnTo>
                <a:lnTo>
                  <a:pt x="1115044" y="611617"/>
                </a:lnTo>
                <a:lnTo>
                  <a:pt x="1109608" y="656333"/>
                </a:lnTo>
                <a:lnTo>
                  <a:pt x="1100473" y="700593"/>
                </a:lnTo>
                <a:lnTo>
                  <a:pt x="1087613" y="744160"/>
                </a:lnTo>
                <a:lnTo>
                  <a:pt x="1070998" y="786801"/>
                </a:lnTo>
                <a:lnTo>
                  <a:pt x="1050600" y="828281"/>
                </a:lnTo>
                <a:lnTo>
                  <a:pt x="1026390" y="868365"/>
                </a:lnTo>
                <a:lnTo>
                  <a:pt x="998339" y="906817"/>
                </a:lnTo>
                <a:lnTo>
                  <a:pt x="967050" y="942710"/>
                </a:lnTo>
                <a:lnTo>
                  <a:pt x="933320" y="975218"/>
                </a:lnTo>
                <a:lnTo>
                  <a:pt x="897385" y="1004315"/>
                </a:lnTo>
                <a:lnTo>
                  <a:pt x="859481" y="1029978"/>
                </a:lnTo>
                <a:lnTo>
                  <a:pt x="819841" y="1052184"/>
                </a:lnTo>
                <a:lnTo>
                  <a:pt x="778703" y="1070908"/>
                </a:lnTo>
                <a:lnTo>
                  <a:pt x="736300" y="1086127"/>
                </a:lnTo>
                <a:lnTo>
                  <a:pt x="692869" y="1097817"/>
                </a:lnTo>
                <a:lnTo>
                  <a:pt x="648644" y="1105954"/>
                </a:lnTo>
                <a:lnTo>
                  <a:pt x="603860" y="1110515"/>
                </a:lnTo>
                <a:lnTo>
                  <a:pt x="558754" y="1111476"/>
                </a:lnTo>
                <a:lnTo>
                  <a:pt x="513560" y="1108813"/>
                </a:lnTo>
                <a:lnTo>
                  <a:pt x="468514" y="1102502"/>
                </a:lnTo>
                <a:lnTo>
                  <a:pt x="423850" y="1092519"/>
                </a:lnTo>
                <a:lnTo>
                  <a:pt x="379804" y="1078841"/>
                </a:lnTo>
                <a:lnTo>
                  <a:pt x="336612" y="1061444"/>
                </a:lnTo>
                <a:lnTo>
                  <a:pt x="294508" y="1040304"/>
                </a:lnTo>
                <a:lnTo>
                  <a:pt x="253729" y="1015397"/>
                </a:lnTo>
                <a:lnTo>
                  <a:pt x="214508" y="986700"/>
                </a:lnTo>
                <a:lnTo>
                  <a:pt x="177812" y="954821"/>
                </a:lnTo>
                <a:lnTo>
                  <a:pt x="144469" y="920580"/>
                </a:lnTo>
                <a:lnTo>
                  <a:pt x="114507" y="884212"/>
                </a:lnTo>
                <a:lnTo>
                  <a:pt x="87955" y="845952"/>
                </a:lnTo>
                <a:lnTo>
                  <a:pt x="64842" y="806035"/>
                </a:lnTo>
                <a:lnTo>
                  <a:pt x="45198" y="764695"/>
                </a:lnTo>
                <a:lnTo>
                  <a:pt x="29049" y="722168"/>
                </a:lnTo>
                <a:lnTo>
                  <a:pt x="16427" y="678687"/>
                </a:lnTo>
                <a:lnTo>
                  <a:pt x="7358" y="634488"/>
                </a:lnTo>
                <a:lnTo>
                  <a:pt x="1873" y="589806"/>
                </a:lnTo>
                <a:lnTo>
                  <a:pt x="0" y="544874"/>
                </a:lnTo>
                <a:lnTo>
                  <a:pt x="1767" y="499929"/>
                </a:lnTo>
                <a:lnTo>
                  <a:pt x="7203" y="455204"/>
                </a:lnTo>
                <a:lnTo>
                  <a:pt x="16338" y="410935"/>
                </a:lnTo>
                <a:lnTo>
                  <a:pt x="29200" y="367355"/>
                </a:lnTo>
                <a:lnTo>
                  <a:pt x="45818" y="324701"/>
                </a:lnTo>
                <a:lnTo>
                  <a:pt x="66221" y="283206"/>
                </a:lnTo>
                <a:lnTo>
                  <a:pt x="90437" y="243105"/>
                </a:lnTo>
                <a:lnTo>
                  <a:pt x="118496" y="204634"/>
                </a:lnTo>
                <a:close/>
              </a:path>
              <a:path w="1116965" h="1111885">
                <a:moveTo>
                  <a:pt x="220477" y="286041"/>
                </a:moveTo>
                <a:lnTo>
                  <a:pt x="193856" y="323455"/>
                </a:lnTo>
                <a:lnTo>
                  <a:pt x="171955" y="362810"/>
                </a:lnTo>
                <a:lnTo>
                  <a:pt x="154729" y="403741"/>
                </a:lnTo>
                <a:lnTo>
                  <a:pt x="142131" y="445881"/>
                </a:lnTo>
                <a:lnTo>
                  <a:pt x="134116" y="488865"/>
                </a:lnTo>
                <a:lnTo>
                  <a:pt x="130638" y="532328"/>
                </a:lnTo>
                <a:lnTo>
                  <a:pt x="131651" y="575903"/>
                </a:lnTo>
                <a:lnTo>
                  <a:pt x="137108" y="619227"/>
                </a:lnTo>
                <a:lnTo>
                  <a:pt x="146964" y="661933"/>
                </a:lnTo>
                <a:lnTo>
                  <a:pt x="161173" y="703655"/>
                </a:lnTo>
                <a:lnTo>
                  <a:pt x="179689" y="744028"/>
                </a:lnTo>
                <a:lnTo>
                  <a:pt x="202465" y="782686"/>
                </a:lnTo>
                <a:lnTo>
                  <a:pt x="229457" y="819265"/>
                </a:lnTo>
                <a:lnTo>
                  <a:pt x="260618" y="853397"/>
                </a:lnTo>
                <a:lnTo>
                  <a:pt x="295902" y="884719"/>
                </a:lnTo>
                <a:lnTo>
                  <a:pt x="334265" y="912179"/>
                </a:lnTo>
                <a:lnTo>
                  <a:pt x="374453" y="934995"/>
                </a:lnTo>
                <a:lnTo>
                  <a:pt x="416101" y="953204"/>
                </a:lnTo>
                <a:lnTo>
                  <a:pt x="458841" y="966841"/>
                </a:lnTo>
                <a:lnTo>
                  <a:pt x="502308" y="975943"/>
                </a:lnTo>
                <a:lnTo>
                  <a:pt x="546136" y="980546"/>
                </a:lnTo>
                <a:lnTo>
                  <a:pt x="589957" y="980687"/>
                </a:lnTo>
                <a:lnTo>
                  <a:pt x="633406" y="976403"/>
                </a:lnTo>
                <a:lnTo>
                  <a:pt x="676117" y="967728"/>
                </a:lnTo>
                <a:lnTo>
                  <a:pt x="717723" y="954701"/>
                </a:lnTo>
                <a:lnTo>
                  <a:pt x="757858" y="937356"/>
                </a:lnTo>
                <a:lnTo>
                  <a:pt x="796155" y="915731"/>
                </a:lnTo>
                <a:lnTo>
                  <a:pt x="832248" y="889862"/>
                </a:lnTo>
                <a:lnTo>
                  <a:pt x="865771" y="859785"/>
                </a:lnTo>
                <a:lnTo>
                  <a:pt x="896358" y="825537"/>
                </a:lnTo>
                <a:lnTo>
                  <a:pt x="922982" y="788101"/>
                </a:lnTo>
                <a:lnTo>
                  <a:pt x="944884" y="748730"/>
                </a:lnTo>
                <a:lnTo>
                  <a:pt x="962111" y="707789"/>
                </a:lnTo>
                <a:lnTo>
                  <a:pt x="974709" y="665643"/>
                </a:lnTo>
                <a:lnTo>
                  <a:pt x="982725" y="622657"/>
                </a:lnTo>
                <a:lnTo>
                  <a:pt x="986203" y="579196"/>
                </a:lnTo>
                <a:lnTo>
                  <a:pt x="985191" y="535624"/>
                </a:lnTo>
                <a:lnTo>
                  <a:pt x="979734" y="492307"/>
                </a:lnTo>
                <a:lnTo>
                  <a:pt x="969878" y="449609"/>
                </a:lnTo>
                <a:lnTo>
                  <a:pt x="955669" y="407895"/>
                </a:lnTo>
                <a:lnTo>
                  <a:pt x="937154" y="367530"/>
                </a:lnTo>
                <a:lnTo>
                  <a:pt x="914378" y="328880"/>
                </a:lnTo>
                <a:lnTo>
                  <a:pt x="887387" y="292308"/>
                </a:lnTo>
                <a:lnTo>
                  <a:pt x="856228" y="258179"/>
                </a:lnTo>
                <a:lnTo>
                  <a:pt x="820946" y="226859"/>
                </a:lnTo>
                <a:lnTo>
                  <a:pt x="782581" y="199399"/>
                </a:lnTo>
                <a:lnTo>
                  <a:pt x="742390" y="176583"/>
                </a:lnTo>
                <a:lnTo>
                  <a:pt x="700741" y="158375"/>
                </a:lnTo>
                <a:lnTo>
                  <a:pt x="657999" y="144737"/>
                </a:lnTo>
                <a:lnTo>
                  <a:pt x="614531" y="135635"/>
                </a:lnTo>
                <a:lnTo>
                  <a:pt x="570702" y="131032"/>
                </a:lnTo>
                <a:lnTo>
                  <a:pt x="526880" y="130891"/>
                </a:lnTo>
                <a:lnTo>
                  <a:pt x="483430" y="135175"/>
                </a:lnTo>
                <a:lnTo>
                  <a:pt x="440719" y="143850"/>
                </a:lnTo>
                <a:lnTo>
                  <a:pt x="399113" y="156877"/>
                </a:lnTo>
                <a:lnTo>
                  <a:pt x="358978" y="174222"/>
                </a:lnTo>
                <a:lnTo>
                  <a:pt x="320681" y="195847"/>
                </a:lnTo>
                <a:lnTo>
                  <a:pt x="284587" y="221716"/>
                </a:lnTo>
                <a:lnTo>
                  <a:pt x="251064" y="251793"/>
                </a:lnTo>
                <a:lnTo>
                  <a:pt x="220477" y="286041"/>
                </a:lnTo>
                <a:close/>
              </a:path>
            </a:pathLst>
          </a:custGeom>
          <a:ln w="7349">
            <a:solidFill>
              <a:srgbClr val="CFB6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12875" y="0"/>
            <a:ext cx="8131175" cy="6858000"/>
          </a:xfrm>
          <a:custGeom>
            <a:avLst/>
            <a:gdLst/>
            <a:ahLst/>
            <a:cxnLst/>
            <a:rect l="l" t="t" r="r" b="b"/>
            <a:pathLst>
              <a:path w="8131175" h="6858000">
                <a:moveTo>
                  <a:pt x="8131175" y="0"/>
                </a:moveTo>
                <a:lnTo>
                  <a:pt x="0" y="0"/>
                </a:lnTo>
                <a:lnTo>
                  <a:pt x="0" y="6858000"/>
                </a:lnTo>
                <a:lnTo>
                  <a:pt x="8131175" y="6858000"/>
                </a:lnTo>
                <a:lnTo>
                  <a:pt x="81311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935735" y="0"/>
            <a:ext cx="155447" cy="68579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535990" y="0"/>
            <a:ext cx="8572500" cy="6858000"/>
          </a:xfrm>
          <a:custGeom>
            <a:avLst/>
            <a:gdLst/>
            <a:ahLst/>
            <a:cxnLst/>
            <a:rect l="l" t="t" r="r" b="b"/>
            <a:pathLst>
              <a:path w="8572500" h="6858000">
                <a:moveTo>
                  <a:pt x="8572475" y="1532115"/>
                </a:moveTo>
                <a:lnTo>
                  <a:pt x="552145" y="1532115"/>
                </a:lnTo>
                <a:lnTo>
                  <a:pt x="552145" y="0"/>
                </a:lnTo>
                <a:lnTo>
                  <a:pt x="478993" y="0"/>
                </a:lnTo>
                <a:lnTo>
                  <a:pt x="478993" y="1532115"/>
                </a:lnTo>
                <a:lnTo>
                  <a:pt x="0" y="1532115"/>
                </a:lnTo>
                <a:lnTo>
                  <a:pt x="0" y="6237236"/>
                </a:lnTo>
                <a:lnTo>
                  <a:pt x="478993" y="6237236"/>
                </a:lnTo>
                <a:lnTo>
                  <a:pt x="478993" y="6858000"/>
                </a:lnTo>
                <a:lnTo>
                  <a:pt x="552145" y="6858000"/>
                </a:lnTo>
                <a:lnTo>
                  <a:pt x="552145" y="6237236"/>
                </a:lnTo>
                <a:lnTo>
                  <a:pt x="8572475" y="6237236"/>
                </a:lnTo>
                <a:lnTo>
                  <a:pt x="8572475" y="15321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0" i="0">
                <a:solidFill>
                  <a:srgbClr val="7B5D50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61350" y="1700347"/>
            <a:ext cx="2984500" cy="4338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095283" y="1489076"/>
            <a:ext cx="3730625" cy="4730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282951" y="0"/>
            <a:ext cx="6858000" cy="6858000"/>
          </a:xfrm>
          <a:custGeom>
            <a:avLst/>
            <a:gdLst/>
            <a:ahLst/>
            <a:cxnLst/>
            <a:rect l="l" t="t" r="r" b="b"/>
            <a:pathLst>
              <a:path w="6858000" h="6858000">
                <a:moveTo>
                  <a:pt x="6858000" y="0"/>
                </a:moveTo>
                <a:lnTo>
                  <a:pt x="0" y="0"/>
                </a:lnTo>
                <a:lnTo>
                  <a:pt x="0" y="6858000"/>
                </a:lnTo>
                <a:lnTo>
                  <a:pt x="6858000" y="6858000"/>
                </a:lnTo>
                <a:lnTo>
                  <a:pt x="6858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206751" y="0"/>
            <a:ext cx="158495" cy="6857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285999" y="53"/>
            <a:ext cx="76200" cy="6858000"/>
          </a:xfrm>
          <a:custGeom>
            <a:avLst/>
            <a:gdLst/>
            <a:ahLst/>
            <a:cxnLst/>
            <a:rect l="l" t="t" r="r" b="b"/>
            <a:pathLst>
              <a:path w="76200" h="6858000">
                <a:moveTo>
                  <a:pt x="76200" y="0"/>
                </a:moveTo>
                <a:lnTo>
                  <a:pt x="0" y="0"/>
                </a:lnTo>
                <a:lnTo>
                  <a:pt x="0" y="6858000"/>
                </a:lnTo>
                <a:lnTo>
                  <a:pt x="76200" y="6858000"/>
                </a:lnTo>
                <a:lnTo>
                  <a:pt x="762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172334" y="2814700"/>
            <a:ext cx="210312" cy="2103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2171334" y="2739517"/>
            <a:ext cx="307069" cy="2864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0" i="0">
                <a:solidFill>
                  <a:srgbClr val="7B5D50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010" y="3556"/>
            <a:ext cx="820419" cy="819785"/>
          </a:xfrm>
          <a:custGeom>
            <a:avLst/>
            <a:gdLst/>
            <a:ahLst/>
            <a:cxnLst/>
            <a:rect l="l" t="t" r="r" b="b"/>
            <a:pathLst>
              <a:path w="820419" h="819785">
                <a:moveTo>
                  <a:pt x="819949" y="0"/>
                </a:moveTo>
                <a:lnTo>
                  <a:pt x="506" y="0"/>
                </a:lnTo>
                <a:lnTo>
                  <a:pt x="0" y="819404"/>
                </a:lnTo>
                <a:lnTo>
                  <a:pt x="48653" y="818012"/>
                </a:lnTo>
                <a:lnTo>
                  <a:pt x="96069" y="813890"/>
                </a:lnTo>
                <a:lnTo>
                  <a:pt x="142676" y="807114"/>
                </a:lnTo>
                <a:lnTo>
                  <a:pt x="188396" y="797760"/>
                </a:lnTo>
                <a:lnTo>
                  <a:pt x="233153" y="785906"/>
                </a:lnTo>
                <a:lnTo>
                  <a:pt x="276870" y="771629"/>
                </a:lnTo>
                <a:lnTo>
                  <a:pt x="319469" y="755005"/>
                </a:lnTo>
                <a:lnTo>
                  <a:pt x="360876" y="736111"/>
                </a:lnTo>
                <a:lnTo>
                  <a:pt x="401011" y="715024"/>
                </a:lnTo>
                <a:lnTo>
                  <a:pt x="439799" y="691821"/>
                </a:lnTo>
                <a:lnTo>
                  <a:pt x="477163" y="666580"/>
                </a:lnTo>
                <a:lnTo>
                  <a:pt x="513025" y="639376"/>
                </a:lnTo>
                <a:lnTo>
                  <a:pt x="547310" y="610287"/>
                </a:lnTo>
                <a:lnTo>
                  <a:pt x="579939" y="579389"/>
                </a:lnTo>
                <a:lnTo>
                  <a:pt x="610837" y="546760"/>
                </a:lnTo>
                <a:lnTo>
                  <a:pt x="639926" y="512477"/>
                </a:lnTo>
                <a:lnTo>
                  <a:pt x="667130" y="476615"/>
                </a:lnTo>
                <a:lnTo>
                  <a:pt x="692371" y="439253"/>
                </a:lnTo>
                <a:lnTo>
                  <a:pt x="715574" y="400467"/>
                </a:lnTo>
                <a:lnTo>
                  <a:pt x="736660" y="360334"/>
                </a:lnTo>
                <a:lnTo>
                  <a:pt x="755553" y="318930"/>
                </a:lnTo>
                <a:lnTo>
                  <a:pt x="772177" y="276333"/>
                </a:lnTo>
                <a:lnTo>
                  <a:pt x="786453" y="232620"/>
                </a:lnTo>
                <a:lnTo>
                  <a:pt x="798307" y="187868"/>
                </a:lnTo>
                <a:lnTo>
                  <a:pt x="807660" y="142152"/>
                </a:lnTo>
                <a:lnTo>
                  <a:pt x="814436" y="95551"/>
                </a:lnTo>
                <a:lnTo>
                  <a:pt x="818558" y="48141"/>
                </a:lnTo>
                <a:lnTo>
                  <a:pt x="819949" y="0"/>
                </a:lnTo>
                <a:close/>
              </a:path>
            </a:pathLst>
          </a:custGeom>
          <a:solidFill>
            <a:srgbClr val="FFF9F1">
              <a:alpha val="3294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010" y="3556"/>
            <a:ext cx="820419" cy="819785"/>
          </a:xfrm>
          <a:custGeom>
            <a:avLst/>
            <a:gdLst/>
            <a:ahLst/>
            <a:cxnLst/>
            <a:rect l="l" t="t" r="r" b="b"/>
            <a:pathLst>
              <a:path w="820419" h="819785">
                <a:moveTo>
                  <a:pt x="819949" y="0"/>
                </a:moveTo>
                <a:lnTo>
                  <a:pt x="818558" y="48141"/>
                </a:lnTo>
                <a:lnTo>
                  <a:pt x="814436" y="95551"/>
                </a:lnTo>
                <a:lnTo>
                  <a:pt x="807660" y="142152"/>
                </a:lnTo>
                <a:lnTo>
                  <a:pt x="798307" y="187868"/>
                </a:lnTo>
                <a:lnTo>
                  <a:pt x="786453" y="232620"/>
                </a:lnTo>
                <a:lnTo>
                  <a:pt x="772177" y="276333"/>
                </a:lnTo>
                <a:lnTo>
                  <a:pt x="755553" y="318930"/>
                </a:lnTo>
                <a:lnTo>
                  <a:pt x="736660" y="360334"/>
                </a:lnTo>
                <a:lnTo>
                  <a:pt x="715574" y="400467"/>
                </a:lnTo>
                <a:lnTo>
                  <a:pt x="692371" y="439253"/>
                </a:lnTo>
                <a:lnTo>
                  <a:pt x="667130" y="476615"/>
                </a:lnTo>
                <a:lnTo>
                  <a:pt x="639926" y="512477"/>
                </a:lnTo>
                <a:lnTo>
                  <a:pt x="610837" y="546760"/>
                </a:lnTo>
                <a:lnTo>
                  <a:pt x="579939" y="579389"/>
                </a:lnTo>
                <a:lnTo>
                  <a:pt x="547310" y="610287"/>
                </a:lnTo>
                <a:lnTo>
                  <a:pt x="513025" y="639376"/>
                </a:lnTo>
                <a:lnTo>
                  <a:pt x="477163" y="666580"/>
                </a:lnTo>
                <a:lnTo>
                  <a:pt x="439799" y="691821"/>
                </a:lnTo>
                <a:lnTo>
                  <a:pt x="401011" y="715024"/>
                </a:lnTo>
                <a:lnTo>
                  <a:pt x="360876" y="736111"/>
                </a:lnTo>
                <a:lnTo>
                  <a:pt x="319469" y="755005"/>
                </a:lnTo>
                <a:lnTo>
                  <a:pt x="276870" y="771629"/>
                </a:lnTo>
                <a:lnTo>
                  <a:pt x="233153" y="785906"/>
                </a:lnTo>
                <a:lnTo>
                  <a:pt x="188396" y="797760"/>
                </a:lnTo>
                <a:lnTo>
                  <a:pt x="142676" y="807114"/>
                </a:lnTo>
                <a:lnTo>
                  <a:pt x="96069" y="813890"/>
                </a:lnTo>
                <a:lnTo>
                  <a:pt x="48653" y="818012"/>
                </a:lnTo>
                <a:lnTo>
                  <a:pt x="505" y="819404"/>
                </a:lnTo>
                <a:lnTo>
                  <a:pt x="336" y="819404"/>
                </a:lnTo>
                <a:lnTo>
                  <a:pt x="168" y="819404"/>
                </a:lnTo>
                <a:lnTo>
                  <a:pt x="0" y="819404"/>
                </a:lnTo>
                <a:lnTo>
                  <a:pt x="506" y="0"/>
                </a:lnTo>
                <a:lnTo>
                  <a:pt x="819949" y="0"/>
                </a:lnTo>
                <a:close/>
              </a:path>
            </a:pathLst>
          </a:custGeom>
          <a:ln w="3175">
            <a:solidFill>
              <a:srgbClr val="DAC2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28015" y="6095"/>
            <a:ext cx="1784604" cy="178307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68821" y="21081"/>
            <a:ext cx="1702435" cy="1702435"/>
          </a:xfrm>
          <a:custGeom>
            <a:avLst/>
            <a:gdLst/>
            <a:ahLst/>
            <a:cxnLst/>
            <a:rect l="l" t="t" r="r" b="b"/>
            <a:pathLst>
              <a:path w="1702435" h="1702435">
                <a:moveTo>
                  <a:pt x="0" y="851154"/>
                </a:moveTo>
                <a:lnTo>
                  <a:pt x="1347" y="802859"/>
                </a:lnTo>
                <a:lnTo>
                  <a:pt x="5341" y="755271"/>
                </a:lnTo>
                <a:lnTo>
                  <a:pt x="11909" y="708461"/>
                </a:lnTo>
                <a:lnTo>
                  <a:pt x="20981" y="662500"/>
                </a:lnTo>
                <a:lnTo>
                  <a:pt x="32484" y="617462"/>
                </a:lnTo>
                <a:lnTo>
                  <a:pt x="46346" y="573417"/>
                </a:lnTo>
                <a:lnTo>
                  <a:pt x="62495" y="530438"/>
                </a:lnTo>
                <a:lnTo>
                  <a:pt x="80860" y="488596"/>
                </a:lnTo>
                <a:lnTo>
                  <a:pt x="101369" y="447964"/>
                </a:lnTo>
                <a:lnTo>
                  <a:pt x="123949" y="408613"/>
                </a:lnTo>
                <a:lnTo>
                  <a:pt x="148530" y="370615"/>
                </a:lnTo>
                <a:lnTo>
                  <a:pt x="175039" y="334042"/>
                </a:lnTo>
                <a:lnTo>
                  <a:pt x="203404" y="298966"/>
                </a:lnTo>
                <a:lnTo>
                  <a:pt x="233553" y="265459"/>
                </a:lnTo>
                <a:lnTo>
                  <a:pt x="265416" y="233593"/>
                </a:lnTo>
                <a:lnTo>
                  <a:pt x="298919" y="203439"/>
                </a:lnTo>
                <a:lnTo>
                  <a:pt x="333991" y="175070"/>
                </a:lnTo>
                <a:lnTo>
                  <a:pt x="370561" y="148557"/>
                </a:lnTo>
                <a:lnTo>
                  <a:pt x="408556" y="123973"/>
                </a:lnTo>
                <a:lnTo>
                  <a:pt x="447904" y="101388"/>
                </a:lnTo>
                <a:lnTo>
                  <a:pt x="488534" y="80876"/>
                </a:lnTo>
                <a:lnTo>
                  <a:pt x="530373" y="62508"/>
                </a:lnTo>
                <a:lnTo>
                  <a:pt x="573351" y="46355"/>
                </a:lnTo>
                <a:lnTo>
                  <a:pt x="617394" y="32490"/>
                </a:lnTo>
                <a:lnTo>
                  <a:pt x="662432" y="20985"/>
                </a:lnTo>
                <a:lnTo>
                  <a:pt x="708393" y="11912"/>
                </a:lnTo>
                <a:lnTo>
                  <a:pt x="755204" y="5342"/>
                </a:lnTo>
                <a:lnTo>
                  <a:pt x="802793" y="1347"/>
                </a:lnTo>
                <a:lnTo>
                  <a:pt x="851090" y="0"/>
                </a:lnTo>
                <a:lnTo>
                  <a:pt x="899386" y="1347"/>
                </a:lnTo>
                <a:lnTo>
                  <a:pt x="946976" y="5342"/>
                </a:lnTo>
                <a:lnTo>
                  <a:pt x="993786" y="11912"/>
                </a:lnTo>
                <a:lnTo>
                  <a:pt x="1039746" y="20985"/>
                </a:lnTo>
                <a:lnTo>
                  <a:pt x="1084783" y="32490"/>
                </a:lnTo>
                <a:lnTo>
                  <a:pt x="1128825" y="46355"/>
                </a:lnTo>
                <a:lnTo>
                  <a:pt x="1171801" y="62508"/>
                </a:lnTo>
                <a:lnTo>
                  <a:pt x="1213639" y="80876"/>
                </a:lnTo>
                <a:lnTo>
                  <a:pt x="1254268" y="101388"/>
                </a:lnTo>
                <a:lnTo>
                  <a:pt x="1293614" y="123973"/>
                </a:lnTo>
                <a:lnTo>
                  <a:pt x="1331607" y="148557"/>
                </a:lnTo>
                <a:lnTo>
                  <a:pt x="1368174" y="175070"/>
                </a:lnTo>
                <a:lnTo>
                  <a:pt x="1403245" y="203439"/>
                </a:lnTo>
                <a:lnTo>
                  <a:pt x="1436746" y="233593"/>
                </a:lnTo>
                <a:lnTo>
                  <a:pt x="1468606" y="265459"/>
                </a:lnTo>
                <a:lnTo>
                  <a:pt x="1498754" y="298966"/>
                </a:lnTo>
                <a:lnTo>
                  <a:pt x="1527117" y="334042"/>
                </a:lnTo>
                <a:lnTo>
                  <a:pt x="1553624" y="370615"/>
                </a:lnTo>
                <a:lnTo>
                  <a:pt x="1578203" y="408613"/>
                </a:lnTo>
                <a:lnTo>
                  <a:pt x="1600782" y="447964"/>
                </a:lnTo>
                <a:lnTo>
                  <a:pt x="1621289" y="488596"/>
                </a:lnTo>
                <a:lnTo>
                  <a:pt x="1639653" y="530438"/>
                </a:lnTo>
                <a:lnTo>
                  <a:pt x="1655801" y="573417"/>
                </a:lnTo>
                <a:lnTo>
                  <a:pt x="1669661" y="617462"/>
                </a:lnTo>
                <a:lnTo>
                  <a:pt x="1681163" y="662500"/>
                </a:lnTo>
                <a:lnTo>
                  <a:pt x="1690234" y="708461"/>
                </a:lnTo>
                <a:lnTo>
                  <a:pt x="1696802" y="755271"/>
                </a:lnTo>
                <a:lnTo>
                  <a:pt x="1700795" y="802859"/>
                </a:lnTo>
                <a:lnTo>
                  <a:pt x="1702142" y="851154"/>
                </a:lnTo>
                <a:lnTo>
                  <a:pt x="1700795" y="899447"/>
                </a:lnTo>
                <a:lnTo>
                  <a:pt x="1696802" y="947034"/>
                </a:lnTo>
                <a:lnTo>
                  <a:pt x="1690234" y="993843"/>
                </a:lnTo>
                <a:lnTo>
                  <a:pt x="1681163" y="1039800"/>
                </a:lnTo>
                <a:lnTo>
                  <a:pt x="1669661" y="1084835"/>
                </a:lnTo>
                <a:lnTo>
                  <a:pt x="1655801" y="1128876"/>
                </a:lnTo>
                <a:lnTo>
                  <a:pt x="1639653" y="1171850"/>
                </a:lnTo>
                <a:lnTo>
                  <a:pt x="1621289" y="1213687"/>
                </a:lnTo>
                <a:lnTo>
                  <a:pt x="1600782" y="1254314"/>
                </a:lnTo>
                <a:lnTo>
                  <a:pt x="1578203" y="1293659"/>
                </a:lnTo>
                <a:lnTo>
                  <a:pt x="1553624" y="1331651"/>
                </a:lnTo>
                <a:lnTo>
                  <a:pt x="1527117" y="1368218"/>
                </a:lnTo>
                <a:lnTo>
                  <a:pt x="1498754" y="1403287"/>
                </a:lnTo>
                <a:lnTo>
                  <a:pt x="1468606" y="1436788"/>
                </a:lnTo>
                <a:lnTo>
                  <a:pt x="1436746" y="1468647"/>
                </a:lnTo>
                <a:lnTo>
                  <a:pt x="1403245" y="1498795"/>
                </a:lnTo>
                <a:lnTo>
                  <a:pt x="1368174" y="1527157"/>
                </a:lnTo>
                <a:lnTo>
                  <a:pt x="1331607" y="1553664"/>
                </a:lnTo>
                <a:lnTo>
                  <a:pt x="1293614" y="1578242"/>
                </a:lnTo>
                <a:lnTo>
                  <a:pt x="1254268" y="1600821"/>
                </a:lnTo>
                <a:lnTo>
                  <a:pt x="1213639" y="1621328"/>
                </a:lnTo>
                <a:lnTo>
                  <a:pt x="1171801" y="1639691"/>
                </a:lnTo>
                <a:lnTo>
                  <a:pt x="1128825" y="1655839"/>
                </a:lnTo>
                <a:lnTo>
                  <a:pt x="1084783" y="1669700"/>
                </a:lnTo>
                <a:lnTo>
                  <a:pt x="1039746" y="1681201"/>
                </a:lnTo>
                <a:lnTo>
                  <a:pt x="993786" y="1690272"/>
                </a:lnTo>
                <a:lnTo>
                  <a:pt x="946976" y="1696840"/>
                </a:lnTo>
                <a:lnTo>
                  <a:pt x="899386" y="1700833"/>
                </a:lnTo>
                <a:lnTo>
                  <a:pt x="851090" y="1702181"/>
                </a:lnTo>
                <a:lnTo>
                  <a:pt x="802793" y="1700833"/>
                </a:lnTo>
                <a:lnTo>
                  <a:pt x="755204" y="1696840"/>
                </a:lnTo>
                <a:lnTo>
                  <a:pt x="708393" y="1690272"/>
                </a:lnTo>
                <a:lnTo>
                  <a:pt x="662432" y="1681201"/>
                </a:lnTo>
                <a:lnTo>
                  <a:pt x="617394" y="1669700"/>
                </a:lnTo>
                <a:lnTo>
                  <a:pt x="573351" y="1655839"/>
                </a:lnTo>
                <a:lnTo>
                  <a:pt x="530373" y="1639691"/>
                </a:lnTo>
                <a:lnTo>
                  <a:pt x="488534" y="1621328"/>
                </a:lnTo>
                <a:lnTo>
                  <a:pt x="447904" y="1600821"/>
                </a:lnTo>
                <a:lnTo>
                  <a:pt x="408556" y="1578242"/>
                </a:lnTo>
                <a:lnTo>
                  <a:pt x="370561" y="1553664"/>
                </a:lnTo>
                <a:lnTo>
                  <a:pt x="333991" y="1527157"/>
                </a:lnTo>
                <a:lnTo>
                  <a:pt x="298919" y="1498795"/>
                </a:lnTo>
                <a:lnTo>
                  <a:pt x="265416" y="1468647"/>
                </a:lnTo>
                <a:lnTo>
                  <a:pt x="233553" y="1436788"/>
                </a:lnTo>
                <a:lnTo>
                  <a:pt x="203404" y="1403287"/>
                </a:lnTo>
                <a:lnTo>
                  <a:pt x="175039" y="1368218"/>
                </a:lnTo>
                <a:lnTo>
                  <a:pt x="148530" y="1331651"/>
                </a:lnTo>
                <a:lnTo>
                  <a:pt x="123949" y="1293659"/>
                </a:lnTo>
                <a:lnTo>
                  <a:pt x="101369" y="1254314"/>
                </a:lnTo>
                <a:lnTo>
                  <a:pt x="80860" y="1213687"/>
                </a:lnTo>
                <a:lnTo>
                  <a:pt x="62495" y="1171850"/>
                </a:lnTo>
                <a:lnTo>
                  <a:pt x="46346" y="1128876"/>
                </a:lnTo>
                <a:lnTo>
                  <a:pt x="32484" y="1084835"/>
                </a:lnTo>
                <a:lnTo>
                  <a:pt x="20981" y="1039800"/>
                </a:lnTo>
                <a:lnTo>
                  <a:pt x="11909" y="993843"/>
                </a:lnTo>
                <a:lnTo>
                  <a:pt x="5341" y="947034"/>
                </a:lnTo>
                <a:lnTo>
                  <a:pt x="1347" y="899447"/>
                </a:lnTo>
                <a:lnTo>
                  <a:pt x="0" y="851154"/>
                </a:lnTo>
                <a:close/>
              </a:path>
            </a:pathLst>
          </a:custGeom>
          <a:ln w="27305">
            <a:solidFill>
              <a:srgbClr val="FFF5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72212" y="1045464"/>
            <a:ext cx="1155192" cy="115061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87319" y="1050633"/>
            <a:ext cx="1116813" cy="111147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87319" y="1050633"/>
            <a:ext cx="1116965" cy="1111885"/>
          </a:xfrm>
          <a:custGeom>
            <a:avLst/>
            <a:gdLst/>
            <a:ahLst/>
            <a:cxnLst/>
            <a:rect l="l" t="t" r="r" b="b"/>
            <a:pathLst>
              <a:path w="1116965" h="1111885">
                <a:moveTo>
                  <a:pt x="118496" y="204634"/>
                </a:moveTo>
                <a:lnTo>
                  <a:pt x="149785" y="168741"/>
                </a:lnTo>
                <a:lnTo>
                  <a:pt x="183515" y="136234"/>
                </a:lnTo>
                <a:lnTo>
                  <a:pt x="219451" y="107137"/>
                </a:lnTo>
                <a:lnTo>
                  <a:pt x="257356" y="81474"/>
                </a:lnTo>
                <a:lnTo>
                  <a:pt x="296996" y="59270"/>
                </a:lnTo>
                <a:lnTo>
                  <a:pt x="338135" y="40547"/>
                </a:lnTo>
                <a:lnTo>
                  <a:pt x="380538" y="25331"/>
                </a:lnTo>
                <a:lnTo>
                  <a:pt x="423971" y="13644"/>
                </a:lnTo>
                <a:lnTo>
                  <a:pt x="468196" y="5510"/>
                </a:lnTo>
                <a:lnTo>
                  <a:pt x="512980" y="954"/>
                </a:lnTo>
                <a:lnTo>
                  <a:pt x="558087" y="0"/>
                </a:lnTo>
                <a:lnTo>
                  <a:pt x="603281" y="2670"/>
                </a:lnTo>
                <a:lnTo>
                  <a:pt x="648327" y="8990"/>
                </a:lnTo>
                <a:lnTo>
                  <a:pt x="692991" y="18983"/>
                </a:lnTo>
                <a:lnTo>
                  <a:pt x="737036" y="32672"/>
                </a:lnTo>
                <a:lnTo>
                  <a:pt x="780227" y="50083"/>
                </a:lnTo>
                <a:lnTo>
                  <a:pt x="822330" y="71238"/>
                </a:lnTo>
                <a:lnTo>
                  <a:pt x="863108" y="96162"/>
                </a:lnTo>
                <a:lnTo>
                  <a:pt x="902327" y="124878"/>
                </a:lnTo>
                <a:lnTo>
                  <a:pt x="939023" y="156757"/>
                </a:lnTo>
                <a:lnTo>
                  <a:pt x="972365" y="190998"/>
                </a:lnTo>
                <a:lnTo>
                  <a:pt x="1002325" y="227366"/>
                </a:lnTo>
                <a:lnTo>
                  <a:pt x="1028874" y="265625"/>
                </a:lnTo>
                <a:lnTo>
                  <a:pt x="1051985" y="305541"/>
                </a:lnTo>
                <a:lnTo>
                  <a:pt x="1071626" y="346879"/>
                </a:lnTo>
                <a:lnTo>
                  <a:pt x="1087772" y="389404"/>
                </a:lnTo>
                <a:lnTo>
                  <a:pt x="1100392" y="432881"/>
                </a:lnTo>
                <a:lnTo>
                  <a:pt x="1109458" y="477076"/>
                </a:lnTo>
                <a:lnTo>
                  <a:pt x="1114941" y="521754"/>
                </a:lnTo>
                <a:lnTo>
                  <a:pt x="1116813" y="566679"/>
                </a:lnTo>
                <a:lnTo>
                  <a:pt x="1115044" y="611617"/>
                </a:lnTo>
                <a:lnTo>
                  <a:pt x="1109608" y="656333"/>
                </a:lnTo>
                <a:lnTo>
                  <a:pt x="1100473" y="700593"/>
                </a:lnTo>
                <a:lnTo>
                  <a:pt x="1087613" y="744160"/>
                </a:lnTo>
                <a:lnTo>
                  <a:pt x="1070998" y="786801"/>
                </a:lnTo>
                <a:lnTo>
                  <a:pt x="1050600" y="828281"/>
                </a:lnTo>
                <a:lnTo>
                  <a:pt x="1026390" y="868365"/>
                </a:lnTo>
                <a:lnTo>
                  <a:pt x="998339" y="906817"/>
                </a:lnTo>
                <a:lnTo>
                  <a:pt x="967050" y="942710"/>
                </a:lnTo>
                <a:lnTo>
                  <a:pt x="933320" y="975218"/>
                </a:lnTo>
                <a:lnTo>
                  <a:pt x="897385" y="1004315"/>
                </a:lnTo>
                <a:lnTo>
                  <a:pt x="859481" y="1029978"/>
                </a:lnTo>
                <a:lnTo>
                  <a:pt x="819841" y="1052184"/>
                </a:lnTo>
                <a:lnTo>
                  <a:pt x="778703" y="1070908"/>
                </a:lnTo>
                <a:lnTo>
                  <a:pt x="736300" y="1086127"/>
                </a:lnTo>
                <a:lnTo>
                  <a:pt x="692869" y="1097817"/>
                </a:lnTo>
                <a:lnTo>
                  <a:pt x="648644" y="1105954"/>
                </a:lnTo>
                <a:lnTo>
                  <a:pt x="603860" y="1110515"/>
                </a:lnTo>
                <a:lnTo>
                  <a:pt x="558754" y="1111476"/>
                </a:lnTo>
                <a:lnTo>
                  <a:pt x="513560" y="1108813"/>
                </a:lnTo>
                <a:lnTo>
                  <a:pt x="468514" y="1102502"/>
                </a:lnTo>
                <a:lnTo>
                  <a:pt x="423850" y="1092519"/>
                </a:lnTo>
                <a:lnTo>
                  <a:pt x="379804" y="1078841"/>
                </a:lnTo>
                <a:lnTo>
                  <a:pt x="336612" y="1061444"/>
                </a:lnTo>
                <a:lnTo>
                  <a:pt x="294508" y="1040304"/>
                </a:lnTo>
                <a:lnTo>
                  <a:pt x="253729" y="1015397"/>
                </a:lnTo>
                <a:lnTo>
                  <a:pt x="214508" y="986700"/>
                </a:lnTo>
                <a:lnTo>
                  <a:pt x="177812" y="954821"/>
                </a:lnTo>
                <a:lnTo>
                  <a:pt x="144469" y="920580"/>
                </a:lnTo>
                <a:lnTo>
                  <a:pt x="114507" y="884212"/>
                </a:lnTo>
                <a:lnTo>
                  <a:pt x="87955" y="845952"/>
                </a:lnTo>
                <a:lnTo>
                  <a:pt x="64842" y="806035"/>
                </a:lnTo>
                <a:lnTo>
                  <a:pt x="45198" y="764695"/>
                </a:lnTo>
                <a:lnTo>
                  <a:pt x="29049" y="722168"/>
                </a:lnTo>
                <a:lnTo>
                  <a:pt x="16427" y="678687"/>
                </a:lnTo>
                <a:lnTo>
                  <a:pt x="7358" y="634488"/>
                </a:lnTo>
                <a:lnTo>
                  <a:pt x="1873" y="589806"/>
                </a:lnTo>
                <a:lnTo>
                  <a:pt x="0" y="544874"/>
                </a:lnTo>
                <a:lnTo>
                  <a:pt x="1767" y="499929"/>
                </a:lnTo>
                <a:lnTo>
                  <a:pt x="7203" y="455204"/>
                </a:lnTo>
                <a:lnTo>
                  <a:pt x="16338" y="410935"/>
                </a:lnTo>
                <a:lnTo>
                  <a:pt x="29200" y="367355"/>
                </a:lnTo>
                <a:lnTo>
                  <a:pt x="45818" y="324701"/>
                </a:lnTo>
                <a:lnTo>
                  <a:pt x="66221" y="283206"/>
                </a:lnTo>
                <a:lnTo>
                  <a:pt x="90437" y="243105"/>
                </a:lnTo>
                <a:lnTo>
                  <a:pt x="118496" y="204634"/>
                </a:lnTo>
                <a:close/>
              </a:path>
              <a:path w="1116965" h="1111885">
                <a:moveTo>
                  <a:pt x="220477" y="286041"/>
                </a:moveTo>
                <a:lnTo>
                  <a:pt x="193856" y="323455"/>
                </a:lnTo>
                <a:lnTo>
                  <a:pt x="171955" y="362810"/>
                </a:lnTo>
                <a:lnTo>
                  <a:pt x="154729" y="403741"/>
                </a:lnTo>
                <a:lnTo>
                  <a:pt x="142131" y="445881"/>
                </a:lnTo>
                <a:lnTo>
                  <a:pt x="134116" y="488865"/>
                </a:lnTo>
                <a:lnTo>
                  <a:pt x="130638" y="532328"/>
                </a:lnTo>
                <a:lnTo>
                  <a:pt x="131651" y="575903"/>
                </a:lnTo>
                <a:lnTo>
                  <a:pt x="137108" y="619227"/>
                </a:lnTo>
                <a:lnTo>
                  <a:pt x="146964" y="661933"/>
                </a:lnTo>
                <a:lnTo>
                  <a:pt x="161173" y="703655"/>
                </a:lnTo>
                <a:lnTo>
                  <a:pt x="179689" y="744028"/>
                </a:lnTo>
                <a:lnTo>
                  <a:pt x="202465" y="782686"/>
                </a:lnTo>
                <a:lnTo>
                  <a:pt x="229457" y="819265"/>
                </a:lnTo>
                <a:lnTo>
                  <a:pt x="260618" y="853397"/>
                </a:lnTo>
                <a:lnTo>
                  <a:pt x="295902" y="884719"/>
                </a:lnTo>
                <a:lnTo>
                  <a:pt x="334265" y="912179"/>
                </a:lnTo>
                <a:lnTo>
                  <a:pt x="374453" y="934995"/>
                </a:lnTo>
                <a:lnTo>
                  <a:pt x="416101" y="953204"/>
                </a:lnTo>
                <a:lnTo>
                  <a:pt x="458841" y="966841"/>
                </a:lnTo>
                <a:lnTo>
                  <a:pt x="502308" y="975943"/>
                </a:lnTo>
                <a:lnTo>
                  <a:pt x="546136" y="980546"/>
                </a:lnTo>
                <a:lnTo>
                  <a:pt x="589957" y="980687"/>
                </a:lnTo>
                <a:lnTo>
                  <a:pt x="633406" y="976403"/>
                </a:lnTo>
                <a:lnTo>
                  <a:pt x="676117" y="967728"/>
                </a:lnTo>
                <a:lnTo>
                  <a:pt x="717723" y="954701"/>
                </a:lnTo>
                <a:lnTo>
                  <a:pt x="757858" y="937356"/>
                </a:lnTo>
                <a:lnTo>
                  <a:pt x="796155" y="915731"/>
                </a:lnTo>
                <a:lnTo>
                  <a:pt x="832248" y="889862"/>
                </a:lnTo>
                <a:lnTo>
                  <a:pt x="865771" y="859785"/>
                </a:lnTo>
                <a:lnTo>
                  <a:pt x="896358" y="825537"/>
                </a:lnTo>
                <a:lnTo>
                  <a:pt x="922982" y="788101"/>
                </a:lnTo>
                <a:lnTo>
                  <a:pt x="944884" y="748730"/>
                </a:lnTo>
                <a:lnTo>
                  <a:pt x="962111" y="707789"/>
                </a:lnTo>
                <a:lnTo>
                  <a:pt x="974709" y="665643"/>
                </a:lnTo>
                <a:lnTo>
                  <a:pt x="982725" y="622657"/>
                </a:lnTo>
                <a:lnTo>
                  <a:pt x="986203" y="579196"/>
                </a:lnTo>
                <a:lnTo>
                  <a:pt x="985191" y="535624"/>
                </a:lnTo>
                <a:lnTo>
                  <a:pt x="979734" y="492307"/>
                </a:lnTo>
                <a:lnTo>
                  <a:pt x="969878" y="449609"/>
                </a:lnTo>
                <a:lnTo>
                  <a:pt x="955669" y="407895"/>
                </a:lnTo>
                <a:lnTo>
                  <a:pt x="937154" y="367530"/>
                </a:lnTo>
                <a:lnTo>
                  <a:pt x="914378" y="328880"/>
                </a:lnTo>
                <a:lnTo>
                  <a:pt x="887387" y="292308"/>
                </a:lnTo>
                <a:lnTo>
                  <a:pt x="856228" y="258179"/>
                </a:lnTo>
                <a:lnTo>
                  <a:pt x="820946" y="226859"/>
                </a:lnTo>
                <a:lnTo>
                  <a:pt x="782581" y="199399"/>
                </a:lnTo>
                <a:lnTo>
                  <a:pt x="742390" y="176583"/>
                </a:lnTo>
                <a:lnTo>
                  <a:pt x="700741" y="158375"/>
                </a:lnTo>
                <a:lnTo>
                  <a:pt x="657999" y="144737"/>
                </a:lnTo>
                <a:lnTo>
                  <a:pt x="614531" y="135635"/>
                </a:lnTo>
                <a:lnTo>
                  <a:pt x="570702" y="131032"/>
                </a:lnTo>
                <a:lnTo>
                  <a:pt x="526880" y="130891"/>
                </a:lnTo>
                <a:lnTo>
                  <a:pt x="483430" y="135175"/>
                </a:lnTo>
                <a:lnTo>
                  <a:pt x="440719" y="143850"/>
                </a:lnTo>
                <a:lnTo>
                  <a:pt x="399113" y="156877"/>
                </a:lnTo>
                <a:lnTo>
                  <a:pt x="358978" y="174222"/>
                </a:lnTo>
                <a:lnTo>
                  <a:pt x="320681" y="195847"/>
                </a:lnTo>
                <a:lnTo>
                  <a:pt x="284587" y="221716"/>
                </a:lnTo>
                <a:lnTo>
                  <a:pt x="251064" y="251793"/>
                </a:lnTo>
                <a:lnTo>
                  <a:pt x="220477" y="286041"/>
                </a:lnTo>
                <a:close/>
              </a:path>
            </a:pathLst>
          </a:custGeom>
          <a:ln w="7349">
            <a:solidFill>
              <a:srgbClr val="CFB6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12875" y="0"/>
            <a:ext cx="8131175" cy="6858000"/>
          </a:xfrm>
          <a:custGeom>
            <a:avLst/>
            <a:gdLst/>
            <a:ahLst/>
            <a:cxnLst/>
            <a:rect l="l" t="t" r="r" b="b"/>
            <a:pathLst>
              <a:path w="8131175" h="6858000">
                <a:moveTo>
                  <a:pt x="8131175" y="0"/>
                </a:moveTo>
                <a:lnTo>
                  <a:pt x="0" y="0"/>
                </a:lnTo>
                <a:lnTo>
                  <a:pt x="0" y="6858000"/>
                </a:lnTo>
                <a:lnTo>
                  <a:pt x="8131175" y="6858000"/>
                </a:lnTo>
                <a:lnTo>
                  <a:pt x="81311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935735" y="0"/>
            <a:ext cx="155447" cy="685799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014984" y="0"/>
            <a:ext cx="73660" cy="6858000"/>
          </a:xfrm>
          <a:custGeom>
            <a:avLst/>
            <a:gdLst/>
            <a:ahLst/>
            <a:cxnLst/>
            <a:rect l="l" t="t" r="r" b="b"/>
            <a:pathLst>
              <a:path w="73659" h="6858000">
                <a:moveTo>
                  <a:pt x="73152" y="0"/>
                </a:moveTo>
                <a:lnTo>
                  <a:pt x="0" y="0"/>
                </a:lnTo>
                <a:lnTo>
                  <a:pt x="0" y="6858000"/>
                </a:lnTo>
                <a:lnTo>
                  <a:pt x="73152" y="6858000"/>
                </a:lnTo>
                <a:lnTo>
                  <a:pt x="731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90217" y="207086"/>
            <a:ext cx="6163564" cy="1214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0" i="0">
                <a:solidFill>
                  <a:srgbClr val="7B5D50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96897" y="1455242"/>
            <a:ext cx="7186295" cy="29387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jp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20435" y="1338706"/>
            <a:ext cx="307095" cy="286368"/>
            <a:chOff x="920435" y="1338706"/>
            <a:chExt cx="307095" cy="286368"/>
          </a:xfrm>
        </p:grpSpPr>
        <p:sp>
          <p:nvSpPr>
            <p:cNvPr id="3" name="object 3"/>
            <p:cNvSpPr/>
            <p:nvPr/>
          </p:nvSpPr>
          <p:spPr>
            <a:xfrm>
              <a:off x="921435" y="1413764"/>
              <a:ext cx="210312" cy="21031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20435" y="1338706"/>
              <a:ext cx="307095" cy="28636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Título 1">
            <a:extLst>
              <a:ext uri="{FF2B5EF4-FFF2-40B4-BE49-F238E27FC236}">
                <a16:creationId xmlns:a16="http://schemas.microsoft.com/office/drawing/2014/main" id="{B3B2180A-49B3-401B-A2C8-31BC936CC708}"/>
              </a:ext>
            </a:extLst>
          </p:cNvPr>
          <p:cNvSpPr txBox="1">
            <a:spLocks/>
          </p:cNvSpPr>
          <p:nvPr/>
        </p:nvSpPr>
        <p:spPr>
          <a:xfrm>
            <a:off x="2057400" y="453009"/>
            <a:ext cx="6400800" cy="2764028"/>
          </a:xfrm>
          <a:prstGeom prst="rect">
            <a:avLst/>
          </a:prstGeom>
        </p:spPr>
        <p:txBody>
          <a:bodyPr wrap="square" lIns="0" tIns="0" rIns="0" bIns="0" anchor="ctr">
            <a:normAutofit lnSpcReduction="10000"/>
          </a:bodyPr>
          <a:lstStyle>
            <a:lvl1pPr>
              <a:defRPr sz="3900" b="0" i="0">
                <a:solidFill>
                  <a:srgbClr val="7B5D50"/>
                </a:solidFill>
                <a:latin typeface="Carlito"/>
                <a:ea typeface="+mj-ea"/>
                <a:cs typeface="Carlito"/>
              </a:defRPr>
            </a:lvl1pPr>
          </a:lstStyle>
          <a:p>
            <a:r>
              <a:rPr lang="es-ES" sz="5000" kern="0" dirty="0"/>
              <a:t>XS-0105: Investigación estadística y técnicas de recolección de datos (Capítulo 2 y 3)</a:t>
            </a:r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2F19B0D5-0227-41FE-8DCD-F01D03D54040}"/>
              </a:ext>
            </a:extLst>
          </p:cNvPr>
          <p:cNvSpPr txBox="1">
            <a:spLocks/>
          </p:cNvSpPr>
          <p:nvPr/>
        </p:nvSpPr>
        <p:spPr>
          <a:xfrm>
            <a:off x="3657600" y="3656204"/>
            <a:ext cx="5257800" cy="917543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>
              <a:defRPr sz="3200" b="0" i="0">
                <a:solidFill>
                  <a:schemeClr val="tx1"/>
                </a:solidFill>
                <a:latin typeface="Carlito"/>
                <a:ea typeface="+mn-ea"/>
                <a:cs typeface="Carlit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kern="0" dirty="0"/>
              <a:t>Universidad de Costa Rica</a:t>
            </a:r>
          </a:p>
          <a:p>
            <a:r>
              <a:rPr lang="es-ES" sz="1600" kern="0" dirty="0"/>
              <a:t>Profesor: Máster Jorge Pacheco Rivas</a:t>
            </a:r>
          </a:p>
          <a:p>
            <a:endParaRPr lang="es-ES" sz="700" kern="0" dirty="0"/>
          </a:p>
        </p:txBody>
      </p:sp>
      <p:pic>
        <p:nvPicPr>
          <p:cNvPr id="1026" name="Picture 2" descr="logo-ucr - Instituto de Investigaciones Lingüísticas">
            <a:extLst>
              <a:ext uri="{FF2B5EF4-FFF2-40B4-BE49-F238E27FC236}">
                <a16:creationId xmlns:a16="http://schemas.microsoft.com/office/drawing/2014/main" id="{E5C0D2B6-180F-ACA8-096D-5487E2072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5012914"/>
            <a:ext cx="3105150" cy="117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31719" y="2441447"/>
            <a:ext cx="6454139" cy="1705356"/>
            <a:chOff x="2331719" y="2441447"/>
            <a:chExt cx="6454139" cy="1705356"/>
          </a:xfrm>
        </p:grpSpPr>
        <p:sp>
          <p:nvSpPr>
            <p:cNvPr id="3" name="object 3"/>
            <p:cNvSpPr/>
            <p:nvPr/>
          </p:nvSpPr>
          <p:spPr>
            <a:xfrm>
              <a:off x="2331719" y="2441447"/>
              <a:ext cx="5244083" cy="11338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331719" y="3012947"/>
              <a:ext cx="6454139" cy="113385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657601" y="2563825"/>
            <a:ext cx="5800725" cy="1217641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 marR="5080">
              <a:lnSpc>
                <a:spcPts val="4500"/>
              </a:lnSpc>
              <a:spcBef>
                <a:spcPts val="495"/>
              </a:spcBef>
            </a:pPr>
            <a:r>
              <a:rPr sz="4000" b="1" spc="-15" dirty="0">
                <a:latin typeface="Carlito"/>
                <a:cs typeface="Carlito"/>
              </a:rPr>
              <a:t>FUENTES </a:t>
            </a:r>
            <a:r>
              <a:rPr sz="4000" b="1" spc="-5" dirty="0">
                <a:latin typeface="Carlito"/>
                <a:cs typeface="Carlito"/>
              </a:rPr>
              <a:t>DE </a:t>
            </a:r>
            <a:r>
              <a:rPr sz="4000" b="1" spc="-110" dirty="0">
                <a:latin typeface="Carlito"/>
                <a:cs typeface="Carlito"/>
              </a:rPr>
              <a:t>DATOS </a:t>
            </a:r>
            <a:r>
              <a:rPr sz="4000" b="1" spc="-5" dirty="0">
                <a:latin typeface="Carlito"/>
                <a:cs typeface="Carlito"/>
              </a:rPr>
              <a:t>Y  </a:t>
            </a:r>
            <a:r>
              <a:rPr sz="4000" b="1" spc="-15" dirty="0">
                <a:latin typeface="Carlito"/>
                <a:cs typeface="Carlito"/>
              </a:rPr>
              <a:t>TÉCNICAS </a:t>
            </a:r>
            <a:r>
              <a:rPr sz="4000" b="1" spc="-5" dirty="0">
                <a:latin typeface="Carlito"/>
                <a:cs typeface="Carlito"/>
              </a:rPr>
              <a:t>DE </a:t>
            </a:r>
            <a:r>
              <a:rPr sz="4000" b="1" spc="-25" dirty="0">
                <a:latin typeface="Carlito"/>
                <a:cs typeface="Carlito"/>
              </a:rPr>
              <a:t>RECOLECCIÓN</a:t>
            </a:r>
            <a:endParaRPr sz="4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4335" y="338328"/>
            <a:ext cx="3404616" cy="1216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14602" y="470357"/>
            <a:ext cx="270573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20" dirty="0"/>
              <a:t>Información</a:t>
            </a:r>
            <a:endParaRPr sz="4300"/>
          </a:p>
        </p:txBody>
      </p:sp>
      <p:sp>
        <p:nvSpPr>
          <p:cNvPr id="4" name="object 4"/>
          <p:cNvSpPr/>
          <p:nvPr/>
        </p:nvSpPr>
        <p:spPr>
          <a:xfrm>
            <a:off x="1783062" y="1400657"/>
            <a:ext cx="6541134" cy="4601210"/>
          </a:xfrm>
          <a:custGeom>
            <a:avLst/>
            <a:gdLst/>
            <a:ahLst/>
            <a:cxnLst/>
            <a:rect l="l" t="t" r="r" b="b"/>
            <a:pathLst>
              <a:path w="6541134" h="4601210">
                <a:moveTo>
                  <a:pt x="0" y="4601075"/>
                </a:moveTo>
                <a:lnTo>
                  <a:pt x="6540600" y="4601075"/>
                </a:lnTo>
                <a:lnTo>
                  <a:pt x="6540600" y="0"/>
                </a:lnTo>
                <a:lnTo>
                  <a:pt x="0" y="0"/>
                </a:lnTo>
                <a:lnTo>
                  <a:pt x="0" y="46010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4971068" y="1560716"/>
            <a:ext cx="1423371" cy="68262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950" spc="25" dirty="0">
                <a:latin typeface="Carlito"/>
                <a:cs typeface="Carlito"/>
              </a:rPr>
              <a:t>F.</a:t>
            </a:r>
            <a:r>
              <a:rPr sz="1950" spc="-20" dirty="0">
                <a:latin typeface="Carlito"/>
                <a:cs typeface="Carlito"/>
              </a:rPr>
              <a:t> </a:t>
            </a:r>
            <a:r>
              <a:rPr sz="1950" spc="10" dirty="0">
                <a:latin typeface="Carlito"/>
                <a:cs typeface="Carlito"/>
              </a:rPr>
              <a:t>Primaria</a:t>
            </a:r>
            <a:endParaRPr sz="195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950" spc="25" dirty="0">
                <a:latin typeface="Carlito"/>
                <a:cs typeface="Carlito"/>
              </a:rPr>
              <a:t>F.</a:t>
            </a:r>
            <a:r>
              <a:rPr sz="1950" spc="-70" dirty="0">
                <a:latin typeface="Carlito"/>
                <a:cs typeface="Carlito"/>
              </a:rPr>
              <a:t> </a:t>
            </a:r>
            <a:r>
              <a:rPr sz="1950" spc="10" dirty="0">
                <a:latin typeface="Carlito"/>
                <a:cs typeface="Carlito"/>
              </a:rPr>
              <a:t>Secundaria</a:t>
            </a:r>
            <a:endParaRPr sz="1950" dirty="0">
              <a:latin typeface="Carlito"/>
              <a:cs typeface="Carli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99327" y="2721880"/>
            <a:ext cx="1285875" cy="321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dirty="0">
                <a:latin typeface="Carlito"/>
                <a:cs typeface="Carlito"/>
              </a:rPr>
              <a:t>Observación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743182" y="2721880"/>
            <a:ext cx="1322705" cy="321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dirty="0">
                <a:latin typeface="Carlito"/>
                <a:cs typeface="Carlito"/>
              </a:rPr>
              <a:t>Experimento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743182" y="3346128"/>
            <a:ext cx="1069975" cy="683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700"/>
              </a:lnSpc>
              <a:spcBef>
                <a:spcPts val="100"/>
              </a:spcBef>
            </a:pPr>
            <a:r>
              <a:rPr sz="1950" dirty="0">
                <a:latin typeface="Carlito"/>
                <a:cs typeface="Carlito"/>
              </a:rPr>
              <a:t>Personal  </a:t>
            </a:r>
            <a:r>
              <a:rPr sz="1950" spc="-10" dirty="0">
                <a:latin typeface="Carlito"/>
                <a:cs typeface="Carlito"/>
              </a:rPr>
              <a:t>T</a:t>
            </a:r>
            <a:r>
              <a:rPr sz="1950" spc="-30" dirty="0">
                <a:latin typeface="Carlito"/>
                <a:cs typeface="Carlito"/>
              </a:rPr>
              <a:t>e</a:t>
            </a:r>
            <a:r>
              <a:rPr sz="1950" spc="15" dirty="0">
                <a:latin typeface="Carlito"/>
                <a:cs typeface="Carlito"/>
              </a:rPr>
              <a:t>l</a:t>
            </a:r>
            <a:r>
              <a:rPr sz="1950" spc="-35" dirty="0">
                <a:latin typeface="Carlito"/>
                <a:cs typeface="Carlito"/>
              </a:rPr>
              <a:t>ef</a:t>
            </a:r>
            <a:r>
              <a:rPr sz="1950" spc="5" dirty="0">
                <a:latin typeface="Carlito"/>
                <a:cs typeface="Carlito"/>
              </a:rPr>
              <a:t>ó</a:t>
            </a:r>
            <a:r>
              <a:rPr sz="1950" spc="10" dirty="0">
                <a:latin typeface="Carlito"/>
                <a:cs typeface="Carlito"/>
              </a:rPr>
              <a:t>ni</a:t>
            </a:r>
            <a:r>
              <a:rPr sz="1950" spc="25" dirty="0">
                <a:latin typeface="Carlito"/>
                <a:cs typeface="Carlito"/>
              </a:rPr>
              <a:t>c</a:t>
            </a:r>
            <a:r>
              <a:rPr sz="1950" spc="15" dirty="0">
                <a:latin typeface="Carlito"/>
                <a:cs typeface="Carlito"/>
              </a:rPr>
              <a:t>a</a:t>
            </a:r>
            <a:endParaRPr sz="1950" dirty="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43182" y="4332530"/>
            <a:ext cx="1525270" cy="682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600"/>
              </a:lnSpc>
              <a:spcBef>
                <a:spcPts val="100"/>
              </a:spcBef>
            </a:pPr>
            <a:r>
              <a:rPr sz="1950" dirty="0">
                <a:latin typeface="Carlito"/>
                <a:cs typeface="Carlito"/>
              </a:rPr>
              <a:t>A</a:t>
            </a:r>
            <a:r>
              <a:rPr sz="1950" spc="10" dirty="0">
                <a:latin typeface="Carlito"/>
                <a:cs typeface="Carlito"/>
              </a:rPr>
              <a:t>d</a:t>
            </a:r>
            <a:r>
              <a:rPr sz="1950" spc="25" dirty="0">
                <a:latin typeface="Carlito"/>
                <a:cs typeface="Carlito"/>
              </a:rPr>
              <a:t>mi</a:t>
            </a:r>
            <a:r>
              <a:rPr sz="1950" spc="10" dirty="0">
                <a:latin typeface="Carlito"/>
                <a:cs typeface="Carlito"/>
              </a:rPr>
              <a:t>ni</a:t>
            </a:r>
            <a:r>
              <a:rPr sz="1950" spc="-15" dirty="0">
                <a:latin typeface="Carlito"/>
                <a:cs typeface="Carlito"/>
              </a:rPr>
              <a:t>s</a:t>
            </a:r>
            <a:r>
              <a:rPr sz="1950" spc="10" dirty="0">
                <a:latin typeface="Carlito"/>
                <a:cs typeface="Carlito"/>
              </a:rPr>
              <a:t>t</a:t>
            </a:r>
            <a:r>
              <a:rPr sz="1950" spc="-30" dirty="0">
                <a:latin typeface="Carlito"/>
                <a:cs typeface="Carlito"/>
              </a:rPr>
              <a:t>r</a:t>
            </a:r>
            <a:r>
              <a:rPr sz="1950" spc="15" dirty="0">
                <a:latin typeface="Carlito"/>
                <a:cs typeface="Carlito"/>
              </a:rPr>
              <a:t>a</a:t>
            </a:r>
            <a:r>
              <a:rPr sz="1950" dirty="0">
                <a:latin typeface="Carlito"/>
                <a:cs typeface="Carlito"/>
              </a:rPr>
              <a:t>t</a:t>
            </a:r>
            <a:r>
              <a:rPr sz="1950" spc="15" dirty="0">
                <a:latin typeface="Carlito"/>
                <a:cs typeface="Carlito"/>
              </a:rPr>
              <a:t>i</a:t>
            </a:r>
            <a:r>
              <a:rPr sz="1950" spc="-30" dirty="0">
                <a:latin typeface="Carlito"/>
                <a:cs typeface="Carlito"/>
              </a:rPr>
              <a:t>v</a:t>
            </a:r>
            <a:r>
              <a:rPr sz="1950" spc="10" dirty="0">
                <a:latin typeface="Carlito"/>
                <a:cs typeface="Carlito"/>
              </a:rPr>
              <a:t>o  </a:t>
            </a:r>
            <a:r>
              <a:rPr sz="1950" spc="15" dirty="0">
                <a:latin typeface="Carlito"/>
                <a:cs typeface="Carlito"/>
              </a:rPr>
              <a:t>Por</a:t>
            </a:r>
            <a:r>
              <a:rPr sz="1950" spc="-15" dirty="0">
                <a:latin typeface="Carlito"/>
                <a:cs typeface="Carlito"/>
              </a:rPr>
              <a:t> </a:t>
            </a:r>
            <a:r>
              <a:rPr sz="1950" dirty="0">
                <a:latin typeface="Carlito"/>
                <a:cs typeface="Carlito"/>
              </a:rPr>
              <a:t>ley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743182" y="5318299"/>
            <a:ext cx="842010" cy="682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600"/>
              </a:lnSpc>
              <a:spcBef>
                <a:spcPts val="100"/>
              </a:spcBef>
            </a:pPr>
            <a:r>
              <a:rPr sz="1950" spc="-10" dirty="0">
                <a:latin typeface="Carlito"/>
                <a:cs typeface="Carlito"/>
              </a:rPr>
              <a:t>Correo  </a:t>
            </a:r>
            <a:r>
              <a:rPr sz="1950" spc="-25" dirty="0">
                <a:latin typeface="Carlito"/>
                <a:cs typeface="Carlito"/>
              </a:rPr>
              <a:t>I</a:t>
            </a:r>
            <a:r>
              <a:rPr sz="1950" spc="10" dirty="0">
                <a:latin typeface="Carlito"/>
                <a:cs typeface="Carlito"/>
              </a:rPr>
              <a:t>n</a:t>
            </a:r>
            <a:r>
              <a:rPr sz="1950" dirty="0">
                <a:latin typeface="Carlito"/>
                <a:cs typeface="Carlito"/>
              </a:rPr>
              <a:t>t</a:t>
            </a:r>
            <a:r>
              <a:rPr sz="1950" spc="-30" dirty="0">
                <a:latin typeface="Carlito"/>
                <a:cs typeface="Carlito"/>
              </a:rPr>
              <a:t>e</a:t>
            </a:r>
            <a:r>
              <a:rPr sz="1950" spc="-25" dirty="0">
                <a:latin typeface="Carlito"/>
                <a:cs typeface="Carlito"/>
              </a:rPr>
              <a:t>r</a:t>
            </a:r>
            <a:r>
              <a:rPr sz="1950" spc="10" dirty="0">
                <a:latin typeface="Carlito"/>
                <a:cs typeface="Carlito"/>
              </a:rPr>
              <a:t>n</a:t>
            </a:r>
            <a:r>
              <a:rPr sz="1950" spc="-35" dirty="0">
                <a:latin typeface="Carlito"/>
                <a:cs typeface="Carlito"/>
              </a:rPr>
              <a:t>e</a:t>
            </a:r>
            <a:r>
              <a:rPr sz="1950" spc="10" dirty="0">
                <a:latin typeface="Carlito"/>
                <a:cs typeface="Carlito"/>
              </a:rPr>
              <a:t>t</a:t>
            </a:r>
            <a:endParaRPr sz="1950" dirty="0">
              <a:latin typeface="Carlito"/>
              <a:cs typeface="Carli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70874" y="3531576"/>
            <a:ext cx="1261745" cy="321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spc="5" dirty="0">
                <a:latin typeface="Carlito"/>
                <a:cs typeface="Carlito"/>
              </a:rPr>
              <a:t>Información</a:t>
            </a:r>
            <a:endParaRPr sz="1950" dirty="0">
              <a:latin typeface="Carlito"/>
              <a:cs typeface="Carli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34999" y="1724396"/>
            <a:ext cx="955040" cy="321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dirty="0">
                <a:latin typeface="Carlito"/>
                <a:cs typeface="Carlito"/>
              </a:rPr>
              <a:t>Existente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963427" y="5318299"/>
            <a:ext cx="1363355" cy="6617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600"/>
              </a:lnSpc>
              <a:spcBef>
                <a:spcPts val="100"/>
              </a:spcBef>
            </a:pPr>
            <a:r>
              <a:rPr sz="1950" dirty="0">
                <a:latin typeface="Carlito"/>
                <a:cs typeface="Carlito"/>
              </a:rPr>
              <a:t>Envío </a:t>
            </a:r>
            <a:r>
              <a:rPr sz="1950" spc="10" dirty="0">
                <a:latin typeface="Carlito"/>
                <a:cs typeface="Carlito"/>
              </a:rPr>
              <a:t>de  </a:t>
            </a:r>
            <a:r>
              <a:rPr sz="1950" spc="25" dirty="0" err="1">
                <a:latin typeface="Carlito"/>
                <a:cs typeface="Carlito"/>
              </a:rPr>
              <a:t>c</a:t>
            </a:r>
            <a:r>
              <a:rPr sz="1950" spc="10" dirty="0" err="1">
                <a:latin typeface="Carlito"/>
                <a:cs typeface="Carlito"/>
              </a:rPr>
              <a:t>u</a:t>
            </a:r>
            <a:r>
              <a:rPr sz="1950" spc="-35" dirty="0" err="1">
                <a:latin typeface="Carlito"/>
                <a:cs typeface="Carlito"/>
              </a:rPr>
              <a:t>e</a:t>
            </a:r>
            <a:r>
              <a:rPr sz="1950" spc="-15" dirty="0" err="1">
                <a:latin typeface="Carlito"/>
                <a:cs typeface="Carlito"/>
              </a:rPr>
              <a:t>s</a:t>
            </a:r>
            <a:r>
              <a:rPr sz="1950" spc="10" dirty="0" err="1">
                <a:latin typeface="Carlito"/>
                <a:cs typeface="Carlito"/>
              </a:rPr>
              <a:t>ti</a:t>
            </a:r>
            <a:r>
              <a:rPr sz="1950" spc="5" dirty="0" err="1">
                <a:latin typeface="Carlito"/>
                <a:cs typeface="Carlito"/>
              </a:rPr>
              <a:t>o</a:t>
            </a:r>
            <a:r>
              <a:rPr sz="1950" spc="10" dirty="0" err="1">
                <a:latin typeface="Carlito"/>
                <a:cs typeface="Carlito"/>
              </a:rPr>
              <a:t>n</a:t>
            </a:r>
            <a:r>
              <a:rPr sz="1950" spc="5" dirty="0" err="1">
                <a:latin typeface="Carlito"/>
                <a:cs typeface="Carlito"/>
              </a:rPr>
              <a:t>a</a:t>
            </a:r>
            <a:r>
              <a:rPr sz="1950" spc="-25" dirty="0" err="1">
                <a:latin typeface="Carlito"/>
                <a:cs typeface="Carlito"/>
              </a:rPr>
              <a:t>r</a:t>
            </a:r>
            <a:r>
              <a:rPr sz="1950" spc="5" dirty="0" err="1">
                <a:latin typeface="Carlito"/>
                <a:cs typeface="Carlito"/>
              </a:rPr>
              <a:t>i</a:t>
            </a:r>
            <a:r>
              <a:rPr lang="es-ES" sz="1950" spc="5" dirty="0">
                <a:latin typeface="Carlito"/>
                <a:cs typeface="Carlito"/>
              </a:rPr>
              <a:t>o</a:t>
            </a:r>
            <a:endParaRPr sz="1950" dirty="0">
              <a:latin typeface="Carlito"/>
              <a:cs typeface="Carli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34999" y="4189229"/>
            <a:ext cx="979169" cy="321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spc="35" dirty="0">
                <a:latin typeface="Carlito"/>
                <a:cs typeface="Carlito"/>
              </a:rPr>
              <a:t>No</a:t>
            </a:r>
            <a:r>
              <a:rPr sz="1950" spc="-40" dirty="0">
                <a:latin typeface="Carlito"/>
                <a:cs typeface="Carlito"/>
              </a:rPr>
              <a:t> </a:t>
            </a:r>
            <a:r>
              <a:rPr sz="1950" dirty="0">
                <a:latin typeface="Carlito"/>
                <a:cs typeface="Carlito"/>
              </a:rPr>
              <a:t>existe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099327" y="3531576"/>
            <a:ext cx="1035050" cy="321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spc="-5" dirty="0">
                <a:latin typeface="Carlito"/>
                <a:cs typeface="Carlito"/>
              </a:rPr>
              <a:t>Entrevista</a:t>
            </a:r>
            <a:endParaRPr sz="1950" dirty="0">
              <a:latin typeface="Carlito"/>
              <a:cs typeface="Carli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99327" y="4517744"/>
            <a:ext cx="854075" cy="321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spc="-5" dirty="0">
                <a:latin typeface="Carlito"/>
                <a:cs typeface="Carlito"/>
              </a:rPr>
              <a:t>Registro</a:t>
            </a:r>
            <a:endParaRPr sz="1950" dirty="0">
              <a:latin typeface="Carlito"/>
              <a:cs typeface="Carlito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75686" y="1499997"/>
            <a:ext cx="299720" cy="936625"/>
          </a:xfrm>
          <a:custGeom>
            <a:avLst/>
            <a:gdLst/>
            <a:ahLst/>
            <a:cxnLst/>
            <a:rect l="l" t="t" r="r" b="b"/>
            <a:pathLst>
              <a:path w="299720" h="936625">
                <a:moveTo>
                  <a:pt x="299478" y="936605"/>
                </a:moveTo>
                <a:lnTo>
                  <a:pt x="241164" y="931400"/>
                </a:lnTo>
                <a:lnTo>
                  <a:pt x="193542" y="917210"/>
                </a:lnTo>
                <a:lnTo>
                  <a:pt x="161433" y="896170"/>
                </a:lnTo>
                <a:lnTo>
                  <a:pt x="149659" y="534489"/>
                </a:lnTo>
                <a:lnTo>
                  <a:pt x="137887" y="508737"/>
                </a:lnTo>
                <a:lnTo>
                  <a:pt x="105795" y="487698"/>
                </a:lnTo>
                <a:lnTo>
                  <a:pt x="58221" y="473507"/>
                </a:lnTo>
                <a:lnTo>
                  <a:pt x="0" y="468302"/>
                </a:lnTo>
                <a:lnTo>
                  <a:pt x="58221" y="463097"/>
                </a:lnTo>
                <a:lnTo>
                  <a:pt x="105795" y="448907"/>
                </a:lnTo>
                <a:lnTo>
                  <a:pt x="137887" y="427867"/>
                </a:lnTo>
                <a:lnTo>
                  <a:pt x="149659" y="402116"/>
                </a:lnTo>
                <a:lnTo>
                  <a:pt x="149659" y="66186"/>
                </a:lnTo>
                <a:lnTo>
                  <a:pt x="161433" y="40435"/>
                </a:lnTo>
                <a:lnTo>
                  <a:pt x="193542" y="19395"/>
                </a:lnTo>
                <a:lnTo>
                  <a:pt x="241164" y="5204"/>
                </a:lnTo>
                <a:lnTo>
                  <a:pt x="299478" y="0"/>
                </a:lnTo>
              </a:path>
            </a:pathLst>
          </a:custGeom>
          <a:ln w="11965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4663707" y="2787830"/>
            <a:ext cx="299720" cy="3255010"/>
          </a:xfrm>
          <a:custGeom>
            <a:avLst/>
            <a:gdLst/>
            <a:ahLst/>
            <a:cxnLst/>
            <a:rect l="l" t="t" r="r" b="b"/>
            <a:pathLst>
              <a:path w="299720" h="3255010">
                <a:moveTo>
                  <a:pt x="299478" y="3254712"/>
                </a:moveTo>
                <a:lnTo>
                  <a:pt x="241164" y="3249509"/>
                </a:lnTo>
                <a:lnTo>
                  <a:pt x="193542" y="3235321"/>
                </a:lnTo>
                <a:lnTo>
                  <a:pt x="161433" y="3214278"/>
                </a:lnTo>
                <a:lnTo>
                  <a:pt x="149659" y="1693539"/>
                </a:lnTo>
                <a:lnTo>
                  <a:pt x="137887" y="1667787"/>
                </a:lnTo>
                <a:lnTo>
                  <a:pt x="105795" y="1646747"/>
                </a:lnTo>
                <a:lnTo>
                  <a:pt x="58221" y="1632557"/>
                </a:lnTo>
                <a:lnTo>
                  <a:pt x="0" y="1627352"/>
                </a:lnTo>
                <a:lnTo>
                  <a:pt x="58221" y="1622147"/>
                </a:lnTo>
                <a:lnTo>
                  <a:pt x="105795" y="1607956"/>
                </a:lnTo>
                <a:lnTo>
                  <a:pt x="137887" y="1586917"/>
                </a:lnTo>
                <a:lnTo>
                  <a:pt x="149659" y="1561165"/>
                </a:lnTo>
                <a:lnTo>
                  <a:pt x="149659" y="66186"/>
                </a:lnTo>
                <a:lnTo>
                  <a:pt x="161433" y="40435"/>
                </a:lnTo>
                <a:lnTo>
                  <a:pt x="193542" y="19395"/>
                </a:lnTo>
                <a:lnTo>
                  <a:pt x="241164" y="5204"/>
                </a:lnTo>
                <a:lnTo>
                  <a:pt x="299478" y="0"/>
                </a:lnTo>
              </a:path>
            </a:pathLst>
          </a:custGeom>
          <a:ln w="11988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328805" y="1804394"/>
            <a:ext cx="311785" cy="4191635"/>
          </a:xfrm>
          <a:custGeom>
            <a:avLst/>
            <a:gdLst/>
            <a:ahLst/>
            <a:cxnLst/>
            <a:rect l="l" t="t" r="r" b="b"/>
            <a:pathLst>
              <a:path w="311784" h="4191635">
                <a:moveTo>
                  <a:pt x="275519" y="620501"/>
                </a:moveTo>
                <a:lnTo>
                  <a:pt x="224204" y="615925"/>
                </a:lnTo>
                <a:lnTo>
                  <a:pt x="182322" y="603447"/>
                </a:lnTo>
                <a:lnTo>
                  <a:pt x="143749" y="562275"/>
                </a:lnTo>
                <a:lnTo>
                  <a:pt x="143749" y="368554"/>
                </a:lnTo>
                <a:lnTo>
                  <a:pt x="133380" y="345890"/>
                </a:lnTo>
                <a:lnTo>
                  <a:pt x="105116" y="327382"/>
                </a:lnTo>
                <a:lnTo>
                  <a:pt x="63227" y="314904"/>
                </a:lnTo>
                <a:lnTo>
                  <a:pt x="11979" y="310328"/>
                </a:lnTo>
                <a:lnTo>
                  <a:pt x="63227" y="305728"/>
                </a:lnTo>
                <a:lnTo>
                  <a:pt x="105116" y="293196"/>
                </a:lnTo>
                <a:lnTo>
                  <a:pt x="133380" y="274635"/>
                </a:lnTo>
                <a:lnTo>
                  <a:pt x="143749" y="251946"/>
                </a:lnTo>
                <a:lnTo>
                  <a:pt x="143749" y="58225"/>
                </a:lnTo>
                <a:lnTo>
                  <a:pt x="154096" y="35561"/>
                </a:lnTo>
                <a:lnTo>
                  <a:pt x="182322" y="17054"/>
                </a:lnTo>
                <a:lnTo>
                  <a:pt x="224204" y="4575"/>
                </a:lnTo>
                <a:lnTo>
                  <a:pt x="275519" y="0"/>
                </a:lnTo>
              </a:path>
              <a:path w="311784" h="4191635">
                <a:moveTo>
                  <a:pt x="299478" y="2201023"/>
                </a:moveTo>
                <a:lnTo>
                  <a:pt x="241164" y="2195818"/>
                </a:lnTo>
                <a:lnTo>
                  <a:pt x="193542" y="2181627"/>
                </a:lnTo>
                <a:lnTo>
                  <a:pt x="161433" y="2160588"/>
                </a:lnTo>
                <a:lnTo>
                  <a:pt x="149659" y="2015575"/>
                </a:lnTo>
                <a:lnTo>
                  <a:pt x="137887" y="1989757"/>
                </a:lnTo>
                <a:lnTo>
                  <a:pt x="105795" y="1968725"/>
                </a:lnTo>
                <a:lnTo>
                  <a:pt x="58221" y="1954571"/>
                </a:lnTo>
                <a:lnTo>
                  <a:pt x="0" y="1949388"/>
                </a:lnTo>
                <a:lnTo>
                  <a:pt x="58221" y="1944181"/>
                </a:lnTo>
                <a:lnTo>
                  <a:pt x="105795" y="1929973"/>
                </a:lnTo>
                <a:lnTo>
                  <a:pt x="137887" y="1908887"/>
                </a:lnTo>
                <a:lnTo>
                  <a:pt x="149659" y="1883045"/>
                </a:lnTo>
                <a:lnTo>
                  <a:pt x="149659" y="1763784"/>
                </a:lnTo>
                <a:lnTo>
                  <a:pt x="161433" y="1738032"/>
                </a:lnTo>
                <a:lnTo>
                  <a:pt x="193542" y="1716993"/>
                </a:lnTo>
                <a:lnTo>
                  <a:pt x="241164" y="1702802"/>
                </a:lnTo>
                <a:lnTo>
                  <a:pt x="299478" y="1697597"/>
                </a:lnTo>
              </a:path>
              <a:path w="311784" h="4191635">
                <a:moveTo>
                  <a:pt x="311457" y="3219597"/>
                </a:moveTo>
                <a:lnTo>
                  <a:pt x="253143" y="3214394"/>
                </a:lnTo>
                <a:lnTo>
                  <a:pt x="205521" y="3200203"/>
                </a:lnTo>
                <a:lnTo>
                  <a:pt x="173412" y="3179155"/>
                </a:lnTo>
                <a:lnTo>
                  <a:pt x="161638" y="3016525"/>
                </a:lnTo>
                <a:lnTo>
                  <a:pt x="149866" y="2990751"/>
                </a:lnTo>
                <a:lnTo>
                  <a:pt x="117774" y="2969709"/>
                </a:lnTo>
                <a:lnTo>
                  <a:pt x="70200" y="2955524"/>
                </a:lnTo>
                <a:lnTo>
                  <a:pt x="11979" y="2950323"/>
                </a:lnTo>
                <a:lnTo>
                  <a:pt x="70200" y="2945120"/>
                </a:lnTo>
                <a:lnTo>
                  <a:pt x="117774" y="2930929"/>
                </a:lnTo>
                <a:lnTo>
                  <a:pt x="149866" y="2909881"/>
                </a:lnTo>
                <a:lnTo>
                  <a:pt x="161638" y="2884105"/>
                </a:lnTo>
                <a:lnTo>
                  <a:pt x="161638" y="2747251"/>
                </a:lnTo>
                <a:lnTo>
                  <a:pt x="173412" y="2721475"/>
                </a:lnTo>
                <a:lnTo>
                  <a:pt x="205521" y="2700427"/>
                </a:lnTo>
                <a:lnTo>
                  <a:pt x="253143" y="2686236"/>
                </a:lnTo>
                <a:lnTo>
                  <a:pt x="311457" y="2681033"/>
                </a:lnTo>
              </a:path>
              <a:path w="311784" h="4191635">
                <a:moveTo>
                  <a:pt x="311457" y="4191317"/>
                </a:moveTo>
                <a:lnTo>
                  <a:pt x="253143" y="4186115"/>
                </a:lnTo>
                <a:lnTo>
                  <a:pt x="205521" y="4171927"/>
                </a:lnTo>
                <a:lnTo>
                  <a:pt x="173412" y="4150884"/>
                </a:lnTo>
                <a:lnTo>
                  <a:pt x="161638" y="3988254"/>
                </a:lnTo>
                <a:lnTo>
                  <a:pt x="149866" y="3962480"/>
                </a:lnTo>
                <a:lnTo>
                  <a:pt x="117774" y="3941437"/>
                </a:lnTo>
                <a:lnTo>
                  <a:pt x="70200" y="3927252"/>
                </a:lnTo>
                <a:lnTo>
                  <a:pt x="11979" y="3922051"/>
                </a:lnTo>
                <a:lnTo>
                  <a:pt x="70200" y="3916848"/>
                </a:lnTo>
                <a:lnTo>
                  <a:pt x="117774" y="3902658"/>
                </a:lnTo>
                <a:lnTo>
                  <a:pt x="149866" y="3881610"/>
                </a:lnTo>
                <a:lnTo>
                  <a:pt x="161638" y="3855833"/>
                </a:lnTo>
                <a:lnTo>
                  <a:pt x="161638" y="3718979"/>
                </a:lnTo>
                <a:lnTo>
                  <a:pt x="173412" y="3693205"/>
                </a:lnTo>
                <a:lnTo>
                  <a:pt x="205521" y="3672163"/>
                </a:lnTo>
                <a:lnTo>
                  <a:pt x="253143" y="3657978"/>
                </a:lnTo>
                <a:lnTo>
                  <a:pt x="311457" y="3652777"/>
                </a:lnTo>
              </a:path>
              <a:path w="311784" h="4191635">
                <a:moveTo>
                  <a:pt x="287498" y="1264417"/>
                </a:moveTo>
                <a:lnTo>
                  <a:pt x="247790" y="1260883"/>
                </a:lnTo>
                <a:lnTo>
                  <a:pt x="193590" y="1236956"/>
                </a:lnTo>
                <a:lnTo>
                  <a:pt x="185596" y="1180591"/>
                </a:lnTo>
                <a:lnTo>
                  <a:pt x="177605" y="1163095"/>
                </a:lnTo>
                <a:lnTo>
                  <a:pt x="155808" y="1148805"/>
                </a:lnTo>
                <a:lnTo>
                  <a:pt x="123469" y="1139168"/>
                </a:lnTo>
                <a:lnTo>
                  <a:pt x="83853" y="1135634"/>
                </a:lnTo>
                <a:lnTo>
                  <a:pt x="123469" y="1132100"/>
                </a:lnTo>
                <a:lnTo>
                  <a:pt x="155808" y="1122463"/>
                </a:lnTo>
                <a:lnTo>
                  <a:pt x="177605" y="1108172"/>
                </a:lnTo>
                <a:lnTo>
                  <a:pt x="185596" y="1090677"/>
                </a:lnTo>
                <a:lnTo>
                  <a:pt x="185596" y="1051808"/>
                </a:lnTo>
                <a:lnTo>
                  <a:pt x="193590" y="1034312"/>
                </a:lnTo>
                <a:lnTo>
                  <a:pt x="215404" y="1020022"/>
                </a:lnTo>
                <a:lnTo>
                  <a:pt x="247790" y="1010385"/>
                </a:lnTo>
                <a:lnTo>
                  <a:pt x="287498" y="1006851"/>
                </a:lnTo>
              </a:path>
            </a:pathLst>
          </a:custGeom>
          <a:ln w="11855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23"/>
          <p:cNvSpPr/>
          <p:nvPr/>
        </p:nvSpPr>
        <p:spPr>
          <a:xfrm>
            <a:off x="3130300" y="1459026"/>
            <a:ext cx="407670" cy="4466590"/>
          </a:xfrm>
          <a:custGeom>
            <a:avLst/>
            <a:gdLst/>
            <a:ahLst/>
            <a:cxnLst/>
            <a:rect l="l" t="t" r="r" b="b"/>
            <a:pathLst>
              <a:path w="407670" h="4466590">
                <a:moveTo>
                  <a:pt x="407370" y="4466440"/>
                </a:moveTo>
                <a:lnTo>
                  <a:pt x="342942" y="4461849"/>
                </a:lnTo>
                <a:lnTo>
                  <a:pt x="287014" y="4449068"/>
                </a:lnTo>
                <a:lnTo>
                  <a:pt x="242926" y="4429578"/>
                </a:lnTo>
                <a:lnTo>
                  <a:pt x="203645" y="4376409"/>
                </a:lnTo>
                <a:lnTo>
                  <a:pt x="203645" y="2320356"/>
                </a:lnTo>
                <a:lnTo>
                  <a:pt x="193263" y="2291867"/>
                </a:lnTo>
                <a:lnTo>
                  <a:pt x="164355" y="2267140"/>
                </a:lnTo>
                <a:lnTo>
                  <a:pt x="120272" y="2247649"/>
                </a:lnTo>
                <a:lnTo>
                  <a:pt x="64369" y="2234873"/>
                </a:lnTo>
                <a:lnTo>
                  <a:pt x="0" y="2230286"/>
                </a:lnTo>
                <a:lnTo>
                  <a:pt x="64369" y="2225699"/>
                </a:lnTo>
                <a:lnTo>
                  <a:pt x="120272" y="2212923"/>
                </a:lnTo>
                <a:lnTo>
                  <a:pt x="164355" y="2193433"/>
                </a:lnTo>
                <a:lnTo>
                  <a:pt x="193263" y="2168705"/>
                </a:lnTo>
                <a:lnTo>
                  <a:pt x="203645" y="2140216"/>
                </a:lnTo>
                <a:lnTo>
                  <a:pt x="203645" y="84210"/>
                </a:lnTo>
                <a:lnTo>
                  <a:pt x="214022" y="55721"/>
                </a:lnTo>
                <a:lnTo>
                  <a:pt x="242926" y="30994"/>
                </a:lnTo>
                <a:lnTo>
                  <a:pt x="287014" y="11504"/>
                </a:lnTo>
                <a:lnTo>
                  <a:pt x="337372" y="0"/>
                </a:lnTo>
              </a:path>
            </a:pathLst>
          </a:custGeom>
          <a:ln w="11988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/>
          <p:cNvSpPr/>
          <p:nvPr/>
        </p:nvSpPr>
        <p:spPr>
          <a:xfrm>
            <a:off x="7975423" y="155575"/>
            <a:ext cx="1011262" cy="111305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90600" y="5772137"/>
            <a:ext cx="1085278" cy="108527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CE172C2C-8EA2-4093-A757-D817930389BA}"/>
              </a:ext>
            </a:extLst>
          </p:cNvPr>
          <p:cNvSpPr/>
          <p:nvPr/>
        </p:nvSpPr>
        <p:spPr>
          <a:xfrm>
            <a:off x="6326782" y="1697814"/>
            <a:ext cx="683618" cy="8167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4335" y="338328"/>
            <a:ext cx="5952744" cy="1216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14602" y="470738"/>
            <a:ext cx="525208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20" dirty="0"/>
              <a:t>Fuentes </a:t>
            </a:r>
            <a:r>
              <a:rPr sz="4300" spc="-5" dirty="0"/>
              <a:t>de</a:t>
            </a:r>
            <a:r>
              <a:rPr sz="4300" spc="-40" dirty="0"/>
              <a:t> </a:t>
            </a:r>
            <a:r>
              <a:rPr sz="4300" spc="-15" dirty="0"/>
              <a:t>información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1596897" y="1455242"/>
            <a:ext cx="7070090" cy="39785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70230" marR="373380" lvl="1" indent="-238125" algn="just">
              <a:lnSpc>
                <a:spcPct val="150000"/>
              </a:lnSpc>
              <a:spcBef>
                <a:spcPts val="620"/>
              </a:spcBef>
              <a:buClr>
                <a:srgbClr val="93B6D2"/>
              </a:buClr>
              <a:buFont typeface="Verdana"/>
              <a:buChar char="◦"/>
              <a:tabLst>
                <a:tab pos="570865" algn="l"/>
              </a:tabLst>
            </a:pPr>
            <a:r>
              <a:rPr sz="2800" spc="-5" dirty="0" err="1">
                <a:latin typeface="Carlito"/>
                <a:cs typeface="Carlito"/>
              </a:rPr>
              <a:t>Primarias</a:t>
            </a:r>
            <a:r>
              <a:rPr sz="2800" spc="-5" dirty="0">
                <a:latin typeface="Carlito"/>
                <a:cs typeface="Carlito"/>
              </a:rPr>
              <a:t>: </a:t>
            </a:r>
            <a:r>
              <a:rPr sz="2800" spc="-15" dirty="0">
                <a:latin typeface="Carlito"/>
                <a:cs typeface="Carlito"/>
              </a:rPr>
              <a:t>datos recolectados </a:t>
            </a:r>
            <a:r>
              <a:rPr sz="2800" spc="-5" dirty="0">
                <a:latin typeface="Carlito"/>
                <a:cs typeface="Carlito"/>
              </a:rPr>
              <a:t>y </a:t>
            </a:r>
            <a:r>
              <a:rPr sz="2800" spc="-10" dirty="0">
                <a:latin typeface="Carlito"/>
                <a:cs typeface="Carlito"/>
              </a:rPr>
              <a:t>publicados  </a:t>
            </a:r>
            <a:r>
              <a:rPr sz="2800" spc="-5" dirty="0">
                <a:latin typeface="Carlito"/>
                <a:cs typeface="Carlito"/>
              </a:rPr>
              <a:t>por la </a:t>
            </a:r>
            <a:r>
              <a:rPr sz="2800" spc="-10" dirty="0">
                <a:solidFill>
                  <a:srgbClr val="006FC0"/>
                </a:solidFill>
                <a:latin typeface="Carlito"/>
                <a:cs typeface="Carlito"/>
              </a:rPr>
              <a:t>misma </a:t>
            </a:r>
            <a:r>
              <a:rPr sz="2800" spc="-15" dirty="0">
                <a:latin typeface="Carlito"/>
                <a:cs typeface="Carlito"/>
              </a:rPr>
              <a:t>fuente. </a:t>
            </a:r>
            <a:r>
              <a:rPr sz="2800" spc="-5" dirty="0">
                <a:latin typeface="Carlito"/>
                <a:cs typeface="Carlito"/>
              </a:rPr>
              <a:t>Ejm: </a:t>
            </a:r>
            <a:r>
              <a:rPr sz="2800" spc="-15" dirty="0">
                <a:latin typeface="Carlito"/>
                <a:cs typeface="Carlito"/>
              </a:rPr>
              <a:t>INEC, </a:t>
            </a:r>
            <a:r>
              <a:rPr sz="2800" spc="-5" dirty="0">
                <a:latin typeface="Carlito"/>
                <a:cs typeface="Carlito"/>
              </a:rPr>
              <a:t>CCSS,</a:t>
            </a:r>
            <a:r>
              <a:rPr sz="2800" spc="55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etc.</a:t>
            </a:r>
            <a:endParaRPr lang="es-ES" sz="2800" spc="-15" dirty="0">
              <a:latin typeface="Carlito"/>
              <a:cs typeface="Carlito"/>
            </a:endParaRPr>
          </a:p>
          <a:p>
            <a:pPr marL="570230" marR="373380" lvl="1" indent="-238125" algn="just">
              <a:lnSpc>
                <a:spcPct val="150000"/>
              </a:lnSpc>
              <a:spcBef>
                <a:spcPts val="620"/>
              </a:spcBef>
              <a:buClr>
                <a:srgbClr val="93B6D2"/>
              </a:buClr>
              <a:buFont typeface="Verdana"/>
              <a:buChar char="◦"/>
              <a:tabLst>
                <a:tab pos="570865" algn="l"/>
              </a:tabLst>
            </a:pPr>
            <a:endParaRPr sz="2800" dirty="0">
              <a:latin typeface="Carlito"/>
              <a:cs typeface="Carlito"/>
            </a:endParaRPr>
          </a:p>
          <a:p>
            <a:pPr marL="570230" marR="471170" lvl="1" indent="-238125" algn="just">
              <a:lnSpc>
                <a:spcPct val="150000"/>
              </a:lnSpc>
              <a:spcBef>
                <a:spcPts val="600"/>
              </a:spcBef>
              <a:buClr>
                <a:srgbClr val="93B6D2"/>
              </a:buClr>
              <a:buFont typeface="Verdana"/>
              <a:buChar char="◦"/>
              <a:tabLst>
                <a:tab pos="570865" algn="l"/>
              </a:tabLst>
            </a:pPr>
            <a:r>
              <a:rPr sz="2800" spc="-10" dirty="0">
                <a:latin typeface="Carlito"/>
                <a:cs typeface="Carlito"/>
              </a:rPr>
              <a:t>Secundarias: </a:t>
            </a:r>
            <a:r>
              <a:rPr sz="2800" spc="-15" dirty="0">
                <a:latin typeface="Carlito"/>
                <a:cs typeface="Carlito"/>
              </a:rPr>
              <a:t>datos recolectados </a:t>
            </a:r>
            <a:r>
              <a:rPr sz="2800" spc="-10" dirty="0">
                <a:latin typeface="Carlito"/>
                <a:cs typeface="Carlito"/>
              </a:rPr>
              <a:t>por </a:t>
            </a:r>
            <a:r>
              <a:rPr sz="2800" spc="-20" dirty="0">
                <a:solidFill>
                  <a:srgbClr val="006FC0"/>
                </a:solidFill>
                <a:latin typeface="Carlito"/>
                <a:cs typeface="Carlito"/>
              </a:rPr>
              <a:t>otras </a:t>
            </a:r>
            <a:r>
              <a:rPr sz="2800" spc="-2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fuentes </a:t>
            </a:r>
            <a:r>
              <a:rPr sz="2800" spc="-5" dirty="0">
                <a:latin typeface="Carlito"/>
                <a:cs typeface="Carlito"/>
              </a:rPr>
              <a:t>y </a:t>
            </a:r>
            <a:r>
              <a:rPr sz="2800" spc="-10" dirty="0">
                <a:latin typeface="Carlito"/>
                <a:cs typeface="Carlito"/>
              </a:rPr>
              <a:t>publicados por </a:t>
            </a:r>
            <a:r>
              <a:rPr sz="2800" spc="-5" dirty="0">
                <a:latin typeface="Carlito"/>
                <a:cs typeface="Carlito"/>
              </a:rPr>
              <a:t>la </a:t>
            </a:r>
            <a:r>
              <a:rPr sz="2800" spc="-20" dirty="0">
                <a:latin typeface="Carlito"/>
                <a:cs typeface="Carlito"/>
              </a:rPr>
              <a:t>fuente </a:t>
            </a:r>
            <a:r>
              <a:rPr sz="2800" spc="-10" dirty="0">
                <a:latin typeface="Carlito"/>
                <a:cs typeface="Carlito"/>
              </a:rPr>
              <a:t>de  </a:t>
            </a:r>
            <a:r>
              <a:rPr sz="2800" spc="-20" dirty="0">
                <a:latin typeface="Carlito"/>
                <a:cs typeface="Carlito"/>
              </a:rPr>
              <a:t>referencia. </a:t>
            </a:r>
            <a:r>
              <a:rPr sz="2800" spc="-5" dirty="0">
                <a:latin typeface="Carlito"/>
                <a:cs typeface="Carlito"/>
              </a:rPr>
              <a:t>Ejm: </a:t>
            </a:r>
            <a:r>
              <a:rPr sz="2800" spc="-10" dirty="0">
                <a:latin typeface="Carlito"/>
                <a:cs typeface="Carlito"/>
              </a:rPr>
              <a:t>periódicos,</a:t>
            </a:r>
            <a:r>
              <a:rPr sz="2800" spc="55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revistas.</a:t>
            </a:r>
            <a:endParaRPr sz="2800" dirty="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96378" y="5561309"/>
            <a:ext cx="1363979" cy="12738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4335" y="338328"/>
            <a:ext cx="5952744" cy="1216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14602" y="470738"/>
            <a:ext cx="525208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20" dirty="0"/>
              <a:t>Fuentes </a:t>
            </a:r>
            <a:r>
              <a:rPr sz="4300" spc="-5" dirty="0"/>
              <a:t>de</a:t>
            </a:r>
            <a:r>
              <a:rPr sz="4300" spc="-40" dirty="0"/>
              <a:t> </a:t>
            </a:r>
            <a:r>
              <a:rPr sz="4300" spc="-15" dirty="0"/>
              <a:t>información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1596897" y="1455242"/>
            <a:ext cx="7195820" cy="35934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5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spc="-5" dirty="0">
                <a:latin typeface="Carlito"/>
                <a:cs typeface="Carlito"/>
              </a:rPr>
              <a:t>Primaria: son </a:t>
            </a:r>
            <a:r>
              <a:rPr sz="3200" dirty="0">
                <a:latin typeface="Carlito"/>
                <a:cs typeface="Carlito"/>
              </a:rPr>
              <a:t>más </a:t>
            </a:r>
            <a:r>
              <a:rPr sz="3200" spc="-10" dirty="0">
                <a:latin typeface="Carlito"/>
                <a:cs typeface="Carlito"/>
              </a:rPr>
              <a:t>confiables, </a:t>
            </a:r>
            <a:r>
              <a:rPr sz="3200" spc="-5" dirty="0">
                <a:latin typeface="Carlito"/>
                <a:cs typeface="Carlito"/>
              </a:rPr>
              <a:t>incluyen  </a:t>
            </a:r>
            <a:r>
              <a:rPr sz="3200" spc="-10" dirty="0">
                <a:latin typeface="Carlito"/>
                <a:cs typeface="Carlito"/>
              </a:rPr>
              <a:t>definición </a:t>
            </a:r>
            <a:r>
              <a:rPr sz="3200" spc="-5" dirty="0">
                <a:latin typeface="Carlito"/>
                <a:cs typeface="Carlito"/>
              </a:rPr>
              <a:t>de </a:t>
            </a:r>
            <a:r>
              <a:rPr sz="3200" spc="-10" dirty="0">
                <a:latin typeface="Carlito"/>
                <a:cs typeface="Carlito"/>
              </a:rPr>
              <a:t>términos, </a:t>
            </a:r>
            <a:r>
              <a:rPr sz="3200" spc="-5" dirty="0">
                <a:latin typeface="Carlito"/>
                <a:cs typeface="Carlito"/>
              </a:rPr>
              <a:t>indican </a:t>
            </a:r>
            <a:r>
              <a:rPr sz="3200" dirty="0">
                <a:latin typeface="Carlito"/>
                <a:cs typeface="Carlito"/>
              </a:rPr>
              <a:t>el </a:t>
            </a:r>
            <a:r>
              <a:rPr sz="3200" spc="-15" dirty="0">
                <a:latin typeface="Carlito"/>
                <a:cs typeface="Carlito"/>
              </a:rPr>
              <a:t>proceso  </a:t>
            </a:r>
            <a:r>
              <a:rPr sz="3200" spc="-5" dirty="0">
                <a:latin typeface="Carlito"/>
                <a:cs typeface="Carlito"/>
              </a:rPr>
              <a:t>de </a:t>
            </a:r>
            <a:r>
              <a:rPr sz="3200" spc="-20" dirty="0">
                <a:latin typeface="Carlito"/>
                <a:cs typeface="Carlito"/>
              </a:rPr>
              <a:t>muestreo, </a:t>
            </a:r>
            <a:r>
              <a:rPr sz="3200" spc="-10" dirty="0">
                <a:latin typeface="Carlito"/>
                <a:cs typeface="Carlito"/>
              </a:rPr>
              <a:t>proporcionan </a:t>
            </a:r>
            <a:r>
              <a:rPr sz="3200" dirty="0">
                <a:latin typeface="Carlito"/>
                <a:cs typeface="Carlito"/>
              </a:rPr>
              <a:t>más</a:t>
            </a:r>
            <a:r>
              <a:rPr sz="3200" spc="1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detalles.</a:t>
            </a:r>
            <a:endParaRPr sz="3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93B6D2"/>
              </a:buClr>
              <a:buFont typeface="Arial"/>
              <a:buChar char=""/>
            </a:pPr>
            <a:endParaRPr sz="4100">
              <a:latin typeface="Carlito"/>
              <a:cs typeface="Carlito"/>
            </a:endParaRPr>
          </a:p>
          <a:p>
            <a:pPr marL="295910" marR="292735" indent="-283845">
              <a:lnSpc>
                <a:spcPct val="100000"/>
              </a:lnSpc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spc="-5" dirty="0">
                <a:latin typeface="Carlito"/>
                <a:cs typeface="Carlito"/>
              </a:rPr>
              <a:t>Secundarias: </a:t>
            </a:r>
            <a:r>
              <a:rPr sz="3200" spc="-10" dirty="0">
                <a:latin typeface="Carlito"/>
                <a:cs typeface="Carlito"/>
              </a:rPr>
              <a:t>omiten </a:t>
            </a:r>
            <a:r>
              <a:rPr sz="3200" spc="-15" dirty="0">
                <a:latin typeface="Carlito"/>
                <a:cs typeface="Carlito"/>
              </a:rPr>
              <a:t>información,  </a:t>
            </a:r>
            <a:r>
              <a:rPr sz="3200" spc="-10" dirty="0">
                <a:latin typeface="Carlito"/>
                <a:cs typeface="Carlito"/>
              </a:rPr>
              <a:t>combinan </a:t>
            </a:r>
            <a:r>
              <a:rPr sz="3200" spc="-15" dirty="0">
                <a:latin typeface="Carlito"/>
                <a:cs typeface="Carlito"/>
              </a:rPr>
              <a:t>categorías, </a:t>
            </a:r>
            <a:r>
              <a:rPr sz="3200" spc="-5" dirty="0">
                <a:latin typeface="Carlito"/>
                <a:cs typeface="Carlito"/>
              </a:rPr>
              <a:t>pueden </a:t>
            </a:r>
            <a:r>
              <a:rPr sz="3200" spc="-10" dirty="0">
                <a:latin typeface="Carlito"/>
                <a:cs typeface="Carlito"/>
              </a:rPr>
              <a:t>tener  </a:t>
            </a:r>
            <a:r>
              <a:rPr sz="3200" spc="-15" dirty="0">
                <a:latin typeface="Carlito"/>
                <a:cs typeface="Carlito"/>
              </a:rPr>
              <a:t>errores </a:t>
            </a:r>
            <a:r>
              <a:rPr sz="3200" spc="-5" dirty="0">
                <a:latin typeface="Carlito"/>
                <a:cs typeface="Carlito"/>
              </a:rPr>
              <a:t>de </a:t>
            </a:r>
            <a:r>
              <a:rPr sz="3200" spc="-10" dirty="0">
                <a:latin typeface="Carlito"/>
                <a:cs typeface="Carlito"/>
              </a:rPr>
              <a:t>transcripción, </a:t>
            </a:r>
            <a:r>
              <a:rPr sz="3200" dirty="0">
                <a:latin typeface="Carlito"/>
                <a:cs typeface="Carlito"/>
              </a:rPr>
              <a:t>más</a:t>
            </a:r>
            <a:r>
              <a:rPr sz="3200" spc="1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generales.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96378" y="5762571"/>
            <a:ext cx="1444878" cy="108366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4335" y="228599"/>
            <a:ext cx="7583423" cy="11064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82597" y="346328"/>
            <a:ext cx="694372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Técnicas </a:t>
            </a:r>
            <a:r>
              <a:rPr spc="-20" dirty="0"/>
              <a:t>para </a:t>
            </a:r>
            <a:r>
              <a:rPr spc="-15" dirty="0"/>
              <a:t>recolección </a:t>
            </a:r>
            <a:r>
              <a:rPr spc="-5" dirty="0"/>
              <a:t>de</a:t>
            </a:r>
            <a:r>
              <a:rPr spc="60" dirty="0"/>
              <a:t> </a:t>
            </a:r>
            <a:r>
              <a:rPr spc="-20" dirty="0"/>
              <a:t>datos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76858" y="1205560"/>
            <a:ext cx="7456170" cy="55374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0"/>
              </a:spcBef>
              <a:buClr>
                <a:srgbClr val="93B6D2"/>
              </a:buClr>
              <a:buSzPct val="80000"/>
              <a:buFont typeface="Arial"/>
              <a:buChar char=""/>
              <a:tabLst>
                <a:tab pos="296545" algn="l"/>
              </a:tabLst>
            </a:pPr>
            <a:r>
              <a:rPr sz="3000" spc="-5" dirty="0">
                <a:latin typeface="Carlito"/>
                <a:cs typeface="Carlito"/>
              </a:rPr>
              <a:t>Observación: </a:t>
            </a:r>
            <a:r>
              <a:rPr sz="3000" spc="-10" dirty="0">
                <a:latin typeface="Carlito"/>
                <a:cs typeface="Carlito"/>
              </a:rPr>
              <a:t>observar </a:t>
            </a:r>
            <a:r>
              <a:rPr sz="3000" dirty="0">
                <a:latin typeface="Carlito"/>
                <a:cs typeface="Carlito"/>
              </a:rPr>
              <a:t>el </a:t>
            </a:r>
            <a:r>
              <a:rPr sz="3000" spc="-15" dirty="0">
                <a:latin typeface="Carlito"/>
                <a:cs typeface="Carlito"/>
              </a:rPr>
              <a:t>fenómeno </a:t>
            </a:r>
            <a:r>
              <a:rPr sz="3000" dirty="0">
                <a:latin typeface="Carlito"/>
                <a:cs typeface="Carlito"/>
              </a:rPr>
              <a:t>y </a:t>
            </a:r>
            <a:r>
              <a:rPr sz="3000" spc="-65" dirty="0">
                <a:latin typeface="Carlito"/>
                <a:cs typeface="Carlito"/>
              </a:rPr>
              <a:t>registrar  </a:t>
            </a:r>
            <a:r>
              <a:rPr sz="3000" dirty="0">
                <a:latin typeface="Carlito"/>
                <a:cs typeface="Carlito"/>
              </a:rPr>
              <a:t>la </a:t>
            </a:r>
            <a:r>
              <a:rPr sz="3000" spc="-10" dirty="0">
                <a:latin typeface="Carlito"/>
                <a:cs typeface="Carlito"/>
              </a:rPr>
              <a:t>información. </a:t>
            </a:r>
            <a:r>
              <a:rPr sz="3000" spc="-5" dirty="0">
                <a:latin typeface="Carlito"/>
                <a:cs typeface="Carlito"/>
              </a:rPr>
              <a:t>Común </a:t>
            </a:r>
            <a:r>
              <a:rPr sz="3000" dirty="0">
                <a:latin typeface="Carlito"/>
                <a:cs typeface="Carlito"/>
              </a:rPr>
              <a:t>a las </a:t>
            </a:r>
            <a:r>
              <a:rPr sz="3000" spc="-5" dirty="0">
                <a:latin typeface="Carlito"/>
                <a:cs typeface="Carlito"/>
              </a:rPr>
              <a:t>ciencias</a:t>
            </a:r>
            <a:r>
              <a:rPr sz="3000" spc="-55" dirty="0">
                <a:latin typeface="Carlito"/>
                <a:cs typeface="Carlito"/>
              </a:rPr>
              <a:t> </a:t>
            </a:r>
            <a:r>
              <a:rPr sz="3000" spc="-20" dirty="0">
                <a:latin typeface="Carlito"/>
                <a:cs typeface="Carlito"/>
              </a:rPr>
              <a:t>exactas.</a:t>
            </a:r>
            <a:endParaRPr sz="3000" dirty="0">
              <a:latin typeface="Carlito"/>
              <a:cs typeface="Carlito"/>
            </a:endParaRPr>
          </a:p>
          <a:p>
            <a:pPr marL="295910" marR="323215">
              <a:lnSpc>
                <a:spcPct val="100000"/>
              </a:lnSpc>
              <a:tabLst>
                <a:tab pos="5551805" algn="l"/>
              </a:tabLst>
            </a:pPr>
            <a:r>
              <a:rPr sz="3000" spc="-5" dirty="0">
                <a:latin typeface="Carlito"/>
                <a:cs typeface="Carlito"/>
              </a:rPr>
              <a:t>Ejm: estudios de </a:t>
            </a:r>
            <a:r>
              <a:rPr sz="3000" spc="-15" dirty="0">
                <a:latin typeface="Carlito"/>
                <a:cs typeface="Carlito"/>
              </a:rPr>
              <a:t>laboratorio</a:t>
            </a:r>
            <a:r>
              <a:rPr sz="3000" spc="5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y</a:t>
            </a:r>
            <a:r>
              <a:rPr sz="3000" spc="10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de	</a:t>
            </a:r>
            <a:r>
              <a:rPr sz="3000" spc="-20" dirty="0">
                <a:latin typeface="Carlito"/>
                <a:cs typeface="Carlito"/>
              </a:rPr>
              <a:t>control</a:t>
            </a:r>
            <a:r>
              <a:rPr sz="3000" spc="-80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de  </a:t>
            </a:r>
            <a:r>
              <a:rPr sz="3000" spc="-10" dirty="0">
                <a:latin typeface="Carlito"/>
                <a:cs typeface="Carlito"/>
              </a:rPr>
              <a:t>calidad </a:t>
            </a:r>
            <a:r>
              <a:rPr sz="3000" spc="-5" dirty="0">
                <a:latin typeface="Carlito"/>
                <a:cs typeface="Carlito"/>
              </a:rPr>
              <a:t>de</a:t>
            </a:r>
            <a:r>
              <a:rPr sz="3000" spc="-25" dirty="0">
                <a:latin typeface="Carlito"/>
                <a:cs typeface="Carlito"/>
              </a:rPr>
              <a:t> </a:t>
            </a:r>
            <a:r>
              <a:rPr sz="3000" spc="-15" dirty="0">
                <a:latin typeface="Carlito"/>
                <a:cs typeface="Carlito"/>
              </a:rPr>
              <a:t>productos.</a:t>
            </a:r>
            <a:endParaRPr sz="3000" dirty="0">
              <a:latin typeface="Carlito"/>
              <a:cs typeface="Carlito"/>
            </a:endParaRPr>
          </a:p>
          <a:p>
            <a:pPr marL="295910" marR="149225" indent="-283845">
              <a:lnSpc>
                <a:spcPct val="100000"/>
              </a:lnSpc>
              <a:spcBef>
                <a:spcPts val="605"/>
              </a:spcBef>
              <a:buClr>
                <a:srgbClr val="93B6D2"/>
              </a:buClr>
              <a:buSzPct val="80000"/>
              <a:buFont typeface="Arial"/>
              <a:buChar char=""/>
              <a:tabLst>
                <a:tab pos="296545" algn="l"/>
              </a:tabLst>
            </a:pPr>
            <a:r>
              <a:rPr sz="3000" spc="-20" dirty="0">
                <a:latin typeface="Carlito"/>
                <a:cs typeface="Carlito"/>
              </a:rPr>
              <a:t>Entrevista: </a:t>
            </a:r>
            <a:r>
              <a:rPr sz="3000" spc="-5" dirty="0">
                <a:latin typeface="Carlito"/>
                <a:cs typeface="Carlito"/>
              </a:rPr>
              <a:t>aplicación </a:t>
            </a:r>
            <a:r>
              <a:rPr sz="3000" spc="-10" dirty="0">
                <a:latin typeface="Carlito"/>
                <a:cs typeface="Carlito"/>
              </a:rPr>
              <a:t>de </a:t>
            </a:r>
            <a:r>
              <a:rPr sz="3000" spc="-5" dirty="0">
                <a:latin typeface="Carlito"/>
                <a:cs typeface="Carlito"/>
              </a:rPr>
              <a:t>un cuestionario </a:t>
            </a:r>
            <a:r>
              <a:rPr sz="3000" spc="-125" dirty="0">
                <a:latin typeface="Carlito"/>
                <a:cs typeface="Carlito"/>
              </a:rPr>
              <a:t>para  </a:t>
            </a:r>
            <a:r>
              <a:rPr sz="3000" spc="-10" dirty="0">
                <a:latin typeface="Carlito"/>
                <a:cs typeface="Carlito"/>
              </a:rPr>
              <a:t>obtener </a:t>
            </a:r>
            <a:r>
              <a:rPr sz="3000" dirty="0">
                <a:latin typeface="Carlito"/>
                <a:cs typeface="Carlito"/>
              </a:rPr>
              <a:t>la </a:t>
            </a:r>
            <a:r>
              <a:rPr sz="3000" spc="-15" dirty="0">
                <a:latin typeface="Carlito"/>
                <a:cs typeface="Carlito"/>
              </a:rPr>
              <a:t>información </a:t>
            </a:r>
            <a:r>
              <a:rPr sz="3000" spc="-5" dirty="0">
                <a:latin typeface="Carlito"/>
                <a:cs typeface="Carlito"/>
              </a:rPr>
              <a:t>(individual </a:t>
            </a:r>
            <a:r>
              <a:rPr sz="3000" dirty="0">
                <a:latin typeface="Carlito"/>
                <a:cs typeface="Carlito"/>
              </a:rPr>
              <a:t>o</a:t>
            </a:r>
            <a:r>
              <a:rPr sz="3000" spc="-20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grupal).</a:t>
            </a:r>
            <a:endParaRPr sz="3000" dirty="0">
              <a:latin typeface="Carlito"/>
              <a:cs typeface="Carlito"/>
            </a:endParaRPr>
          </a:p>
          <a:p>
            <a:pPr marL="295910" marR="410209">
              <a:lnSpc>
                <a:spcPct val="100000"/>
              </a:lnSpc>
            </a:pPr>
            <a:r>
              <a:rPr sz="3000" spc="-15" dirty="0">
                <a:latin typeface="Carlito"/>
                <a:cs typeface="Carlito"/>
              </a:rPr>
              <a:t>Produce </a:t>
            </a:r>
            <a:r>
              <a:rPr sz="3000" spc="-10" dirty="0">
                <a:latin typeface="Carlito"/>
                <a:cs typeface="Carlito"/>
              </a:rPr>
              <a:t>información </a:t>
            </a:r>
            <a:r>
              <a:rPr sz="3000" spc="-5" dirty="0">
                <a:latin typeface="Carlito"/>
                <a:cs typeface="Carlito"/>
              </a:rPr>
              <a:t>de </a:t>
            </a:r>
            <a:r>
              <a:rPr sz="3000" spc="-10" dirty="0">
                <a:latin typeface="Carlito"/>
                <a:cs typeface="Carlito"/>
              </a:rPr>
              <a:t>calidad. </a:t>
            </a:r>
            <a:r>
              <a:rPr sz="3000" spc="-5" dirty="0">
                <a:latin typeface="Carlito"/>
                <a:cs typeface="Carlito"/>
              </a:rPr>
              <a:t>Es </a:t>
            </a:r>
            <a:r>
              <a:rPr sz="3000" spc="-15" dirty="0">
                <a:latin typeface="Carlito"/>
                <a:cs typeface="Carlito"/>
              </a:rPr>
              <a:t>costosa.  </a:t>
            </a:r>
            <a:r>
              <a:rPr sz="3000" spc="-5" dirty="0">
                <a:latin typeface="Carlito"/>
                <a:cs typeface="Carlito"/>
              </a:rPr>
              <a:t>Común </a:t>
            </a:r>
            <a:r>
              <a:rPr sz="3000" dirty="0">
                <a:latin typeface="Carlito"/>
                <a:cs typeface="Carlito"/>
              </a:rPr>
              <a:t>en </a:t>
            </a:r>
            <a:r>
              <a:rPr sz="3000" spc="-5" dirty="0">
                <a:latin typeface="Carlito"/>
                <a:cs typeface="Carlito"/>
              </a:rPr>
              <a:t>ciencias</a:t>
            </a:r>
            <a:r>
              <a:rPr sz="3000" spc="-35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sociales.</a:t>
            </a:r>
            <a:endParaRPr sz="3000" dirty="0">
              <a:latin typeface="Carlito"/>
              <a:cs typeface="Carlito"/>
            </a:endParaRPr>
          </a:p>
          <a:p>
            <a:pPr marL="570230" lvl="1" indent="-238760">
              <a:lnSpc>
                <a:spcPct val="100000"/>
              </a:lnSpc>
              <a:spcBef>
                <a:spcPts val="630"/>
              </a:spcBef>
              <a:buClr>
                <a:srgbClr val="93B6D2"/>
              </a:buClr>
              <a:buFont typeface="Verdana"/>
              <a:buChar char="◦"/>
              <a:tabLst>
                <a:tab pos="570865" algn="l"/>
              </a:tabLst>
            </a:pPr>
            <a:r>
              <a:rPr sz="2600" spc="-15" dirty="0">
                <a:latin typeface="Carlito"/>
                <a:cs typeface="Carlito"/>
              </a:rPr>
              <a:t>Personal: </a:t>
            </a:r>
            <a:r>
              <a:rPr sz="2600" spc="-10" dirty="0">
                <a:latin typeface="Carlito"/>
                <a:cs typeface="Carlito"/>
              </a:rPr>
              <a:t>directa, </a:t>
            </a:r>
            <a:r>
              <a:rPr sz="2600" dirty="0">
                <a:latin typeface="Carlito"/>
                <a:cs typeface="Carlito"/>
              </a:rPr>
              <a:t>cuestionarios </a:t>
            </a:r>
            <a:r>
              <a:rPr sz="2600" spc="-10" dirty="0">
                <a:latin typeface="Carlito"/>
                <a:cs typeface="Carlito"/>
              </a:rPr>
              <a:t>largos. </a:t>
            </a:r>
            <a:r>
              <a:rPr sz="2600" spc="-5" dirty="0">
                <a:latin typeface="Carlito"/>
                <a:cs typeface="Carlito"/>
              </a:rPr>
              <a:t>Ejm:</a:t>
            </a:r>
            <a:r>
              <a:rPr sz="2600" spc="-25" dirty="0">
                <a:latin typeface="Carlito"/>
                <a:cs typeface="Carlito"/>
              </a:rPr>
              <a:t> </a:t>
            </a:r>
            <a:r>
              <a:rPr sz="2600" dirty="0" err="1">
                <a:latin typeface="Carlito"/>
                <a:cs typeface="Carlito"/>
              </a:rPr>
              <a:t>censos</a:t>
            </a:r>
            <a:r>
              <a:rPr lang="es-ES" sz="2600" dirty="0">
                <a:latin typeface="Carlito"/>
                <a:cs typeface="Carlito"/>
              </a:rPr>
              <a:t> y encuestas complejas</a:t>
            </a:r>
            <a:endParaRPr sz="2600" dirty="0">
              <a:latin typeface="Carlito"/>
              <a:cs typeface="Carlito"/>
            </a:endParaRPr>
          </a:p>
          <a:p>
            <a:pPr marL="570230" lvl="1" indent="-238760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Font typeface="Verdana"/>
              <a:buChar char="◦"/>
              <a:tabLst>
                <a:tab pos="570865" algn="l"/>
              </a:tabLst>
            </a:pPr>
            <a:r>
              <a:rPr sz="2600" spc="-35" dirty="0">
                <a:latin typeface="Carlito"/>
                <a:cs typeface="Carlito"/>
              </a:rPr>
              <a:t>Telefónica: </a:t>
            </a:r>
            <a:r>
              <a:rPr sz="2600" spc="-5" dirty="0">
                <a:latin typeface="Carlito"/>
                <a:cs typeface="Carlito"/>
              </a:rPr>
              <a:t>cuestionarios </a:t>
            </a:r>
            <a:r>
              <a:rPr sz="2600" spc="-10" dirty="0">
                <a:latin typeface="Carlito"/>
                <a:cs typeface="Carlito"/>
              </a:rPr>
              <a:t>cortos. </a:t>
            </a:r>
            <a:r>
              <a:rPr sz="2600" dirty="0">
                <a:latin typeface="Carlito"/>
                <a:cs typeface="Carlito"/>
              </a:rPr>
              <a:t>Ejm:</a:t>
            </a:r>
            <a:r>
              <a:rPr sz="2600" spc="40" dirty="0">
                <a:latin typeface="Carlito"/>
                <a:cs typeface="Carlito"/>
              </a:rPr>
              <a:t> </a:t>
            </a:r>
            <a:r>
              <a:rPr sz="2600" spc="-10" dirty="0" err="1">
                <a:latin typeface="Carlito"/>
                <a:cs typeface="Carlito"/>
              </a:rPr>
              <a:t>encuestas</a:t>
            </a:r>
            <a:r>
              <a:rPr lang="es-ES" sz="2600" spc="-10" dirty="0">
                <a:latin typeface="Carlito"/>
                <a:cs typeface="Carlito"/>
              </a:rPr>
              <a:t> simples</a:t>
            </a:r>
            <a:endParaRPr sz="2600" dirty="0">
              <a:latin typeface="Carlito"/>
              <a:cs typeface="Carli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77" y="1397127"/>
            <a:ext cx="1186180" cy="2944495"/>
            <a:chOff x="3877" y="1397127"/>
            <a:chExt cx="1186180" cy="2944495"/>
          </a:xfrm>
        </p:grpSpPr>
        <p:sp>
          <p:nvSpPr>
            <p:cNvPr id="6" name="object 6"/>
            <p:cNvSpPr/>
            <p:nvPr/>
          </p:nvSpPr>
          <p:spPr>
            <a:xfrm>
              <a:off x="35496" y="3212972"/>
              <a:ext cx="1154061" cy="112864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77" y="1397127"/>
              <a:ext cx="1183741" cy="95173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4335" y="228599"/>
            <a:ext cx="7583423" cy="11064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82597" y="346328"/>
            <a:ext cx="694372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Técnicas </a:t>
            </a:r>
            <a:r>
              <a:rPr spc="-20" dirty="0"/>
              <a:t>para </a:t>
            </a:r>
            <a:r>
              <a:rPr spc="-15" dirty="0"/>
              <a:t>recolección </a:t>
            </a:r>
            <a:r>
              <a:rPr spc="-5" dirty="0"/>
              <a:t>de</a:t>
            </a:r>
            <a:r>
              <a:rPr spc="60" dirty="0"/>
              <a:t> </a:t>
            </a:r>
            <a:r>
              <a:rPr spc="-20" dirty="0"/>
              <a:t>datos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76858" y="1159840"/>
            <a:ext cx="7183755" cy="4337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indent="-283845">
              <a:lnSpc>
                <a:spcPts val="3420"/>
              </a:lnSpc>
              <a:spcBef>
                <a:spcPts val="100"/>
              </a:spcBef>
              <a:buClr>
                <a:srgbClr val="93B6D2"/>
              </a:buClr>
              <a:buSzPct val="80000"/>
              <a:buFont typeface="Arial"/>
              <a:buChar char=""/>
              <a:tabLst>
                <a:tab pos="296545" algn="l"/>
              </a:tabLst>
            </a:pPr>
            <a:r>
              <a:rPr sz="3000" spc="-15" dirty="0">
                <a:latin typeface="Carlito"/>
                <a:cs typeface="Carlito"/>
              </a:rPr>
              <a:t>Envío </a:t>
            </a:r>
            <a:r>
              <a:rPr sz="3000" spc="-5" dirty="0">
                <a:latin typeface="Carlito"/>
                <a:cs typeface="Carlito"/>
              </a:rPr>
              <a:t>de cuestionario:</a:t>
            </a:r>
            <a:r>
              <a:rPr sz="3000" spc="-1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autoadministrado.</a:t>
            </a:r>
            <a:endParaRPr sz="3000" dirty="0">
              <a:latin typeface="Carlito"/>
              <a:cs typeface="Carlito"/>
            </a:endParaRPr>
          </a:p>
          <a:p>
            <a:pPr marL="295910" marR="46990">
              <a:lnSpc>
                <a:spcPct val="90000"/>
              </a:lnSpc>
              <a:spcBef>
                <a:spcPts val="180"/>
              </a:spcBef>
            </a:pPr>
            <a:r>
              <a:rPr sz="3000" spc="-25" dirty="0">
                <a:latin typeface="Carlito"/>
                <a:cs typeface="Carlito"/>
              </a:rPr>
              <a:t>Barato, </a:t>
            </a:r>
            <a:r>
              <a:rPr sz="3000" spc="-5" dirty="0">
                <a:latin typeface="Carlito"/>
                <a:cs typeface="Carlito"/>
              </a:rPr>
              <a:t>no </a:t>
            </a:r>
            <a:r>
              <a:rPr sz="3000" spc="-15" dirty="0">
                <a:latin typeface="Carlito"/>
                <a:cs typeface="Carlito"/>
              </a:rPr>
              <a:t>respuesta </a:t>
            </a:r>
            <a:r>
              <a:rPr sz="3000" dirty="0">
                <a:latin typeface="Carlito"/>
                <a:cs typeface="Carlito"/>
              </a:rPr>
              <a:t>muy </a:t>
            </a:r>
            <a:r>
              <a:rPr sz="3000" spc="-10" dirty="0">
                <a:latin typeface="Carlito"/>
                <a:cs typeface="Carlito"/>
              </a:rPr>
              <a:t>alta, instrucciones  </a:t>
            </a:r>
            <a:r>
              <a:rPr sz="3000" spc="-5" dirty="0">
                <a:latin typeface="Carlito"/>
                <a:cs typeface="Carlito"/>
              </a:rPr>
              <a:t>sencillas </a:t>
            </a:r>
            <a:r>
              <a:rPr sz="3000" dirty="0">
                <a:latin typeface="Carlito"/>
                <a:cs typeface="Carlito"/>
              </a:rPr>
              <a:t>y </a:t>
            </a:r>
            <a:r>
              <a:rPr sz="3000" spc="-10" dirty="0">
                <a:latin typeface="Carlito"/>
                <a:cs typeface="Carlito"/>
              </a:rPr>
              <a:t>claras. </a:t>
            </a:r>
            <a:r>
              <a:rPr sz="3000" spc="-5" dirty="0">
                <a:latin typeface="Carlito"/>
                <a:cs typeface="Carlito"/>
              </a:rPr>
              <a:t>Estudios </a:t>
            </a:r>
            <a:r>
              <a:rPr sz="3000" spc="-20" dirty="0">
                <a:latin typeface="Carlito"/>
                <a:cs typeface="Carlito"/>
              </a:rPr>
              <a:t>exploratorios </a:t>
            </a:r>
            <a:r>
              <a:rPr sz="3000" dirty="0">
                <a:latin typeface="Carlito"/>
                <a:cs typeface="Carlito"/>
              </a:rPr>
              <a:t>y  </a:t>
            </a:r>
            <a:r>
              <a:rPr sz="3000" spc="-10" dirty="0">
                <a:latin typeface="Carlito"/>
                <a:cs typeface="Carlito"/>
              </a:rPr>
              <a:t>encuestas </a:t>
            </a:r>
            <a:r>
              <a:rPr sz="3000" spc="-5" dirty="0">
                <a:latin typeface="Carlito"/>
                <a:cs typeface="Carlito"/>
              </a:rPr>
              <a:t>de opinión </a:t>
            </a:r>
            <a:r>
              <a:rPr sz="3000" spc="-15" dirty="0">
                <a:latin typeface="Carlito"/>
                <a:cs typeface="Carlito"/>
              </a:rPr>
              <a:t>internas.</a:t>
            </a:r>
            <a:endParaRPr sz="3000" dirty="0">
              <a:latin typeface="Carlito"/>
              <a:cs typeface="Carlito"/>
            </a:endParaRPr>
          </a:p>
          <a:p>
            <a:pPr marL="570230" lvl="1" indent="-238760">
              <a:lnSpc>
                <a:spcPct val="100000"/>
              </a:lnSpc>
              <a:spcBef>
                <a:spcPts val="315"/>
              </a:spcBef>
              <a:buClr>
                <a:srgbClr val="93B6D2"/>
              </a:buClr>
              <a:buFont typeface="Verdana"/>
              <a:buChar char="◦"/>
              <a:tabLst>
                <a:tab pos="570865" algn="l"/>
              </a:tabLst>
            </a:pPr>
            <a:r>
              <a:rPr sz="2600" spc="-5" dirty="0">
                <a:latin typeface="Carlito"/>
                <a:cs typeface="Carlito"/>
              </a:rPr>
              <a:t>Correo: </a:t>
            </a:r>
            <a:r>
              <a:rPr sz="2600" spc="-10" dirty="0">
                <a:latin typeface="Carlito"/>
                <a:cs typeface="Carlito"/>
              </a:rPr>
              <a:t>encuesta </a:t>
            </a:r>
            <a:r>
              <a:rPr sz="2600" dirty="0">
                <a:latin typeface="Carlito"/>
                <a:cs typeface="Carlito"/>
              </a:rPr>
              <a:t>a los </a:t>
            </a:r>
            <a:r>
              <a:rPr sz="2600" spc="-10" dirty="0">
                <a:latin typeface="Carlito"/>
                <a:cs typeface="Carlito"/>
              </a:rPr>
              <a:t>interno </a:t>
            </a:r>
            <a:r>
              <a:rPr sz="2600" spc="-5" dirty="0">
                <a:latin typeface="Carlito"/>
                <a:cs typeface="Carlito"/>
              </a:rPr>
              <a:t>de </a:t>
            </a:r>
            <a:r>
              <a:rPr sz="2600" dirty="0">
                <a:latin typeface="Carlito"/>
                <a:cs typeface="Carlito"/>
              </a:rPr>
              <a:t>la</a:t>
            </a:r>
            <a:r>
              <a:rPr sz="2600" spc="-45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organización.</a:t>
            </a:r>
            <a:endParaRPr sz="2600" dirty="0">
              <a:latin typeface="Carlito"/>
              <a:cs typeface="Carlito"/>
            </a:endParaRPr>
          </a:p>
          <a:p>
            <a:pPr marL="570230" lvl="1" indent="-238760">
              <a:lnSpc>
                <a:spcPct val="100000"/>
              </a:lnSpc>
              <a:spcBef>
                <a:spcPts val="290"/>
              </a:spcBef>
              <a:buClr>
                <a:srgbClr val="93B6D2"/>
              </a:buClr>
              <a:buFont typeface="Verdana"/>
              <a:buChar char="◦"/>
              <a:tabLst>
                <a:tab pos="570865" algn="l"/>
              </a:tabLst>
            </a:pPr>
            <a:r>
              <a:rPr sz="2600" spc="-10" dirty="0">
                <a:latin typeface="Carlito"/>
                <a:cs typeface="Carlito"/>
              </a:rPr>
              <a:t>Internet: información </a:t>
            </a:r>
            <a:r>
              <a:rPr sz="2600" spc="-15" dirty="0">
                <a:latin typeface="Carlito"/>
                <a:cs typeface="Carlito"/>
              </a:rPr>
              <a:t>para </a:t>
            </a:r>
            <a:r>
              <a:rPr sz="2600" spc="-5" dirty="0">
                <a:latin typeface="Carlito"/>
                <a:cs typeface="Carlito"/>
              </a:rPr>
              <a:t>fines</a:t>
            </a:r>
            <a:r>
              <a:rPr sz="2600" spc="-40" dirty="0">
                <a:latin typeface="Carlito"/>
                <a:cs typeface="Carlito"/>
              </a:rPr>
              <a:t> </a:t>
            </a:r>
            <a:r>
              <a:rPr sz="2600" spc="-5" dirty="0">
                <a:latin typeface="Carlito"/>
                <a:cs typeface="Carlito"/>
              </a:rPr>
              <a:t>comerciales.</a:t>
            </a:r>
            <a:endParaRPr sz="2600" dirty="0">
              <a:latin typeface="Carlito"/>
              <a:cs typeface="Carlito"/>
            </a:endParaRPr>
          </a:p>
          <a:p>
            <a:pPr marL="295910" marR="5080" indent="-283845">
              <a:lnSpc>
                <a:spcPct val="90000"/>
              </a:lnSpc>
              <a:spcBef>
                <a:spcPts val="575"/>
              </a:spcBef>
              <a:buClr>
                <a:srgbClr val="93B6D2"/>
              </a:buClr>
              <a:buSzPct val="80000"/>
              <a:buFont typeface="Arial"/>
              <a:buChar char=""/>
              <a:tabLst>
                <a:tab pos="296545" algn="l"/>
              </a:tabLst>
            </a:pPr>
            <a:r>
              <a:rPr sz="3000" spc="-20" dirty="0">
                <a:latin typeface="Carlito"/>
                <a:cs typeface="Carlito"/>
              </a:rPr>
              <a:t>Registro </a:t>
            </a:r>
            <a:r>
              <a:rPr sz="3000" dirty="0">
                <a:latin typeface="Carlito"/>
                <a:cs typeface="Carlito"/>
              </a:rPr>
              <a:t>: </a:t>
            </a:r>
            <a:r>
              <a:rPr sz="3000" spc="-20" dirty="0">
                <a:latin typeface="Carlito"/>
                <a:cs typeface="Carlito"/>
              </a:rPr>
              <a:t>reporte </a:t>
            </a:r>
            <a:r>
              <a:rPr sz="3000" spc="-15" dirty="0">
                <a:latin typeface="Carlito"/>
                <a:cs typeface="Carlito"/>
              </a:rPr>
              <a:t>obligatorio </a:t>
            </a:r>
            <a:r>
              <a:rPr sz="3000" spc="-5" dirty="0">
                <a:latin typeface="Carlito"/>
                <a:cs typeface="Carlito"/>
              </a:rPr>
              <a:t>de hechos, </a:t>
            </a:r>
            <a:r>
              <a:rPr sz="3000" spc="-105" dirty="0">
                <a:latin typeface="Carlito"/>
                <a:cs typeface="Carlito"/>
              </a:rPr>
              <a:t>casi  </a:t>
            </a:r>
            <a:r>
              <a:rPr sz="3000" spc="-20" dirty="0">
                <a:latin typeface="Carlito"/>
                <a:cs typeface="Carlito"/>
              </a:rPr>
              <a:t>exclusivo </a:t>
            </a:r>
            <a:r>
              <a:rPr sz="3000" spc="-5" dirty="0">
                <a:latin typeface="Carlito"/>
                <a:cs typeface="Carlito"/>
              </a:rPr>
              <a:t>de oficinas </a:t>
            </a:r>
            <a:r>
              <a:rPr sz="3000" spc="-10" dirty="0">
                <a:latin typeface="Carlito"/>
                <a:cs typeface="Carlito"/>
              </a:rPr>
              <a:t>públicas, </a:t>
            </a:r>
            <a:r>
              <a:rPr sz="3000" dirty="0">
                <a:latin typeface="Carlito"/>
                <a:cs typeface="Carlito"/>
              </a:rPr>
              <a:t>más </a:t>
            </a:r>
            <a:r>
              <a:rPr sz="3000" spc="-25" dirty="0">
                <a:latin typeface="Carlito"/>
                <a:cs typeface="Carlito"/>
              </a:rPr>
              <a:t>barato,  </a:t>
            </a:r>
            <a:r>
              <a:rPr sz="3000" spc="-10" dirty="0">
                <a:latin typeface="Carlito"/>
                <a:cs typeface="Carlito"/>
              </a:rPr>
              <a:t>incumplimiento </a:t>
            </a:r>
            <a:r>
              <a:rPr sz="3000" dirty="0">
                <a:latin typeface="Carlito"/>
                <a:cs typeface="Carlito"/>
              </a:rPr>
              <a:t>y </a:t>
            </a:r>
            <a:r>
              <a:rPr sz="3000" spc="-15" dirty="0">
                <a:latin typeface="Carlito"/>
                <a:cs typeface="Carlito"/>
              </a:rPr>
              <a:t>subregistro. </a:t>
            </a:r>
            <a:r>
              <a:rPr sz="3000" spc="-5" dirty="0">
                <a:latin typeface="Carlito"/>
                <a:cs typeface="Carlito"/>
              </a:rPr>
              <a:t>Ejm:  matrimonios, </a:t>
            </a:r>
            <a:r>
              <a:rPr sz="3000" spc="-10" dirty="0">
                <a:latin typeface="Carlito"/>
                <a:cs typeface="Carlito"/>
              </a:rPr>
              <a:t>nacimientos, </a:t>
            </a:r>
            <a:r>
              <a:rPr sz="3000" spc="-10" dirty="0" err="1">
                <a:latin typeface="Carlito"/>
                <a:cs typeface="Carlito"/>
              </a:rPr>
              <a:t>accidentes</a:t>
            </a:r>
            <a:r>
              <a:rPr sz="3000" spc="-10" dirty="0">
                <a:latin typeface="Carlito"/>
                <a:cs typeface="Carlito"/>
              </a:rPr>
              <a:t>,</a:t>
            </a:r>
            <a:r>
              <a:rPr sz="3000" spc="-5" dirty="0">
                <a:latin typeface="Carlito"/>
                <a:cs typeface="Carlito"/>
              </a:rPr>
              <a:t> </a:t>
            </a:r>
            <a:r>
              <a:rPr sz="3000" spc="-15" dirty="0">
                <a:latin typeface="Carlito"/>
                <a:cs typeface="Carlito"/>
              </a:rPr>
              <a:t>etc.</a:t>
            </a:r>
            <a:endParaRPr sz="3000" dirty="0">
              <a:latin typeface="Carlito"/>
              <a:cs typeface="Carli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39306" y="1484769"/>
            <a:ext cx="1078230" cy="3789045"/>
            <a:chOff x="139306" y="1484769"/>
            <a:chExt cx="1078230" cy="3789045"/>
          </a:xfrm>
        </p:grpSpPr>
        <p:sp>
          <p:nvSpPr>
            <p:cNvPr id="6" name="object 6"/>
            <p:cNvSpPr/>
            <p:nvPr/>
          </p:nvSpPr>
          <p:spPr>
            <a:xfrm>
              <a:off x="323532" y="1484769"/>
              <a:ext cx="893508" cy="86409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9306" y="4221060"/>
              <a:ext cx="1059357" cy="105274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4CAF1E-D1D1-4AB3-993A-F42870758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217" y="207086"/>
            <a:ext cx="6163564" cy="1200329"/>
          </a:xfrm>
        </p:spPr>
        <p:txBody>
          <a:bodyPr/>
          <a:lstStyle/>
          <a:p>
            <a:r>
              <a:rPr lang="es-ES" dirty="0"/>
              <a:t>Etapas de la investigación estadística (pág.50)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3BD80E-F440-41EE-BAB4-024BB9BFD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6897" y="1455242"/>
            <a:ext cx="7186295" cy="4928722"/>
          </a:xfrm>
        </p:spPr>
        <p:txBody>
          <a:bodyPr/>
          <a:lstStyle/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s-ES" sz="2400" dirty="0"/>
              <a:t>Definición del problema</a:t>
            </a: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s-ES" sz="2400" dirty="0"/>
              <a:t>Establecimiento de los propósitos específicos del estudio</a:t>
            </a: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s-ES" sz="2400" dirty="0"/>
              <a:t>Preparación de un plan de trabajo</a:t>
            </a: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s-ES" sz="2400" dirty="0"/>
              <a:t>Construcción y prueba del cuestionario</a:t>
            </a: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s-ES" sz="2400" dirty="0"/>
              <a:t>Elaboración de un plan de análisis</a:t>
            </a: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s-ES" sz="2400" dirty="0"/>
              <a:t>Procesamiento de la información</a:t>
            </a: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s-ES" sz="2400" dirty="0"/>
              <a:t>Análisis e interpretación de los datos</a:t>
            </a: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s-ES" sz="2400" dirty="0"/>
              <a:t>Preparación del informe</a:t>
            </a:r>
          </a:p>
        </p:txBody>
      </p:sp>
    </p:spTree>
    <p:extLst>
      <p:ext uri="{BB962C8B-B14F-4D97-AF65-F5344CB8AC3E}">
        <p14:creationId xmlns:p14="http://schemas.microsoft.com/office/powerpoint/2010/main" val="318665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331719" y="2441447"/>
            <a:ext cx="4463796" cy="11338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57601" y="2563825"/>
            <a:ext cx="3813175" cy="64056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 marR="5080">
              <a:lnSpc>
                <a:spcPts val="4500"/>
              </a:lnSpc>
              <a:spcBef>
                <a:spcPts val="495"/>
              </a:spcBef>
            </a:pPr>
            <a:r>
              <a:rPr sz="4000" b="1" spc="-5" dirty="0">
                <a:latin typeface="Carlito"/>
                <a:cs typeface="Carlito"/>
              </a:rPr>
              <a:t>EL</a:t>
            </a:r>
            <a:r>
              <a:rPr sz="4000" b="1" spc="-80" dirty="0">
                <a:latin typeface="Carlito"/>
                <a:cs typeface="Carlito"/>
              </a:rPr>
              <a:t> </a:t>
            </a:r>
            <a:r>
              <a:rPr sz="4000" b="1" spc="-15" dirty="0">
                <a:latin typeface="Carlito"/>
                <a:cs typeface="Carlito"/>
              </a:rPr>
              <a:t>CUESTIONARIO</a:t>
            </a:r>
            <a:endParaRPr sz="4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4335" y="338328"/>
            <a:ext cx="2938272" cy="1216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14602" y="470738"/>
            <a:ext cx="224028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5" dirty="0"/>
              <a:t>P</a:t>
            </a:r>
            <a:r>
              <a:rPr sz="4300" spc="-70" dirty="0"/>
              <a:t>r</a:t>
            </a:r>
            <a:r>
              <a:rPr sz="4300" spc="-5" dirty="0"/>
              <a:t>egu</a:t>
            </a:r>
            <a:r>
              <a:rPr sz="4300" spc="-45" dirty="0"/>
              <a:t>n</a:t>
            </a:r>
            <a:r>
              <a:rPr sz="4300" spc="-55" dirty="0"/>
              <a:t>t</a:t>
            </a:r>
            <a:r>
              <a:rPr sz="4300" spc="-5" dirty="0"/>
              <a:t>as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1596897" y="1492376"/>
            <a:ext cx="6800850" cy="402994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731520" indent="-283845">
              <a:lnSpc>
                <a:spcPct val="100000"/>
              </a:lnSpc>
              <a:spcBef>
                <a:spcPts val="105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spc="-5" dirty="0">
                <a:latin typeface="Carlito"/>
                <a:cs typeface="Carlito"/>
              </a:rPr>
              <a:t>De </a:t>
            </a:r>
            <a:r>
              <a:rPr sz="3200" spc="-15" dirty="0">
                <a:latin typeface="Carlito"/>
                <a:cs typeface="Carlito"/>
              </a:rPr>
              <a:t>investigación: </a:t>
            </a:r>
            <a:r>
              <a:rPr sz="3200" spc="-10" dirty="0">
                <a:latin typeface="Carlito"/>
                <a:cs typeface="Carlito"/>
              </a:rPr>
              <a:t>tema básico </a:t>
            </a:r>
            <a:r>
              <a:rPr sz="3200" spc="-5" dirty="0">
                <a:latin typeface="Carlito"/>
                <a:cs typeface="Carlito"/>
              </a:rPr>
              <a:t>de </a:t>
            </a:r>
            <a:r>
              <a:rPr sz="3200" spc="-215" dirty="0">
                <a:latin typeface="Carlito"/>
                <a:cs typeface="Carlito"/>
              </a:rPr>
              <a:t>la  </a:t>
            </a:r>
            <a:r>
              <a:rPr sz="3200" spc="-15" dirty="0">
                <a:latin typeface="Carlito"/>
                <a:cs typeface="Carlito"/>
              </a:rPr>
              <a:t>investigación </a:t>
            </a:r>
            <a:r>
              <a:rPr sz="3200" dirty="0">
                <a:latin typeface="Carlito"/>
                <a:cs typeface="Carlito"/>
              </a:rPr>
              <a:t>o</a:t>
            </a:r>
            <a:r>
              <a:rPr sz="3200" spc="1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encuesta.</a:t>
            </a:r>
            <a:endParaRPr sz="3200" dirty="0">
              <a:latin typeface="Carlito"/>
              <a:cs typeface="Carlito"/>
            </a:endParaRPr>
          </a:p>
          <a:p>
            <a:pPr marL="295910" marR="1077595">
              <a:lnSpc>
                <a:spcPct val="100000"/>
              </a:lnSpc>
              <a:spcBef>
                <a:spcPts val="600"/>
              </a:spcBef>
            </a:pPr>
            <a:r>
              <a:rPr sz="3200" dirty="0">
                <a:latin typeface="Carlito"/>
                <a:cs typeface="Carlito"/>
              </a:rPr>
              <a:t>No se </a:t>
            </a:r>
            <a:r>
              <a:rPr sz="3200" spc="-15" dirty="0">
                <a:latin typeface="Carlito"/>
                <a:cs typeface="Carlito"/>
              </a:rPr>
              <a:t>plantea directamente </a:t>
            </a:r>
            <a:r>
              <a:rPr sz="3200" dirty="0">
                <a:latin typeface="Carlito"/>
                <a:cs typeface="Carlito"/>
              </a:rPr>
              <a:t>a los  </a:t>
            </a:r>
            <a:r>
              <a:rPr sz="3200" spc="-20" dirty="0" err="1">
                <a:latin typeface="Carlito"/>
                <a:cs typeface="Carlito"/>
              </a:rPr>
              <a:t>informantes</a:t>
            </a:r>
            <a:r>
              <a:rPr lang="es-ES" sz="3200" spc="-20" dirty="0">
                <a:latin typeface="Carlito"/>
                <a:cs typeface="Carlito"/>
              </a:rPr>
              <a:t> (</a:t>
            </a:r>
            <a:r>
              <a:rPr lang="es-CR" sz="3200" spc="-20" dirty="0">
                <a:latin typeface="Carlito"/>
                <a:cs typeface="Carlito"/>
              </a:rPr>
              <a:t>objetivos principales y específicos).</a:t>
            </a:r>
            <a:endParaRPr sz="4100" dirty="0">
              <a:latin typeface="Carlito"/>
              <a:cs typeface="Carlito"/>
            </a:endParaRPr>
          </a:p>
          <a:p>
            <a:pPr marL="295910" marR="5080" indent="-283845">
              <a:lnSpc>
                <a:spcPct val="100000"/>
              </a:lnSpc>
              <a:spcBef>
                <a:spcPts val="5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spc="-5" dirty="0">
                <a:latin typeface="Carlito"/>
                <a:cs typeface="Carlito"/>
              </a:rPr>
              <a:t>De </a:t>
            </a:r>
            <a:r>
              <a:rPr sz="3200" spc="-10" dirty="0">
                <a:latin typeface="Carlito"/>
                <a:cs typeface="Carlito"/>
              </a:rPr>
              <a:t>cuestionario: traducción </a:t>
            </a:r>
            <a:r>
              <a:rPr sz="3200" spc="-5" dirty="0">
                <a:latin typeface="Carlito"/>
                <a:cs typeface="Carlito"/>
              </a:rPr>
              <a:t>de la  </a:t>
            </a:r>
            <a:r>
              <a:rPr sz="3200" spc="-15" dirty="0">
                <a:latin typeface="Carlito"/>
                <a:cs typeface="Carlito"/>
              </a:rPr>
              <a:t>pregunta </a:t>
            </a:r>
            <a:r>
              <a:rPr sz="3200" spc="-5" dirty="0">
                <a:latin typeface="Carlito"/>
                <a:cs typeface="Carlito"/>
              </a:rPr>
              <a:t>de </a:t>
            </a:r>
            <a:r>
              <a:rPr sz="3200" spc="-15" dirty="0">
                <a:latin typeface="Carlito"/>
                <a:cs typeface="Carlito"/>
              </a:rPr>
              <a:t>investigación </a:t>
            </a:r>
            <a:r>
              <a:rPr sz="3200" dirty="0">
                <a:latin typeface="Carlito"/>
                <a:cs typeface="Carlito"/>
              </a:rPr>
              <a:t>en </a:t>
            </a:r>
            <a:r>
              <a:rPr sz="3200" spc="-15" dirty="0">
                <a:latin typeface="Carlito"/>
                <a:cs typeface="Carlito"/>
              </a:rPr>
              <a:t>preguntas  </a:t>
            </a:r>
            <a:r>
              <a:rPr sz="3200" spc="-10" dirty="0">
                <a:latin typeface="Carlito"/>
                <a:cs typeface="Carlito"/>
              </a:rPr>
              <a:t>factibles </a:t>
            </a:r>
            <a:r>
              <a:rPr sz="3200" spc="-5" dirty="0">
                <a:latin typeface="Carlito"/>
                <a:cs typeface="Carlito"/>
              </a:rPr>
              <a:t>de incluir </a:t>
            </a:r>
            <a:r>
              <a:rPr sz="3200" dirty="0">
                <a:latin typeface="Carlito"/>
                <a:cs typeface="Carlito"/>
              </a:rPr>
              <a:t>en el</a:t>
            </a:r>
            <a:r>
              <a:rPr sz="3200" spc="4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cuestionario.</a:t>
            </a:r>
            <a:endParaRPr sz="3200" dirty="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62951" y="5733252"/>
            <a:ext cx="1175727" cy="108012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4335" y="338328"/>
            <a:ext cx="2529840" cy="1216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14602" y="470738"/>
            <a:ext cx="182943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10" dirty="0"/>
              <a:t>Ejemplo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1596897" y="4312411"/>
            <a:ext cx="284162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Carlito"/>
                <a:cs typeface="Carlito"/>
              </a:rPr>
              <a:t>De</a:t>
            </a:r>
            <a:r>
              <a:rPr sz="3000" spc="-55" dirty="0">
                <a:latin typeface="Carlito"/>
                <a:cs typeface="Carlito"/>
              </a:rPr>
              <a:t> </a:t>
            </a:r>
            <a:r>
              <a:rPr sz="3000" spc="-35" dirty="0">
                <a:latin typeface="Carlito"/>
                <a:cs typeface="Carlito"/>
              </a:rPr>
              <a:t>cuestionario</a:t>
            </a:r>
            <a:r>
              <a:rPr sz="3200" spc="-35" dirty="0">
                <a:latin typeface="Carlito"/>
                <a:cs typeface="Carlito"/>
              </a:rPr>
              <a:t>:</a:t>
            </a:r>
            <a:endParaRPr sz="3200" dirty="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07667" y="3225114"/>
            <a:ext cx="6301740" cy="1108075"/>
          </a:xfrm>
          <a:prstGeom prst="rect">
            <a:avLst/>
          </a:prstGeom>
          <a:solidFill>
            <a:srgbClr val="DFCAA2"/>
          </a:solidFill>
          <a:ln w="12700">
            <a:solidFill>
              <a:srgbClr val="93B6D2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91440" marR="353695">
              <a:lnSpc>
                <a:spcPct val="100000"/>
              </a:lnSpc>
              <a:spcBef>
                <a:spcPts val="229"/>
              </a:spcBef>
            </a:pPr>
            <a:r>
              <a:rPr sz="2200" spc="-5" dirty="0">
                <a:latin typeface="Carlito"/>
                <a:cs typeface="Carlito"/>
              </a:rPr>
              <a:t>¿Cuáles son los </a:t>
            </a:r>
            <a:r>
              <a:rPr sz="2200" spc="-15" dirty="0">
                <a:latin typeface="Carlito"/>
                <a:cs typeface="Carlito"/>
              </a:rPr>
              <a:t>factores </a:t>
            </a:r>
            <a:r>
              <a:rPr sz="2200" spc="-10" dirty="0">
                <a:latin typeface="Carlito"/>
                <a:cs typeface="Carlito"/>
              </a:rPr>
              <a:t>que </a:t>
            </a:r>
            <a:r>
              <a:rPr sz="2200" spc="-15" dirty="0">
                <a:latin typeface="Carlito"/>
                <a:cs typeface="Carlito"/>
              </a:rPr>
              <a:t>están </a:t>
            </a:r>
            <a:r>
              <a:rPr sz="2200" spc="-5" dirty="0">
                <a:latin typeface="Carlito"/>
                <a:cs typeface="Carlito"/>
              </a:rPr>
              <a:t>asociados al  </a:t>
            </a:r>
            <a:r>
              <a:rPr sz="2200" spc="-15" dirty="0">
                <a:latin typeface="Carlito"/>
                <a:cs typeface="Carlito"/>
              </a:rPr>
              <a:t>rendimiento </a:t>
            </a:r>
            <a:r>
              <a:rPr sz="2200" spc="-10" dirty="0">
                <a:latin typeface="Carlito"/>
                <a:cs typeface="Carlito"/>
              </a:rPr>
              <a:t>escolar </a:t>
            </a:r>
            <a:r>
              <a:rPr sz="2200" spc="-5" dirty="0">
                <a:latin typeface="Carlito"/>
                <a:cs typeface="Carlito"/>
              </a:rPr>
              <a:t>en niños y </a:t>
            </a:r>
            <a:r>
              <a:rPr sz="2200" spc="-10" dirty="0">
                <a:latin typeface="Carlito"/>
                <a:cs typeface="Carlito"/>
              </a:rPr>
              <a:t>adolescentes </a:t>
            </a:r>
            <a:r>
              <a:rPr sz="2200" spc="-5" dirty="0">
                <a:latin typeface="Carlito"/>
                <a:cs typeface="Carlito"/>
              </a:rPr>
              <a:t>en San  José?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79854" y="4841887"/>
            <a:ext cx="6329680" cy="1446530"/>
          </a:xfrm>
          <a:prstGeom prst="rect">
            <a:avLst/>
          </a:prstGeom>
          <a:solidFill>
            <a:srgbClr val="DFCAA2"/>
          </a:solidFill>
          <a:ln w="12700">
            <a:solidFill>
              <a:srgbClr val="93B6D2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34"/>
              </a:spcBef>
            </a:pPr>
            <a:r>
              <a:rPr sz="2200" spc="-10" dirty="0">
                <a:latin typeface="Carlito"/>
                <a:cs typeface="Carlito"/>
              </a:rPr>
              <a:t>¿Posee </a:t>
            </a:r>
            <a:r>
              <a:rPr sz="2200" spc="-5" dirty="0">
                <a:latin typeface="Carlito"/>
                <a:cs typeface="Carlito"/>
              </a:rPr>
              <a:t>algún tipo de</a:t>
            </a:r>
            <a:r>
              <a:rPr sz="2200" spc="3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beca?</a:t>
            </a:r>
            <a:endParaRPr sz="2200">
              <a:latin typeface="Carlito"/>
              <a:cs typeface="Carlito"/>
            </a:endParaRPr>
          </a:p>
          <a:p>
            <a:pPr marL="91440">
              <a:lnSpc>
                <a:spcPct val="100000"/>
              </a:lnSpc>
            </a:pPr>
            <a:r>
              <a:rPr sz="2200" spc="-10" dirty="0">
                <a:latin typeface="Carlito"/>
                <a:cs typeface="Carlito"/>
              </a:rPr>
              <a:t>¿Cuántas personas </a:t>
            </a:r>
            <a:r>
              <a:rPr sz="2200" spc="-5" dirty="0">
                <a:latin typeface="Carlito"/>
                <a:cs typeface="Carlito"/>
              </a:rPr>
              <a:t>viven </a:t>
            </a:r>
            <a:r>
              <a:rPr sz="2200" spc="-15" dirty="0">
                <a:latin typeface="Carlito"/>
                <a:cs typeface="Carlito"/>
              </a:rPr>
              <a:t>con</a:t>
            </a:r>
            <a:r>
              <a:rPr sz="2200" spc="25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usted?</a:t>
            </a:r>
            <a:endParaRPr sz="2200">
              <a:latin typeface="Carlito"/>
              <a:cs typeface="Carlito"/>
            </a:endParaRPr>
          </a:p>
          <a:p>
            <a:pPr marL="91440">
              <a:lnSpc>
                <a:spcPct val="100000"/>
              </a:lnSpc>
            </a:pPr>
            <a:r>
              <a:rPr sz="2200" spc="-5" dirty="0">
                <a:latin typeface="Carlito"/>
                <a:cs typeface="Carlito"/>
              </a:rPr>
              <a:t>¿De esas </a:t>
            </a:r>
            <a:r>
              <a:rPr sz="2200" spc="-10" dirty="0">
                <a:latin typeface="Carlito"/>
                <a:cs typeface="Carlito"/>
              </a:rPr>
              <a:t>personas, cuántas</a:t>
            </a:r>
            <a:r>
              <a:rPr sz="2200" spc="4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trabajan?</a:t>
            </a:r>
            <a:endParaRPr sz="2200">
              <a:latin typeface="Carlito"/>
              <a:cs typeface="Carlito"/>
            </a:endParaRPr>
          </a:p>
          <a:p>
            <a:pPr marL="91440">
              <a:lnSpc>
                <a:spcPct val="100000"/>
              </a:lnSpc>
            </a:pPr>
            <a:r>
              <a:rPr sz="2200" spc="-5" dirty="0">
                <a:latin typeface="Carlito"/>
                <a:cs typeface="Carlito"/>
              </a:rPr>
              <a:t>¿Cuál </a:t>
            </a:r>
            <a:r>
              <a:rPr sz="2200" spc="-10" dirty="0">
                <a:latin typeface="Carlito"/>
                <a:cs typeface="Carlito"/>
              </a:rPr>
              <a:t>fue </a:t>
            </a:r>
            <a:r>
              <a:rPr sz="2200" spc="-5" dirty="0">
                <a:latin typeface="Carlito"/>
                <a:cs typeface="Carlito"/>
              </a:rPr>
              <a:t>la </a:t>
            </a:r>
            <a:r>
              <a:rPr sz="2200" spc="-10" dirty="0">
                <a:latin typeface="Carlito"/>
                <a:cs typeface="Carlito"/>
              </a:rPr>
              <a:t>nota promedio </a:t>
            </a:r>
            <a:r>
              <a:rPr sz="2200" spc="-5" dirty="0">
                <a:latin typeface="Carlito"/>
                <a:cs typeface="Carlito"/>
              </a:rPr>
              <a:t>del </a:t>
            </a:r>
            <a:r>
              <a:rPr sz="2200" spc="-10" dirty="0">
                <a:latin typeface="Carlito"/>
                <a:cs typeface="Carlito"/>
              </a:rPr>
              <a:t>último</a:t>
            </a:r>
            <a:r>
              <a:rPr sz="2200" spc="114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cuatrimestre?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96897" y="1404594"/>
            <a:ext cx="6494780" cy="17297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5080">
              <a:lnSpc>
                <a:spcPct val="118100"/>
              </a:lnSpc>
              <a:spcBef>
                <a:spcPts val="100"/>
              </a:spcBef>
            </a:pPr>
            <a:r>
              <a:rPr sz="3200" spc="-20" dirty="0">
                <a:latin typeface="Carlito"/>
                <a:cs typeface="Carlito"/>
              </a:rPr>
              <a:t>Factores </a:t>
            </a:r>
            <a:r>
              <a:rPr sz="3200" dirty="0">
                <a:latin typeface="Carlito"/>
                <a:cs typeface="Carlito"/>
              </a:rPr>
              <a:t>asociados al </a:t>
            </a:r>
            <a:r>
              <a:rPr sz="3200" spc="-10" dirty="0">
                <a:latin typeface="Carlito"/>
                <a:cs typeface="Carlito"/>
              </a:rPr>
              <a:t>rendimiento  </a:t>
            </a:r>
            <a:r>
              <a:rPr sz="4800" spc="-15" baseline="1736" dirty="0">
                <a:latin typeface="Carlito"/>
                <a:cs typeface="Carlito"/>
              </a:rPr>
              <a:t>Escolar: </a:t>
            </a:r>
            <a:r>
              <a:rPr sz="3200" spc="-10" dirty="0">
                <a:latin typeface="Carlito"/>
                <a:cs typeface="Carlito"/>
              </a:rPr>
              <a:t>beca, trabaja, </a:t>
            </a:r>
            <a:r>
              <a:rPr sz="3200" spc="-5" dirty="0">
                <a:latin typeface="Carlito"/>
                <a:cs typeface="Carlito"/>
              </a:rPr>
              <a:t>núcleo</a:t>
            </a:r>
            <a:r>
              <a:rPr sz="3200" spc="-3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familiar</a:t>
            </a:r>
            <a:endParaRPr sz="32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3000" spc="-5" dirty="0">
                <a:latin typeface="Carlito"/>
                <a:cs typeface="Carlito"/>
              </a:rPr>
              <a:t>De</a:t>
            </a:r>
            <a:r>
              <a:rPr sz="3000" spc="-45" dirty="0">
                <a:latin typeface="Carlito"/>
                <a:cs typeface="Carlito"/>
              </a:rPr>
              <a:t> </a:t>
            </a:r>
            <a:r>
              <a:rPr sz="3000" spc="-15" dirty="0">
                <a:latin typeface="Carlito"/>
                <a:cs typeface="Carlito"/>
              </a:rPr>
              <a:t>investigación</a:t>
            </a:r>
            <a:r>
              <a:rPr sz="3200" spc="-15" dirty="0">
                <a:latin typeface="Carlito"/>
                <a:cs typeface="Carlito"/>
              </a:rPr>
              <a:t>:</a:t>
            </a:r>
            <a:endParaRPr sz="3200" dirty="0">
              <a:latin typeface="Carlito"/>
              <a:cs typeface="Carlit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755130" y="116586"/>
            <a:ext cx="2281301" cy="12961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23" y="0"/>
            <a:ext cx="9142730" cy="6858000"/>
            <a:chOff x="1423" y="0"/>
            <a:chExt cx="9142730" cy="6858000"/>
          </a:xfrm>
        </p:grpSpPr>
        <p:sp>
          <p:nvSpPr>
            <p:cNvPr id="3" name="object 3"/>
            <p:cNvSpPr/>
            <p:nvPr/>
          </p:nvSpPr>
          <p:spPr>
            <a:xfrm>
              <a:off x="1196340" y="88392"/>
              <a:ext cx="6028944" cy="110642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96340" y="682751"/>
              <a:ext cx="2654808" cy="11064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" marR="508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Preguntas </a:t>
            </a:r>
            <a:r>
              <a:rPr spc="-5" dirty="0"/>
              <a:t>según </a:t>
            </a:r>
            <a:r>
              <a:rPr spc="-25" dirty="0"/>
              <a:t>forma </a:t>
            </a:r>
            <a:r>
              <a:rPr spc="-5" dirty="0"/>
              <a:t>de  </a:t>
            </a:r>
            <a:r>
              <a:rPr spc="-15" dirty="0"/>
              <a:t>preguntar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174447" y="2312776"/>
            <a:ext cx="1783714" cy="742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2100"/>
              </a:lnSpc>
              <a:spcBef>
                <a:spcPts val="95"/>
              </a:spcBef>
            </a:pPr>
            <a:r>
              <a:rPr sz="2100" spc="10" dirty="0">
                <a:latin typeface="Carlito"/>
                <a:cs typeface="Carlito"/>
              </a:rPr>
              <a:t>Dicotómicas  Opción</a:t>
            </a:r>
            <a:r>
              <a:rPr sz="2100" spc="-60" dirty="0">
                <a:latin typeface="Carlito"/>
                <a:cs typeface="Carlito"/>
              </a:rPr>
              <a:t> </a:t>
            </a:r>
            <a:r>
              <a:rPr sz="2100" spc="10" dirty="0">
                <a:latin typeface="Carlito"/>
                <a:cs typeface="Carlito"/>
              </a:rPr>
              <a:t>múltiple</a:t>
            </a:r>
            <a:endParaRPr sz="2100">
              <a:latin typeface="Carlito"/>
              <a:cs typeface="Carli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30061" y="3424492"/>
            <a:ext cx="1117600" cy="3479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00" spc="-5" dirty="0">
                <a:latin typeface="Carlito"/>
                <a:cs typeface="Carlito"/>
              </a:rPr>
              <a:t>Preguntas</a:t>
            </a:r>
            <a:endParaRPr sz="2100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74447" y="3388652"/>
            <a:ext cx="1844675" cy="742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2000"/>
              </a:lnSpc>
              <a:spcBef>
                <a:spcPts val="95"/>
              </a:spcBef>
            </a:pPr>
            <a:r>
              <a:rPr sz="2100" spc="10" dirty="0">
                <a:latin typeface="Carlito"/>
                <a:cs typeface="Carlito"/>
              </a:rPr>
              <a:t>Simples </a:t>
            </a:r>
            <a:r>
              <a:rPr sz="2100" spc="5" dirty="0">
                <a:latin typeface="Carlito"/>
                <a:cs typeface="Carlito"/>
              </a:rPr>
              <a:t>/</a:t>
            </a:r>
            <a:r>
              <a:rPr sz="2100" spc="-75" dirty="0">
                <a:latin typeface="Carlito"/>
                <a:cs typeface="Carlito"/>
              </a:rPr>
              <a:t> </a:t>
            </a:r>
            <a:r>
              <a:rPr sz="2100" spc="5" dirty="0">
                <a:latin typeface="Carlito"/>
                <a:cs typeface="Carlito"/>
              </a:rPr>
              <a:t>Típicas  </a:t>
            </a:r>
            <a:r>
              <a:rPr sz="2100" spc="-15" dirty="0">
                <a:latin typeface="Carlito"/>
                <a:cs typeface="Carlito"/>
              </a:rPr>
              <a:t>Registro</a:t>
            </a:r>
            <a:r>
              <a:rPr sz="2100" spc="-5" dirty="0">
                <a:latin typeface="Carlito"/>
                <a:cs typeface="Carlito"/>
              </a:rPr>
              <a:t> </a:t>
            </a:r>
            <a:r>
              <a:rPr sz="2100" spc="-15" dirty="0">
                <a:latin typeface="Carlito"/>
                <a:cs typeface="Carlito"/>
              </a:rPr>
              <a:t>cerrado</a:t>
            </a:r>
            <a:endParaRPr sz="2100">
              <a:latin typeface="Carlito"/>
              <a:cs typeface="Carli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12179" y="4500119"/>
            <a:ext cx="1437005" cy="3479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00" dirty="0">
                <a:latin typeface="Carlito"/>
                <a:cs typeface="Carlito"/>
              </a:rPr>
              <a:t>Semiabiertas</a:t>
            </a:r>
            <a:endParaRPr sz="21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12179" y="2515416"/>
            <a:ext cx="977265" cy="3479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00" spc="-15" dirty="0">
                <a:latin typeface="Carlito"/>
                <a:cs typeface="Carlito"/>
              </a:rPr>
              <a:t>Cerradas</a:t>
            </a:r>
            <a:endParaRPr sz="2100">
              <a:latin typeface="Carlito"/>
              <a:cs typeface="Carli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12179" y="3590952"/>
            <a:ext cx="835660" cy="3479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00" spc="-10" dirty="0">
                <a:latin typeface="Carlito"/>
                <a:cs typeface="Carlito"/>
              </a:rPr>
              <a:t>Abieras</a:t>
            </a:r>
            <a:endParaRPr sz="2100">
              <a:latin typeface="Carlito"/>
              <a:cs typeface="Carlit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161372" y="2348839"/>
            <a:ext cx="5521325" cy="2522855"/>
            <a:chOff x="3161372" y="2348839"/>
            <a:chExt cx="5521325" cy="2522855"/>
          </a:xfrm>
        </p:grpSpPr>
        <p:sp>
          <p:nvSpPr>
            <p:cNvPr id="13" name="object 13"/>
            <p:cNvSpPr/>
            <p:nvPr/>
          </p:nvSpPr>
          <p:spPr>
            <a:xfrm>
              <a:off x="3167768" y="2361577"/>
              <a:ext cx="1815464" cy="2478405"/>
            </a:xfrm>
            <a:custGeom>
              <a:avLst/>
              <a:gdLst/>
              <a:ahLst/>
              <a:cxnLst/>
              <a:rect l="l" t="t" r="r" b="b"/>
              <a:pathLst>
                <a:path w="1815464" h="2478404">
                  <a:moveTo>
                    <a:pt x="319593" y="2477794"/>
                  </a:moveTo>
                  <a:lnTo>
                    <a:pt x="257380" y="2472133"/>
                  </a:lnTo>
                  <a:lnTo>
                    <a:pt x="206572" y="2456695"/>
                  </a:lnTo>
                  <a:lnTo>
                    <a:pt x="172316" y="2433797"/>
                  </a:lnTo>
                  <a:lnTo>
                    <a:pt x="159754" y="1314111"/>
                  </a:lnTo>
                  <a:lnTo>
                    <a:pt x="147200" y="1286073"/>
                  </a:lnTo>
                  <a:lnTo>
                    <a:pt x="112965" y="1263175"/>
                  </a:lnTo>
                  <a:lnTo>
                    <a:pt x="62185" y="1247736"/>
                  </a:lnTo>
                  <a:lnTo>
                    <a:pt x="0" y="1242074"/>
                  </a:lnTo>
                  <a:lnTo>
                    <a:pt x="62185" y="1236415"/>
                  </a:lnTo>
                  <a:lnTo>
                    <a:pt x="112965" y="1220980"/>
                  </a:lnTo>
                  <a:lnTo>
                    <a:pt x="147200" y="1198083"/>
                  </a:lnTo>
                  <a:lnTo>
                    <a:pt x="159754" y="1170038"/>
                  </a:lnTo>
                  <a:lnTo>
                    <a:pt x="159754" y="78467"/>
                  </a:lnTo>
                  <a:lnTo>
                    <a:pt x="172316" y="50374"/>
                  </a:lnTo>
                  <a:lnTo>
                    <a:pt x="206572" y="27489"/>
                  </a:lnTo>
                  <a:lnTo>
                    <a:pt x="257380" y="12087"/>
                  </a:lnTo>
                  <a:lnTo>
                    <a:pt x="319593" y="6448"/>
                  </a:lnTo>
                </a:path>
                <a:path w="1815464" h="2478404">
                  <a:moveTo>
                    <a:pt x="1814893" y="668891"/>
                  </a:moveTo>
                  <a:lnTo>
                    <a:pt x="1760145" y="663886"/>
                  </a:lnTo>
                  <a:lnTo>
                    <a:pt x="1715462" y="650249"/>
                  </a:lnTo>
                  <a:lnTo>
                    <a:pt x="1674309" y="605364"/>
                  </a:lnTo>
                  <a:lnTo>
                    <a:pt x="1674309" y="394572"/>
                  </a:lnTo>
                  <a:lnTo>
                    <a:pt x="1663246" y="369910"/>
                  </a:lnTo>
                  <a:lnTo>
                    <a:pt x="1633092" y="349772"/>
                  </a:lnTo>
                  <a:lnTo>
                    <a:pt x="1588401" y="336194"/>
                  </a:lnTo>
                  <a:lnTo>
                    <a:pt x="1533725" y="331215"/>
                  </a:lnTo>
                  <a:lnTo>
                    <a:pt x="1588401" y="326236"/>
                  </a:lnTo>
                  <a:lnTo>
                    <a:pt x="1633092" y="312658"/>
                  </a:lnTo>
                  <a:lnTo>
                    <a:pt x="1663246" y="292519"/>
                  </a:lnTo>
                  <a:lnTo>
                    <a:pt x="1674309" y="267858"/>
                  </a:lnTo>
                  <a:lnTo>
                    <a:pt x="1674309" y="57065"/>
                  </a:lnTo>
                  <a:lnTo>
                    <a:pt x="1685348" y="32404"/>
                  </a:lnTo>
                  <a:lnTo>
                    <a:pt x="1715462" y="12265"/>
                  </a:lnTo>
                  <a:lnTo>
                    <a:pt x="1755827" y="0"/>
                  </a:lnTo>
                </a:path>
              </a:pathLst>
            </a:custGeom>
            <a:ln w="12772">
              <a:solidFill>
                <a:srgbClr val="E36C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701494" y="3425302"/>
              <a:ext cx="281305" cy="675640"/>
            </a:xfrm>
            <a:custGeom>
              <a:avLst/>
              <a:gdLst/>
              <a:ahLst/>
              <a:cxnLst/>
              <a:rect l="l" t="t" r="r" b="b"/>
              <a:pathLst>
                <a:path w="281304" h="675639">
                  <a:moveTo>
                    <a:pt x="281167" y="675182"/>
                  </a:moveTo>
                  <a:lnTo>
                    <a:pt x="226419" y="670203"/>
                  </a:lnTo>
                  <a:lnTo>
                    <a:pt x="181736" y="656621"/>
                  </a:lnTo>
                  <a:lnTo>
                    <a:pt x="140583" y="611791"/>
                  </a:lnTo>
                  <a:lnTo>
                    <a:pt x="140583" y="400999"/>
                  </a:lnTo>
                  <a:lnTo>
                    <a:pt x="129520" y="376318"/>
                  </a:lnTo>
                  <a:lnTo>
                    <a:pt x="99367" y="356169"/>
                  </a:lnTo>
                  <a:lnTo>
                    <a:pt x="54675" y="342587"/>
                  </a:lnTo>
                  <a:lnTo>
                    <a:pt x="0" y="337608"/>
                  </a:lnTo>
                  <a:lnTo>
                    <a:pt x="54675" y="332626"/>
                  </a:lnTo>
                  <a:lnTo>
                    <a:pt x="99367" y="319038"/>
                  </a:lnTo>
                  <a:lnTo>
                    <a:pt x="129520" y="298884"/>
                  </a:lnTo>
                  <a:lnTo>
                    <a:pt x="140583" y="274200"/>
                  </a:lnTo>
                  <a:lnTo>
                    <a:pt x="140583" y="63407"/>
                  </a:lnTo>
                  <a:lnTo>
                    <a:pt x="151622" y="38724"/>
                  </a:lnTo>
                  <a:lnTo>
                    <a:pt x="181736" y="18569"/>
                  </a:lnTo>
                  <a:lnTo>
                    <a:pt x="226419" y="4982"/>
                  </a:lnTo>
                  <a:lnTo>
                    <a:pt x="281167" y="0"/>
                  </a:lnTo>
                </a:path>
              </a:pathLst>
            </a:custGeom>
            <a:ln w="12787">
              <a:solidFill>
                <a:srgbClr val="E36C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4335" y="338328"/>
            <a:ext cx="4959096" cy="1216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14602" y="470738"/>
            <a:ext cx="426021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20" dirty="0"/>
              <a:t>Preguntas</a:t>
            </a:r>
            <a:r>
              <a:rPr sz="4300" spc="-45" dirty="0"/>
              <a:t> </a:t>
            </a:r>
            <a:r>
              <a:rPr sz="4300" spc="-15" dirty="0"/>
              <a:t>cerradas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1596897" y="1455242"/>
            <a:ext cx="6460490" cy="44176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516255" indent="-283845">
              <a:lnSpc>
                <a:spcPct val="100000"/>
              </a:lnSpc>
              <a:spcBef>
                <a:spcPts val="105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spc="-5" dirty="0">
                <a:latin typeface="Carlito"/>
                <a:cs typeface="Carlito"/>
              </a:rPr>
              <a:t>Las </a:t>
            </a:r>
            <a:r>
              <a:rPr sz="3200" spc="-15" dirty="0">
                <a:latin typeface="Carlito"/>
                <a:cs typeface="Carlito"/>
              </a:rPr>
              <a:t>respuestas </a:t>
            </a:r>
            <a:r>
              <a:rPr sz="3200" spc="-5" dirty="0">
                <a:latin typeface="Carlito"/>
                <a:cs typeface="Carlito"/>
              </a:rPr>
              <a:t>posibles </a:t>
            </a:r>
            <a:r>
              <a:rPr sz="3200" dirty="0">
                <a:latin typeface="Carlito"/>
                <a:cs typeface="Carlito"/>
              </a:rPr>
              <a:t>se </a:t>
            </a:r>
            <a:r>
              <a:rPr sz="3200" spc="-5" dirty="0">
                <a:latin typeface="Carlito"/>
                <a:cs typeface="Carlito"/>
              </a:rPr>
              <a:t>hallan  </a:t>
            </a:r>
            <a:r>
              <a:rPr sz="3200" spc="-10" dirty="0">
                <a:latin typeface="Carlito"/>
                <a:cs typeface="Carlito"/>
              </a:rPr>
              <a:t>limitadas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10" dirty="0">
                <a:latin typeface="Carlito"/>
                <a:cs typeface="Carlito"/>
              </a:rPr>
              <a:t>alternativas</a:t>
            </a:r>
            <a:r>
              <a:rPr sz="3200" spc="2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prefijadas:</a:t>
            </a:r>
            <a:endParaRPr sz="3200">
              <a:latin typeface="Carlito"/>
              <a:cs typeface="Carlito"/>
            </a:endParaRPr>
          </a:p>
          <a:p>
            <a:pPr marL="742315" marR="2023110" lvl="1" indent="-410209">
              <a:lnSpc>
                <a:spcPct val="116700"/>
              </a:lnSpc>
              <a:spcBef>
                <a:spcPts val="2290"/>
              </a:spcBef>
              <a:buClr>
                <a:srgbClr val="93B6D2"/>
              </a:buClr>
              <a:buFont typeface="Verdana"/>
              <a:buChar char="◦"/>
              <a:tabLst>
                <a:tab pos="570865" algn="l"/>
                <a:tab pos="1981200" algn="l"/>
              </a:tabLst>
            </a:pPr>
            <a:r>
              <a:rPr sz="3000" spc="-15" dirty="0">
                <a:latin typeface="Carlito"/>
                <a:cs typeface="Carlito"/>
              </a:rPr>
              <a:t>¿Posee </a:t>
            </a:r>
            <a:r>
              <a:rPr sz="3000" spc="-20" dirty="0">
                <a:latin typeface="Carlito"/>
                <a:cs typeface="Carlito"/>
              </a:rPr>
              <a:t>usted </a:t>
            </a:r>
            <a:r>
              <a:rPr sz="3000" spc="-5" dirty="0">
                <a:latin typeface="Carlito"/>
                <a:cs typeface="Carlito"/>
              </a:rPr>
              <a:t>automóvil?  </a:t>
            </a:r>
            <a:r>
              <a:rPr sz="3000" dirty="0">
                <a:latin typeface="Carlito"/>
                <a:cs typeface="Carlito"/>
              </a:rPr>
              <a:t>1.Si	</a:t>
            </a:r>
            <a:r>
              <a:rPr sz="3000" spc="-5" dirty="0">
                <a:latin typeface="Carlito"/>
                <a:cs typeface="Carlito"/>
              </a:rPr>
              <a:t>2.No</a:t>
            </a:r>
            <a:endParaRPr sz="3000">
              <a:latin typeface="Carlito"/>
              <a:cs typeface="Carlito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93B6D2"/>
              </a:buClr>
              <a:buFont typeface="Verdana"/>
              <a:buChar char="◦"/>
            </a:pPr>
            <a:endParaRPr sz="3650">
              <a:latin typeface="Carlito"/>
              <a:cs typeface="Carlito"/>
            </a:endParaRPr>
          </a:p>
          <a:p>
            <a:pPr marL="570230" marR="5080" lvl="1" indent="-238125">
              <a:lnSpc>
                <a:spcPct val="108400"/>
              </a:lnSpc>
              <a:buClr>
                <a:srgbClr val="93B6D2"/>
              </a:buClr>
              <a:buFont typeface="Verdana"/>
              <a:buChar char="◦"/>
              <a:tabLst>
                <a:tab pos="570865" algn="l"/>
                <a:tab pos="2230120" algn="l"/>
                <a:tab pos="3694429" algn="l"/>
                <a:tab pos="5129530" algn="l"/>
              </a:tabLst>
            </a:pPr>
            <a:r>
              <a:rPr sz="3000" spc="-15" dirty="0">
                <a:latin typeface="Carlito"/>
                <a:cs typeface="Carlito"/>
              </a:rPr>
              <a:t>¿Considera </a:t>
            </a:r>
            <a:r>
              <a:rPr sz="3000" spc="-5" dirty="0">
                <a:latin typeface="Carlito"/>
                <a:cs typeface="Carlito"/>
              </a:rPr>
              <a:t>Ud. que </a:t>
            </a:r>
            <a:r>
              <a:rPr sz="3000" dirty="0">
                <a:latin typeface="Carlito"/>
                <a:cs typeface="Carlito"/>
              </a:rPr>
              <a:t>el </a:t>
            </a:r>
            <a:r>
              <a:rPr sz="3000" spc="-5" dirty="0">
                <a:latin typeface="Carlito"/>
                <a:cs typeface="Carlito"/>
              </a:rPr>
              <a:t>país </a:t>
            </a:r>
            <a:r>
              <a:rPr sz="3000" spc="-20" dirty="0">
                <a:latin typeface="Carlito"/>
                <a:cs typeface="Carlito"/>
              </a:rPr>
              <a:t>esta </a:t>
            </a:r>
            <a:r>
              <a:rPr sz="3000" u="heavy" spc="-4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mejor,  </a:t>
            </a:r>
            <a:r>
              <a:rPr sz="3000" u="heavy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igual o </a:t>
            </a:r>
            <a:r>
              <a:rPr sz="3000" u="heavy" spc="-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peor</a:t>
            </a:r>
            <a:r>
              <a:rPr sz="3000" spc="-5" dirty="0">
                <a:latin typeface="Carlito"/>
                <a:cs typeface="Carlito"/>
              </a:rPr>
              <a:t> que hace </a:t>
            </a:r>
            <a:r>
              <a:rPr sz="3000" dirty="0">
                <a:latin typeface="Carlito"/>
                <a:cs typeface="Carlito"/>
              </a:rPr>
              <a:t>5 años?  1.Mejor	2.Igual	3.</a:t>
            </a:r>
            <a:r>
              <a:rPr sz="3000" spc="-65" dirty="0">
                <a:latin typeface="Carlito"/>
                <a:cs typeface="Carlito"/>
              </a:rPr>
              <a:t>P</a:t>
            </a:r>
            <a:r>
              <a:rPr sz="3000" dirty="0">
                <a:latin typeface="Carlito"/>
                <a:cs typeface="Carlito"/>
              </a:rPr>
              <a:t>eor	9.NS/</a:t>
            </a:r>
            <a:r>
              <a:rPr sz="3000" spc="-10" dirty="0">
                <a:latin typeface="Carlito"/>
                <a:cs typeface="Carlito"/>
              </a:rPr>
              <a:t>N</a:t>
            </a:r>
            <a:r>
              <a:rPr sz="3000" dirty="0">
                <a:latin typeface="Carlito"/>
                <a:cs typeface="Carlito"/>
              </a:rPr>
              <a:t>R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732269" y="3068967"/>
            <a:ext cx="1882521" cy="8640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4335" y="338328"/>
            <a:ext cx="4850892" cy="1216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14602" y="470738"/>
            <a:ext cx="415290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20" dirty="0"/>
              <a:t>Preguntas</a:t>
            </a:r>
            <a:r>
              <a:rPr sz="4300" spc="-45" dirty="0"/>
              <a:t> </a:t>
            </a:r>
            <a:r>
              <a:rPr sz="4300" spc="-10" dirty="0"/>
              <a:t>abiertas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1596897" y="1455242"/>
            <a:ext cx="6995795" cy="2283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196215" indent="-283845">
              <a:lnSpc>
                <a:spcPct val="100000"/>
              </a:lnSpc>
              <a:spcBef>
                <a:spcPts val="105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spc="-10" dirty="0">
                <a:latin typeface="Carlito"/>
                <a:cs typeface="Carlito"/>
              </a:rPr>
              <a:t>Elaboradas </a:t>
            </a:r>
            <a:r>
              <a:rPr sz="3200" spc="-20" dirty="0">
                <a:latin typeface="Carlito"/>
                <a:cs typeface="Carlito"/>
              </a:rPr>
              <a:t>para </a:t>
            </a:r>
            <a:r>
              <a:rPr sz="3200" spc="-5" dirty="0">
                <a:latin typeface="Carlito"/>
                <a:cs typeface="Carlito"/>
              </a:rPr>
              <a:t>permitir una </a:t>
            </a:r>
            <a:r>
              <a:rPr sz="3200" spc="-65" dirty="0">
                <a:latin typeface="Carlito"/>
                <a:cs typeface="Carlito"/>
              </a:rPr>
              <a:t>respuesta  </a:t>
            </a:r>
            <a:r>
              <a:rPr sz="3200" spc="-15" dirty="0">
                <a:latin typeface="Carlito"/>
                <a:cs typeface="Carlito"/>
              </a:rPr>
              <a:t>libre </a:t>
            </a:r>
            <a:r>
              <a:rPr sz="3200" spc="-5" dirty="0">
                <a:latin typeface="Carlito"/>
                <a:cs typeface="Carlito"/>
              </a:rPr>
              <a:t>(no </a:t>
            </a:r>
            <a:r>
              <a:rPr sz="3200" spc="-10" dirty="0">
                <a:latin typeface="Carlito"/>
                <a:cs typeface="Carlito"/>
              </a:rPr>
              <a:t>limitada </a:t>
            </a:r>
            <a:r>
              <a:rPr sz="3200" dirty="0">
                <a:latin typeface="Carlito"/>
                <a:cs typeface="Carlito"/>
              </a:rPr>
              <a:t>a</a:t>
            </a:r>
            <a:r>
              <a:rPr sz="3200" spc="6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alternativas):</a:t>
            </a:r>
            <a:endParaRPr sz="3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93B6D2"/>
              </a:buClr>
              <a:buFont typeface="Arial"/>
              <a:buChar char=""/>
            </a:pPr>
            <a:endParaRPr sz="2350">
              <a:latin typeface="Carlito"/>
              <a:cs typeface="Carlito"/>
            </a:endParaRPr>
          </a:p>
          <a:p>
            <a:pPr marL="570230" marR="5080" lvl="1" indent="-238125">
              <a:lnSpc>
                <a:spcPct val="100000"/>
              </a:lnSpc>
              <a:buClr>
                <a:srgbClr val="93B6D2"/>
              </a:buClr>
              <a:buFont typeface="Verdana"/>
              <a:buChar char="◦"/>
              <a:tabLst>
                <a:tab pos="570865" algn="l"/>
              </a:tabLst>
            </a:pPr>
            <a:r>
              <a:rPr sz="3000" spc="-5" dirty="0">
                <a:latin typeface="Carlito"/>
                <a:cs typeface="Carlito"/>
              </a:rPr>
              <a:t>¿Qué </a:t>
            </a:r>
            <a:r>
              <a:rPr sz="3000" spc="-10" dirty="0">
                <a:latin typeface="Carlito"/>
                <a:cs typeface="Carlito"/>
              </a:rPr>
              <a:t>es lo </a:t>
            </a:r>
            <a:r>
              <a:rPr sz="3000" spc="-5" dirty="0">
                <a:latin typeface="Carlito"/>
                <a:cs typeface="Carlito"/>
              </a:rPr>
              <a:t>que </a:t>
            </a:r>
            <a:r>
              <a:rPr sz="3000" dirty="0">
                <a:latin typeface="Carlito"/>
                <a:cs typeface="Carlito"/>
              </a:rPr>
              <a:t>más le </a:t>
            </a:r>
            <a:r>
              <a:rPr sz="3000" spc="-15" dirty="0">
                <a:latin typeface="Carlito"/>
                <a:cs typeface="Carlito"/>
              </a:rPr>
              <a:t>gusta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20" dirty="0">
                <a:latin typeface="Carlito"/>
                <a:cs typeface="Carlito"/>
              </a:rPr>
              <a:t>usted </a:t>
            </a:r>
            <a:r>
              <a:rPr sz="3000" spc="-5" dirty="0">
                <a:latin typeface="Carlito"/>
                <a:cs typeface="Carlito"/>
              </a:rPr>
              <a:t>de su  </a:t>
            </a:r>
            <a:r>
              <a:rPr sz="3000" spc="-10" dirty="0">
                <a:latin typeface="Carlito"/>
                <a:cs typeface="Carlito"/>
              </a:rPr>
              <a:t>comunidad?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67382" y="4238275"/>
            <a:ext cx="6477000" cy="0"/>
          </a:xfrm>
          <a:custGeom>
            <a:avLst/>
            <a:gdLst/>
            <a:ahLst/>
            <a:cxnLst/>
            <a:rect l="l" t="t" r="r" b="b"/>
            <a:pathLst>
              <a:path w="6477000">
                <a:moveTo>
                  <a:pt x="0" y="0"/>
                </a:moveTo>
                <a:lnTo>
                  <a:pt x="6477000" y="0"/>
                </a:lnTo>
              </a:path>
            </a:pathLst>
          </a:custGeom>
          <a:ln w="247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16938" y="4856226"/>
            <a:ext cx="59823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0190" indent="-238125">
              <a:lnSpc>
                <a:spcPct val="100000"/>
              </a:lnSpc>
              <a:spcBef>
                <a:spcPts val="100"/>
              </a:spcBef>
              <a:buClr>
                <a:srgbClr val="93B6D2"/>
              </a:buClr>
              <a:buFont typeface="Verdana"/>
              <a:buChar char="◦"/>
              <a:tabLst>
                <a:tab pos="250825" algn="l"/>
              </a:tabLst>
            </a:pPr>
            <a:r>
              <a:rPr sz="3000" spc="-5" dirty="0">
                <a:latin typeface="Carlito"/>
                <a:cs typeface="Carlito"/>
              </a:rPr>
              <a:t>¿Cuál </a:t>
            </a:r>
            <a:r>
              <a:rPr sz="3000" dirty="0">
                <a:latin typeface="Carlito"/>
                <a:cs typeface="Carlito"/>
              </a:rPr>
              <a:t>es </a:t>
            </a:r>
            <a:r>
              <a:rPr sz="3000" spc="-5" dirty="0">
                <a:latin typeface="Carlito"/>
                <a:cs typeface="Carlito"/>
              </a:rPr>
              <a:t>su </a:t>
            </a:r>
            <a:r>
              <a:rPr sz="3000" spc="-20" dirty="0">
                <a:latin typeface="Carlito"/>
                <a:cs typeface="Carlito"/>
              </a:rPr>
              <a:t>programa </a:t>
            </a:r>
            <a:r>
              <a:rPr sz="3000" spc="-25" dirty="0">
                <a:latin typeface="Carlito"/>
                <a:cs typeface="Carlito"/>
              </a:rPr>
              <a:t>favorito </a:t>
            </a:r>
            <a:r>
              <a:rPr sz="3000" spc="-5" dirty="0">
                <a:latin typeface="Carlito"/>
                <a:cs typeface="Carlito"/>
              </a:rPr>
              <a:t>de</a:t>
            </a:r>
            <a:r>
              <a:rPr sz="3000" spc="-20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TV?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308342" y="3284994"/>
            <a:ext cx="1584198" cy="11521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2187194" y="5301208"/>
            <a:ext cx="6705600" cy="1148080"/>
            <a:chOff x="2187194" y="5301208"/>
            <a:chExt cx="6705600" cy="1148080"/>
          </a:xfrm>
        </p:grpSpPr>
        <p:sp>
          <p:nvSpPr>
            <p:cNvPr id="9" name="object 9"/>
            <p:cNvSpPr/>
            <p:nvPr/>
          </p:nvSpPr>
          <p:spPr>
            <a:xfrm>
              <a:off x="2187194" y="5839155"/>
              <a:ext cx="5334000" cy="0"/>
            </a:xfrm>
            <a:custGeom>
              <a:avLst/>
              <a:gdLst/>
              <a:ahLst/>
              <a:cxnLst/>
              <a:rect l="l" t="t" r="r" b="b"/>
              <a:pathLst>
                <a:path w="5334000">
                  <a:moveTo>
                    <a:pt x="0" y="0"/>
                  </a:moveTo>
                  <a:lnTo>
                    <a:pt x="5333983" y="0"/>
                  </a:lnTo>
                </a:path>
              </a:pathLst>
            </a:custGeom>
            <a:ln w="247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876666" y="5301208"/>
              <a:ext cx="1015771" cy="11477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23" y="0"/>
            <a:ext cx="9142730" cy="6858000"/>
            <a:chOff x="1423" y="0"/>
            <a:chExt cx="9142730" cy="6858000"/>
          </a:xfrm>
        </p:grpSpPr>
        <p:sp>
          <p:nvSpPr>
            <p:cNvPr id="3" name="object 3"/>
            <p:cNvSpPr/>
            <p:nvPr/>
          </p:nvSpPr>
          <p:spPr>
            <a:xfrm>
              <a:off x="1196340" y="89916"/>
              <a:ext cx="6790944" cy="11064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96340" y="684275"/>
              <a:ext cx="2209800" cy="11064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" marR="508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Preguntas </a:t>
            </a:r>
            <a:r>
              <a:rPr spc="-10" dirty="0"/>
              <a:t>abiertas </a:t>
            </a:r>
            <a:r>
              <a:rPr spc="-5" dirty="0"/>
              <a:t>de </a:t>
            </a:r>
            <a:r>
              <a:rPr spc="-25" dirty="0"/>
              <a:t>registro  </a:t>
            </a:r>
            <a:r>
              <a:rPr spc="-15" dirty="0"/>
              <a:t>cerrado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96897" y="1455242"/>
            <a:ext cx="7162165" cy="44176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319405" indent="-283845">
              <a:lnSpc>
                <a:spcPct val="100000"/>
              </a:lnSpc>
              <a:spcBef>
                <a:spcPts val="105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spc="-15" dirty="0">
                <a:latin typeface="Carlito"/>
                <a:cs typeface="Carlito"/>
              </a:rPr>
              <a:t>Pregunta </a:t>
            </a:r>
            <a:r>
              <a:rPr sz="3200" spc="-5" dirty="0">
                <a:latin typeface="Carlito"/>
                <a:cs typeface="Carlito"/>
              </a:rPr>
              <a:t>abierta, </a:t>
            </a:r>
            <a:r>
              <a:rPr sz="3200" spc="-15" dirty="0">
                <a:latin typeface="Carlito"/>
                <a:cs typeface="Carlito"/>
              </a:rPr>
              <a:t>pero </a:t>
            </a:r>
            <a:r>
              <a:rPr sz="3200" spc="-5" dirty="0">
                <a:latin typeface="Carlito"/>
                <a:cs typeface="Carlito"/>
              </a:rPr>
              <a:t>clasificada </a:t>
            </a:r>
            <a:r>
              <a:rPr sz="3200" dirty="0">
                <a:latin typeface="Carlito"/>
                <a:cs typeface="Carlito"/>
              </a:rPr>
              <a:t>en </a:t>
            </a:r>
            <a:r>
              <a:rPr sz="3200" spc="-225" dirty="0">
                <a:latin typeface="Carlito"/>
                <a:cs typeface="Carlito"/>
              </a:rPr>
              <a:t>un  </a:t>
            </a:r>
            <a:r>
              <a:rPr sz="3200" dirty="0">
                <a:latin typeface="Carlito"/>
                <a:cs typeface="Carlito"/>
              </a:rPr>
              <a:t>grupo </a:t>
            </a:r>
            <a:r>
              <a:rPr sz="3200" spc="-5" dirty="0">
                <a:latin typeface="Carlito"/>
                <a:cs typeface="Carlito"/>
              </a:rPr>
              <a:t>de opciones</a:t>
            </a:r>
            <a:r>
              <a:rPr sz="3200" spc="-1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preestablecidas:</a:t>
            </a:r>
            <a:endParaRPr sz="3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93B6D2"/>
              </a:buClr>
              <a:buFont typeface="Arial"/>
              <a:buChar char=""/>
            </a:pPr>
            <a:endParaRPr sz="2350">
              <a:latin typeface="Carlito"/>
              <a:cs typeface="Carlito"/>
            </a:endParaRPr>
          </a:p>
          <a:p>
            <a:pPr marL="570230" marR="5080" lvl="1" indent="-238125">
              <a:lnSpc>
                <a:spcPct val="100000"/>
              </a:lnSpc>
              <a:buClr>
                <a:srgbClr val="93B6D2"/>
              </a:buClr>
              <a:buFont typeface="Verdana"/>
              <a:buChar char="◦"/>
              <a:tabLst>
                <a:tab pos="570865" algn="l"/>
              </a:tabLst>
            </a:pPr>
            <a:r>
              <a:rPr sz="3000" spc="-20" dirty="0">
                <a:latin typeface="Carlito"/>
                <a:cs typeface="Carlito"/>
              </a:rPr>
              <a:t>¿Por </a:t>
            </a:r>
            <a:r>
              <a:rPr sz="3000" spc="-5" dirty="0">
                <a:latin typeface="Carlito"/>
                <a:cs typeface="Carlito"/>
              </a:rPr>
              <a:t>qué motivo se vino </a:t>
            </a:r>
            <a:r>
              <a:rPr sz="3000" spc="-15" dirty="0">
                <a:latin typeface="Carlito"/>
                <a:cs typeface="Carlito"/>
              </a:rPr>
              <a:t>usted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5" dirty="0">
                <a:latin typeface="Carlito"/>
                <a:cs typeface="Carlito"/>
              </a:rPr>
              <a:t>vivir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5" dirty="0">
                <a:latin typeface="Carlito"/>
                <a:cs typeface="Carlito"/>
              </a:rPr>
              <a:t>San  </a:t>
            </a:r>
            <a:r>
              <a:rPr sz="3000" dirty="0">
                <a:latin typeface="Carlito"/>
                <a:cs typeface="Carlito"/>
              </a:rPr>
              <a:t>José? </a:t>
            </a:r>
            <a:r>
              <a:rPr sz="3000" spc="-5" dirty="0">
                <a:latin typeface="Carlito"/>
                <a:cs typeface="Carlito"/>
              </a:rPr>
              <a:t>[NO LEER</a:t>
            </a:r>
            <a:r>
              <a:rPr sz="3000" spc="-20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OPCIONES]</a:t>
            </a:r>
            <a:endParaRPr sz="3000">
              <a:latin typeface="Carlito"/>
              <a:cs typeface="Carlito"/>
            </a:endParaRPr>
          </a:p>
          <a:p>
            <a:pPr marL="860425" lvl="2" indent="-290830">
              <a:lnSpc>
                <a:spcPct val="100000"/>
              </a:lnSpc>
              <a:spcBef>
                <a:spcPts val="600"/>
              </a:spcBef>
              <a:buSzPct val="96666"/>
              <a:buAutoNum type="arabicPeriod"/>
              <a:tabLst>
                <a:tab pos="861060" algn="l"/>
              </a:tabLst>
            </a:pPr>
            <a:r>
              <a:rPr sz="3000" spc="-5" dirty="0">
                <a:latin typeface="Carlito"/>
                <a:cs typeface="Carlito"/>
              </a:rPr>
              <a:t>Buscar</a:t>
            </a:r>
            <a:r>
              <a:rPr sz="3000" spc="-10" dirty="0">
                <a:latin typeface="Carlito"/>
                <a:cs typeface="Carlito"/>
              </a:rPr>
              <a:t> trabajo</a:t>
            </a:r>
            <a:endParaRPr sz="3000">
              <a:latin typeface="Carlito"/>
              <a:cs typeface="Carlito"/>
            </a:endParaRPr>
          </a:p>
          <a:p>
            <a:pPr marL="570230" marR="1796414" lvl="2">
              <a:lnSpc>
                <a:spcPct val="116700"/>
              </a:lnSpc>
              <a:spcBef>
                <a:spcPts val="5"/>
              </a:spcBef>
              <a:buSzPct val="96666"/>
              <a:buAutoNum type="arabicPeriod"/>
              <a:tabLst>
                <a:tab pos="861060" algn="l"/>
              </a:tabLst>
            </a:pPr>
            <a:r>
              <a:rPr sz="3000" spc="-10" dirty="0">
                <a:latin typeface="Carlito"/>
                <a:cs typeface="Carlito"/>
              </a:rPr>
              <a:t>Mejorar </a:t>
            </a:r>
            <a:r>
              <a:rPr sz="3000" spc="-5" dirty="0">
                <a:latin typeface="Carlito"/>
                <a:cs typeface="Carlito"/>
              </a:rPr>
              <a:t>situación </a:t>
            </a:r>
            <a:r>
              <a:rPr sz="3000" spc="-10" dirty="0">
                <a:latin typeface="Carlito"/>
                <a:cs typeface="Carlito"/>
              </a:rPr>
              <a:t>económica  </a:t>
            </a:r>
            <a:r>
              <a:rPr sz="3000" spc="-20" dirty="0">
                <a:latin typeface="Carlito"/>
                <a:cs typeface="Carlito"/>
              </a:rPr>
              <a:t>3.Comprar</a:t>
            </a:r>
            <a:r>
              <a:rPr sz="3000" spc="20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casa</a:t>
            </a:r>
            <a:endParaRPr sz="3000">
              <a:latin typeface="Carlito"/>
              <a:cs typeface="Carlito"/>
            </a:endParaRPr>
          </a:p>
          <a:p>
            <a:pPr marL="570230">
              <a:lnSpc>
                <a:spcPct val="100000"/>
              </a:lnSpc>
              <a:spcBef>
                <a:spcPts val="600"/>
              </a:spcBef>
              <a:tabLst>
                <a:tab pos="7029450" algn="l"/>
              </a:tabLst>
            </a:pPr>
            <a:r>
              <a:rPr sz="3000" spc="-20" dirty="0">
                <a:latin typeface="Carlito"/>
                <a:cs typeface="Carlito"/>
              </a:rPr>
              <a:t>9.Otra</a:t>
            </a:r>
            <a:r>
              <a:rPr sz="3000" spc="-60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[ESPECIFICAR]:</a:t>
            </a:r>
            <a:r>
              <a:rPr sz="3000" u="heavy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 	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484744" y="3645027"/>
            <a:ext cx="1551812" cy="13681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23" y="0"/>
            <a:ext cx="9142730" cy="6858000"/>
            <a:chOff x="1423" y="0"/>
            <a:chExt cx="9142730" cy="6858000"/>
          </a:xfrm>
        </p:grpSpPr>
        <p:sp>
          <p:nvSpPr>
            <p:cNvPr id="3" name="object 3"/>
            <p:cNvSpPr/>
            <p:nvPr/>
          </p:nvSpPr>
          <p:spPr>
            <a:xfrm>
              <a:off x="1164335" y="338328"/>
              <a:ext cx="3066288" cy="121615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05199" y="338328"/>
              <a:ext cx="1770888" cy="121615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50663" y="338328"/>
              <a:ext cx="893063" cy="121615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18304" y="338328"/>
              <a:ext cx="2510028" cy="121615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14602" y="470738"/>
            <a:ext cx="536575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20" dirty="0"/>
              <a:t>Preguntas</a:t>
            </a:r>
            <a:r>
              <a:rPr sz="4300" spc="-25" dirty="0"/>
              <a:t> </a:t>
            </a:r>
            <a:r>
              <a:rPr sz="4300" spc="-10" dirty="0"/>
              <a:t>semi-abiertas</a:t>
            </a:r>
            <a:endParaRPr sz="4300"/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347345" indent="-283845">
              <a:lnSpc>
                <a:spcPct val="100000"/>
              </a:lnSpc>
              <a:spcBef>
                <a:spcPts val="105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pc="-15" dirty="0"/>
              <a:t>Pregunta </a:t>
            </a:r>
            <a:r>
              <a:rPr spc="-10" dirty="0"/>
              <a:t>cerrada, </a:t>
            </a:r>
            <a:r>
              <a:rPr spc="-15" dirty="0"/>
              <a:t>pero </a:t>
            </a:r>
            <a:r>
              <a:rPr spc="-10" dirty="0"/>
              <a:t>con </a:t>
            </a:r>
            <a:r>
              <a:rPr spc="-5" dirty="0"/>
              <a:t>posibilidad  que </a:t>
            </a:r>
            <a:r>
              <a:rPr dirty="0"/>
              <a:t>el </a:t>
            </a:r>
            <a:r>
              <a:rPr spc="-20" dirty="0"/>
              <a:t>informante </a:t>
            </a:r>
            <a:r>
              <a:rPr spc="-5" dirty="0"/>
              <a:t>brinde una </a:t>
            </a:r>
            <a:r>
              <a:rPr spc="-15" dirty="0"/>
              <a:t>respuesta  </a:t>
            </a:r>
            <a:r>
              <a:rPr spc="-25" dirty="0"/>
              <a:t>diferente:</a:t>
            </a:r>
          </a:p>
          <a:p>
            <a:pPr marL="570230" marR="5080" lvl="1" indent="-238125">
              <a:lnSpc>
                <a:spcPct val="100000"/>
              </a:lnSpc>
              <a:spcBef>
                <a:spcPts val="610"/>
              </a:spcBef>
              <a:buClr>
                <a:srgbClr val="93B6D2"/>
              </a:buClr>
              <a:buFont typeface="Verdana"/>
              <a:buChar char="◦"/>
              <a:tabLst>
                <a:tab pos="570865" algn="l"/>
              </a:tabLst>
            </a:pPr>
            <a:r>
              <a:rPr sz="3000" spc="-5" dirty="0">
                <a:latin typeface="Carlito"/>
                <a:cs typeface="Carlito"/>
              </a:rPr>
              <a:t>¿Cuándo </a:t>
            </a:r>
            <a:r>
              <a:rPr sz="3000" spc="-25" dirty="0">
                <a:latin typeface="Carlito"/>
                <a:cs typeface="Carlito"/>
              </a:rPr>
              <a:t>va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5" dirty="0">
                <a:latin typeface="Carlito"/>
                <a:cs typeface="Carlito"/>
              </a:rPr>
              <a:t>comprar </a:t>
            </a:r>
            <a:r>
              <a:rPr sz="3000" spc="-5" dirty="0">
                <a:latin typeface="Carlito"/>
                <a:cs typeface="Carlito"/>
              </a:rPr>
              <a:t>jeans,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0" dirty="0">
                <a:latin typeface="Carlito"/>
                <a:cs typeface="Carlito"/>
              </a:rPr>
              <a:t>qué </a:t>
            </a:r>
            <a:r>
              <a:rPr sz="3000" dirty="0">
                <a:latin typeface="Carlito"/>
                <a:cs typeface="Carlito"/>
              </a:rPr>
              <a:t>le </a:t>
            </a:r>
            <a:r>
              <a:rPr sz="3000" spc="-5" dirty="0">
                <a:latin typeface="Carlito"/>
                <a:cs typeface="Carlito"/>
              </a:rPr>
              <a:t>da  </a:t>
            </a:r>
            <a:r>
              <a:rPr sz="3000" dirty="0">
                <a:latin typeface="Carlito"/>
                <a:cs typeface="Carlito"/>
              </a:rPr>
              <a:t>más </a:t>
            </a:r>
            <a:r>
              <a:rPr sz="3000" spc="-5" dirty="0">
                <a:latin typeface="Carlito"/>
                <a:cs typeface="Carlito"/>
              </a:rPr>
              <a:t>importancia: </a:t>
            </a:r>
            <a:r>
              <a:rPr sz="3000" spc="-15" dirty="0">
                <a:latin typeface="Carlito"/>
                <a:cs typeface="Carlito"/>
              </a:rPr>
              <a:t>marca, </a:t>
            </a:r>
            <a:r>
              <a:rPr sz="3000" spc="-10" dirty="0">
                <a:latin typeface="Carlito"/>
                <a:cs typeface="Carlito"/>
              </a:rPr>
              <a:t>talla, </a:t>
            </a:r>
            <a:r>
              <a:rPr sz="3000" spc="-5" dirty="0">
                <a:latin typeface="Carlito"/>
                <a:cs typeface="Carlito"/>
              </a:rPr>
              <a:t>tipo de </a:t>
            </a:r>
            <a:r>
              <a:rPr sz="3000" spc="-15" dirty="0">
                <a:latin typeface="Carlito"/>
                <a:cs typeface="Carlito"/>
              </a:rPr>
              <a:t>tela,  precio </a:t>
            </a:r>
            <a:r>
              <a:rPr sz="3000" dirty="0">
                <a:latin typeface="Carlito"/>
                <a:cs typeface="Carlito"/>
              </a:rPr>
              <a:t>o a </a:t>
            </a:r>
            <a:r>
              <a:rPr sz="3000" spc="-5" dirty="0">
                <a:latin typeface="Carlito"/>
                <a:cs typeface="Carlito"/>
              </a:rPr>
              <a:t>qué?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54682" y="4368545"/>
            <a:ext cx="2102485" cy="1626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815340">
              <a:lnSpc>
                <a:spcPct val="116700"/>
              </a:lnSpc>
              <a:spcBef>
                <a:spcPts val="95"/>
              </a:spcBef>
            </a:pPr>
            <a:r>
              <a:rPr sz="3000" dirty="0">
                <a:latin typeface="Carlito"/>
                <a:cs typeface="Carlito"/>
              </a:rPr>
              <a:t>1.Ma</a:t>
            </a:r>
            <a:r>
              <a:rPr sz="3000" spc="-45" dirty="0">
                <a:latin typeface="Carlito"/>
                <a:cs typeface="Carlito"/>
              </a:rPr>
              <a:t>r</a:t>
            </a:r>
            <a:r>
              <a:rPr sz="3000" spc="-25" dirty="0">
                <a:latin typeface="Carlito"/>
                <a:cs typeface="Carlito"/>
              </a:rPr>
              <a:t>c</a:t>
            </a:r>
            <a:r>
              <a:rPr sz="3000" dirty="0">
                <a:latin typeface="Carlito"/>
                <a:cs typeface="Carlito"/>
              </a:rPr>
              <a:t>a  </a:t>
            </a:r>
            <a:r>
              <a:rPr sz="3000" spc="-70" dirty="0">
                <a:latin typeface="Carlito"/>
                <a:cs typeface="Carlito"/>
              </a:rPr>
              <a:t>2.Talla</a:t>
            </a:r>
            <a:endParaRPr sz="3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3000" spc="-40" dirty="0">
                <a:latin typeface="Carlito"/>
                <a:cs typeface="Carlito"/>
              </a:rPr>
              <a:t>3.Tipo </a:t>
            </a:r>
            <a:r>
              <a:rPr sz="3000" spc="-5" dirty="0">
                <a:latin typeface="Carlito"/>
                <a:cs typeface="Carlito"/>
              </a:rPr>
              <a:t>de</a:t>
            </a:r>
            <a:r>
              <a:rPr sz="3000" spc="-55" dirty="0">
                <a:latin typeface="Carlito"/>
                <a:cs typeface="Carlito"/>
              </a:rPr>
              <a:t> </a:t>
            </a:r>
            <a:r>
              <a:rPr sz="3000" spc="-15" dirty="0">
                <a:latin typeface="Carlito"/>
                <a:cs typeface="Carlito"/>
              </a:rPr>
              <a:t>tela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72836" y="4368545"/>
            <a:ext cx="3656965" cy="16262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3000" spc="-10" dirty="0">
                <a:latin typeface="Carlito"/>
                <a:cs typeface="Carlito"/>
              </a:rPr>
              <a:t>4.Precio</a:t>
            </a:r>
            <a:endParaRPr sz="3000">
              <a:latin typeface="Carlito"/>
              <a:cs typeface="Carlito"/>
            </a:endParaRPr>
          </a:p>
          <a:p>
            <a:pPr marL="12700" marR="5080">
              <a:lnSpc>
                <a:spcPts val="4200"/>
              </a:lnSpc>
              <a:spcBef>
                <a:spcPts val="240"/>
              </a:spcBef>
              <a:tabLst>
                <a:tab pos="3643629" algn="l"/>
              </a:tabLst>
            </a:pPr>
            <a:r>
              <a:rPr sz="3000" spc="-15" dirty="0">
                <a:latin typeface="Carlito"/>
                <a:cs typeface="Carlito"/>
              </a:rPr>
              <a:t>8.Otra: </a:t>
            </a:r>
            <a:r>
              <a:rPr sz="3000" u="heavy" spc="-1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	</a:t>
            </a:r>
            <a:r>
              <a:rPr sz="3000" dirty="0">
                <a:latin typeface="Carlito"/>
                <a:cs typeface="Carlito"/>
              </a:rPr>
              <a:t> 9.NS/NR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15618" y="4099902"/>
            <a:ext cx="864362" cy="163334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6340" y="387095"/>
            <a:ext cx="7947659" cy="11064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14602" y="504571"/>
            <a:ext cx="733361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Ventajas </a:t>
            </a:r>
            <a:r>
              <a:rPr dirty="0"/>
              <a:t>y </a:t>
            </a:r>
            <a:r>
              <a:rPr spc="-20" dirty="0"/>
              <a:t>desventajas</a:t>
            </a:r>
            <a:r>
              <a:rPr spc="15" dirty="0"/>
              <a:t> </a:t>
            </a:r>
            <a:r>
              <a:rPr spc="-25" dirty="0"/>
              <a:t>comparativas</a:t>
            </a:r>
          </a:p>
        </p:txBody>
      </p:sp>
      <p:sp>
        <p:nvSpPr>
          <p:cNvPr id="4" name="object 4"/>
          <p:cNvSpPr/>
          <p:nvPr/>
        </p:nvSpPr>
        <p:spPr>
          <a:xfrm>
            <a:off x="1849060" y="1426058"/>
            <a:ext cx="6755130" cy="5116195"/>
          </a:xfrm>
          <a:custGeom>
            <a:avLst/>
            <a:gdLst/>
            <a:ahLst/>
            <a:cxnLst/>
            <a:rect l="l" t="t" r="r" b="b"/>
            <a:pathLst>
              <a:path w="6755130" h="5116195">
                <a:moveTo>
                  <a:pt x="6755030" y="0"/>
                </a:moveTo>
                <a:lnTo>
                  <a:pt x="0" y="0"/>
                </a:lnTo>
                <a:lnTo>
                  <a:pt x="0" y="5115571"/>
                </a:lnTo>
                <a:lnTo>
                  <a:pt x="6755031" y="5115571"/>
                </a:lnTo>
                <a:lnTo>
                  <a:pt x="675503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835657" y="1412802"/>
          <a:ext cx="6755129" cy="51155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1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54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7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5939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550" b="1" spc="5" dirty="0">
                          <a:latin typeface="Carlito"/>
                          <a:cs typeface="Carlito"/>
                        </a:rPr>
                        <a:t>Preguntas</a:t>
                      </a:r>
                      <a:endParaRPr sz="1550">
                        <a:latin typeface="Carlito"/>
                        <a:cs typeface="Carlito"/>
                      </a:endParaRPr>
                    </a:p>
                  </a:txBody>
                  <a:tcPr marL="0" marR="0" marT="88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550" b="1" spc="5" dirty="0">
                          <a:latin typeface="Carlito"/>
                          <a:cs typeface="Carlito"/>
                        </a:rPr>
                        <a:t>Abiertas</a:t>
                      </a:r>
                      <a:endParaRPr sz="1550">
                        <a:latin typeface="Carlito"/>
                        <a:cs typeface="Carlito"/>
                      </a:endParaRPr>
                    </a:p>
                  </a:txBody>
                  <a:tcPr marL="0" marR="0" marT="88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550" b="1" dirty="0">
                          <a:latin typeface="Carlito"/>
                          <a:cs typeface="Carlito"/>
                        </a:rPr>
                        <a:t>Cerradas</a:t>
                      </a:r>
                      <a:endParaRPr sz="1550">
                        <a:latin typeface="Carlito"/>
                        <a:cs typeface="Carlito"/>
                      </a:endParaRPr>
                    </a:p>
                  </a:txBody>
                  <a:tcPr marL="0" marR="0" marT="88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43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</a:pPr>
                      <a:r>
                        <a:rPr sz="1550" b="1" spc="10" dirty="0">
                          <a:latin typeface="Carlito"/>
                          <a:cs typeface="Carlito"/>
                        </a:rPr>
                        <a:t>Ventajas</a:t>
                      </a:r>
                      <a:endParaRPr sz="155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34950" marR="226060" algn="ctr">
                        <a:lnSpc>
                          <a:spcPct val="112400"/>
                        </a:lnSpc>
                        <a:spcBef>
                          <a:spcPts val="780"/>
                        </a:spcBef>
                      </a:pPr>
                      <a:r>
                        <a:rPr sz="1550" spc="20" dirty="0">
                          <a:latin typeface="Carlito"/>
                          <a:cs typeface="Carlito"/>
                        </a:rPr>
                        <a:t>Oportunidad de</a:t>
                      </a:r>
                      <a:r>
                        <a:rPr sz="1550" spc="-8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550" spc="15" dirty="0">
                          <a:latin typeface="Carlito"/>
                          <a:cs typeface="Carlito"/>
                        </a:rPr>
                        <a:t>contestar  </a:t>
                      </a:r>
                      <a:r>
                        <a:rPr sz="1550" spc="30" dirty="0">
                          <a:latin typeface="Carlito"/>
                          <a:cs typeface="Carlito"/>
                        </a:rPr>
                        <a:t>expontáneamente</a:t>
                      </a:r>
                      <a:endParaRPr sz="1550">
                        <a:latin typeface="Carlito"/>
                        <a:cs typeface="Carlito"/>
                      </a:endParaRPr>
                    </a:p>
                    <a:p>
                      <a:pPr marL="154305" marR="168910" algn="ctr">
                        <a:lnSpc>
                          <a:spcPct val="112500"/>
                        </a:lnSpc>
                        <a:spcBef>
                          <a:spcPts val="5"/>
                        </a:spcBef>
                      </a:pPr>
                      <a:r>
                        <a:rPr sz="1550" spc="-5" dirty="0">
                          <a:latin typeface="Carlito"/>
                          <a:cs typeface="Carlito"/>
                        </a:rPr>
                        <a:t>En </a:t>
                      </a:r>
                      <a:r>
                        <a:rPr sz="1550" spc="25" dirty="0">
                          <a:latin typeface="Carlito"/>
                          <a:cs typeface="Carlito"/>
                        </a:rPr>
                        <a:t>términos </a:t>
                      </a:r>
                      <a:r>
                        <a:rPr sz="1550" spc="35" dirty="0">
                          <a:latin typeface="Carlito"/>
                          <a:cs typeface="Carlito"/>
                        </a:rPr>
                        <a:t>del</a:t>
                      </a:r>
                      <a:r>
                        <a:rPr sz="1550" spc="-7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550" spc="20" dirty="0">
                          <a:latin typeface="Carlito"/>
                          <a:cs typeface="Carlito"/>
                        </a:rPr>
                        <a:t>informante  Explicar su </a:t>
                      </a:r>
                      <a:r>
                        <a:rPr sz="1550" dirty="0">
                          <a:latin typeface="Carlito"/>
                          <a:cs typeface="Carlito"/>
                        </a:rPr>
                        <a:t>marco </a:t>
                      </a:r>
                      <a:r>
                        <a:rPr sz="1550" spc="20" dirty="0">
                          <a:latin typeface="Carlito"/>
                          <a:cs typeface="Carlito"/>
                        </a:rPr>
                        <a:t>de  </a:t>
                      </a:r>
                      <a:r>
                        <a:rPr sz="1550" spc="30" dirty="0">
                          <a:latin typeface="Carlito"/>
                          <a:cs typeface="Carlito"/>
                        </a:rPr>
                        <a:t>referencia</a:t>
                      </a:r>
                      <a:endParaRPr sz="1550">
                        <a:latin typeface="Carlito"/>
                        <a:cs typeface="Carlito"/>
                      </a:endParaRPr>
                    </a:p>
                  </a:txBody>
                  <a:tcPr marL="0" marR="0" marT="990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550" spc="15" dirty="0">
                          <a:latin typeface="Carlito"/>
                          <a:cs typeface="Carlito"/>
                        </a:rPr>
                        <a:t>Fórmuladas</a:t>
                      </a:r>
                      <a:r>
                        <a:rPr sz="1550" spc="-3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550" spc="20" dirty="0">
                          <a:latin typeface="Carlito"/>
                          <a:cs typeface="Carlito"/>
                        </a:rPr>
                        <a:t>rápidamente</a:t>
                      </a:r>
                      <a:endParaRPr sz="1550">
                        <a:latin typeface="Carlito"/>
                        <a:cs typeface="Carlito"/>
                      </a:endParaRPr>
                    </a:p>
                    <a:p>
                      <a:pPr marR="1778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550" spc="25" dirty="0">
                          <a:latin typeface="Carlito"/>
                          <a:cs typeface="Carlito"/>
                        </a:rPr>
                        <a:t>Fáciles </a:t>
                      </a:r>
                      <a:r>
                        <a:rPr sz="1550" spc="20" dirty="0">
                          <a:latin typeface="Carlito"/>
                          <a:cs typeface="Carlito"/>
                        </a:rPr>
                        <a:t>de</a:t>
                      </a:r>
                      <a:r>
                        <a:rPr sz="1550" spc="-3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550" spc="5" dirty="0">
                          <a:latin typeface="Carlito"/>
                          <a:cs typeface="Carlito"/>
                        </a:rPr>
                        <a:t>anotar</a:t>
                      </a:r>
                      <a:endParaRPr sz="1550">
                        <a:latin typeface="Carlito"/>
                        <a:cs typeface="Carlito"/>
                      </a:endParaRPr>
                    </a:p>
                    <a:p>
                      <a:pPr marL="288290" marR="306070" algn="ctr">
                        <a:lnSpc>
                          <a:spcPct val="112500"/>
                        </a:lnSpc>
                      </a:pPr>
                      <a:r>
                        <a:rPr sz="1550" spc="25" dirty="0">
                          <a:latin typeface="Carlito"/>
                          <a:cs typeface="Carlito"/>
                        </a:rPr>
                        <a:t>Respuestas </a:t>
                      </a:r>
                      <a:r>
                        <a:rPr sz="1550" spc="15" dirty="0">
                          <a:latin typeface="Carlito"/>
                          <a:cs typeface="Carlito"/>
                        </a:rPr>
                        <a:t>clasificadas </a:t>
                      </a:r>
                      <a:r>
                        <a:rPr sz="1550" spc="45" dirty="0">
                          <a:latin typeface="Carlito"/>
                          <a:cs typeface="Carlito"/>
                        </a:rPr>
                        <a:t>en</a:t>
                      </a:r>
                      <a:r>
                        <a:rPr sz="1550" spc="-13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550" spc="40" dirty="0">
                          <a:latin typeface="Carlito"/>
                          <a:cs typeface="Carlito"/>
                        </a:rPr>
                        <a:t>el  </a:t>
                      </a:r>
                      <a:r>
                        <a:rPr sz="1550" spc="30" dirty="0">
                          <a:latin typeface="Carlito"/>
                          <a:cs typeface="Carlito"/>
                        </a:rPr>
                        <a:t>mismo momento  </a:t>
                      </a:r>
                      <a:r>
                        <a:rPr sz="1550" spc="25" dirty="0">
                          <a:latin typeface="Carlito"/>
                          <a:cs typeface="Carlito"/>
                        </a:rPr>
                        <a:t>Procesamiento </a:t>
                      </a:r>
                      <a:r>
                        <a:rPr sz="1550" spc="15" dirty="0">
                          <a:latin typeface="Carlito"/>
                          <a:cs typeface="Carlito"/>
                        </a:rPr>
                        <a:t>y </a:t>
                      </a:r>
                      <a:r>
                        <a:rPr sz="1550" spc="30" dirty="0">
                          <a:latin typeface="Carlito"/>
                          <a:cs typeface="Carlito"/>
                        </a:rPr>
                        <a:t>análisis  </a:t>
                      </a:r>
                      <a:r>
                        <a:rPr sz="1550" spc="25" dirty="0">
                          <a:latin typeface="Carlito"/>
                          <a:cs typeface="Carlito"/>
                        </a:rPr>
                        <a:t>relativamente</a:t>
                      </a:r>
                      <a:r>
                        <a:rPr sz="1550" spc="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550" spc="35" dirty="0">
                          <a:latin typeface="Carlito"/>
                          <a:cs typeface="Carlito"/>
                        </a:rPr>
                        <a:t>sencillos</a:t>
                      </a:r>
                      <a:endParaRPr sz="1550">
                        <a:latin typeface="Carlito"/>
                        <a:cs typeface="Carlito"/>
                      </a:endParaRPr>
                    </a:p>
                  </a:txBody>
                  <a:tcPr marL="0" marR="0" marT="88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57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</a:pPr>
                      <a:r>
                        <a:rPr sz="1550" b="1" spc="5" dirty="0">
                          <a:latin typeface="Carlito"/>
                          <a:cs typeface="Carlito"/>
                        </a:rPr>
                        <a:t>Desventajas</a:t>
                      </a:r>
                      <a:endParaRPr sz="155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86995" marR="82550" algn="ctr">
                        <a:lnSpc>
                          <a:spcPct val="112599"/>
                        </a:lnSpc>
                      </a:pPr>
                      <a:r>
                        <a:rPr sz="1550" spc="25" dirty="0">
                          <a:latin typeface="Carlito"/>
                          <a:cs typeface="Carlito"/>
                        </a:rPr>
                        <a:t>Problemas </a:t>
                      </a:r>
                      <a:r>
                        <a:rPr sz="1550" spc="20" dirty="0">
                          <a:latin typeface="Carlito"/>
                          <a:cs typeface="Carlito"/>
                        </a:rPr>
                        <a:t>de</a:t>
                      </a:r>
                      <a:r>
                        <a:rPr sz="1550" spc="-8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550" spc="25" dirty="0">
                          <a:latin typeface="Carlito"/>
                          <a:cs typeface="Carlito"/>
                        </a:rPr>
                        <a:t>procesamiento  </a:t>
                      </a:r>
                      <a:r>
                        <a:rPr sz="1550" spc="15" dirty="0">
                          <a:latin typeface="Carlito"/>
                          <a:cs typeface="Carlito"/>
                        </a:rPr>
                        <a:t>y</a:t>
                      </a:r>
                      <a:r>
                        <a:rPr sz="1550" spc="-2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550" spc="30" dirty="0">
                          <a:latin typeface="Carlito"/>
                          <a:cs typeface="Carlito"/>
                        </a:rPr>
                        <a:t>análisis</a:t>
                      </a:r>
                      <a:endParaRPr sz="1550">
                        <a:latin typeface="Carlito"/>
                        <a:cs typeface="Carlito"/>
                      </a:endParaRPr>
                    </a:p>
                    <a:p>
                      <a:pPr marL="114300" marR="111125" algn="ctr">
                        <a:lnSpc>
                          <a:spcPts val="2090"/>
                        </a:lnSpc>
                        <a:spcBef>
                          <a:spcPts val="110"/>
                        </a:spcBef>
                      </a:pPr>
                      <a:r>
                        <a:rPr sz="1550" spc="30" dirty="0">
                          <a:latin typeface="Carlito"/>
                          <a:cs typeface="Carlito"/>
                        </a:rPr>
                        <a:t>Exigen </a:t>
                      </a:r>
                      <a:r>
                        <a:rPr sz="1550" spc="20" dirty="0">
                          <a:latin typeface="Carlito"/>
                          <a:cs typeface="Carlito"/>
                        </a:rPr>
                        <a:t>desarrollar</a:t>
                      </a:r>
                      <a:r>
                        <a:rPr sz="1550" spc="-13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550" spc="30" dirty="0">
                          <a:latin typeface="Carlito"/>
                          <a:cs typeface="Carlito"/>
                        </a:rPr>
                        <a:t>esquemas  </a:t>
                      </a:r>
                      <a:r>
                        <a:rPr sz="1550" spc="20" dirty="0">
                          <a:latin typeface="Carlito"/>
                          <a:cs typeface="Carlito"/>
                        </a:rPr>
                        <a:t>de</a:t>
                      </a:r>
                      <a:r>
                        <a:rPr sz="1550" spc="1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550" spc="20" dirty="0">
                          <a:latin typeface="Carlito"/>
                          <a:cs typeface="Carlito"/>
                        </a:rPr>
                        <a:t>codificación</a:t>
                      </a:r>
                      <a:endParaRPr sz="155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550" spc="35" dirty="0">
                          <a:latin typeface="Carlito"/>
                          <a:cs typeface="Carlito"/>
                        </a:rPr>
                        <a:t>Puden</a:t>
                      </a:r>
                      <a:r>
                        <a:rPr sz="1550" spc="-3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550" spc="10" dirty="0">
                          <a:latin typeface="Carlito"/>
                          <a:cs typeface="Carlito"/>
                        </a:rPr>
                        <a:t>forzar</a:t>
                      </a:r>
                      <a:r>
                        <a:rPr sz="1550" spc="-6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550" spc="10" dirty="0">
                          <a:latin typeface="Carlito"/>
                          <a:cs typeface="Carlito"/>
                        </a:rPr>
                        <a:t>dar</a:t>
                      </a:r>
                      <a:r>
                        <a:rPr sz="1550" spc="-6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550" spc="25" dirty="0">
                          <a:latin typeface="Carlito"/>
                          <a:cs typeface="Carlito"/>
                        </a:rPr>
                        <a:t>una</a:t>
                      </a:r>
                      <a:r>
                        <a:rPr sz="1550" spc="-6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550" spc="30" dirty="0">
                          <a:latin typeface="Carlito"/>
                          <a:cs typeface="Carlito"/>
                        </a:rPr>
                        <a:t>respuesta</a:t>
                      </a:r>
                      <a:r>
                        <a:rPr sz="1550" spc="-6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550" spc="20" dirty="0">
                          <a:latin typeface="Carlito"/>
                          <a:cs typeface="Carlito"/>
                        </a:rPr>
                        <a:t>de</a:t>
                      </a:r>
                      <a:endParaRPr sz="1550">
                        <a:latin typeface="Carlito"/>
                        <a:cs typeface="Carlito"/>
                      </a:endParaRPr>
                    </a:p>
                    <a:p>
                      <a:pPr marL="395605" marR="401320" indent="10160" algn="ctr">
                        <a:lnSpc>
                          <a:spcPct val="112400"/>
                        </a:lnSpc>
                      </a:pPr>
                      <a:r>
                        <a:rPr sz="1550" spc="20" dirty="0">
                          <a:latin typeface="Carlito"/>
                          <a:cs typeface="Carlito"/>
                        </a:rPr>
                        <a:t>un </a:t>
                      </a:r>
                      <a:r>
                        <a:rPr sz="1550" spc="30" dirty="0">
                          <a:latin typeface="Carlito"/>
                          <a:cs typeface="Carlito"/>
                        </a:rPr>
                        <a:t>tema </a:t>
                      </a:r>
                      <a:r>
                        <a:rPr sz="1550" spc="20" dirty="0">
                          <a:latin typeface="Carlito"/>
                          <a:cs typeface="Carlito"/>
                        </a:rPr>
                        <a:t>desconocido  </a:t>
                      </a:r>
                      <a:r>
                        <a:rPr sz="1550" spc="35" dirty="0">
                          <a:latin typeface="Carlito"/>
                          <a:cs typeface="Carlito"/>
                        </a:rPr>
                        <a:t>Puede </a:t>
                      </a:r>
                      <a:r>
                        <a:rPr sz="1550" spc="15" dirty="0">
                          <a:latin typeface="Carlito"/>
                          <a:cs typeface="Carlito"/>
                        </a:rPr>
                        <a:t>producir </a:t>
                      </a:r>
                      <a:r>
                        <a:rPr sz="1550" spc="20" dirty="0">
                          <a:latin typeface="Carlito"/>
                          <a:cs typeface="Carlito"/>
                        </a:rPr>
                        <a:t>errores:</a:t>
                      </a:r>
                      <a:r>
                        <a:rPr sz="1550" spc="-17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550" spc="40" dirty="0">
                          <a:latin typeface="Carlito"/>
                          <a:cs typeface="Carlito"/>
                        </a:rPr>
                        <a:t>la</a:t>
                      </a:r>
                      <a:endParaRPr sz="1550">
                        <a:latin typeface="Carlito"/>
                        <a:cs typeface="Carlito"/>
                      </a:endParaRPr>
                    </a:p>
                    <a:p>
                      <a:pPr marL="59690" marR="62230" indent="-5715" algn="ctr">
                        <a:lnSpc>
                          <a:spcPct val="112500"/>
                        </a:lnSpc>
                        <a:spcBef>
                          <a:spcPts val="5"/>
                        </a:spcBef>
                      </a:pPr>
                      <a:r>
                        <a:rPr sz="1550" spc="30" dirty="0">
                          <a:latin typeface="Carlito"/>
                          <a:cs typeface="Carlito"/>
                        </a:rPr>
                        <a:t>respuesta </a:t>
                      </a:r>
                      <a:r>
                        <a:rPr sz="1550" spc="25" dirty="0">
                          <a:latin typeface="Carlito"/>
                          <a:cs typeface="Carlito"/>
                        </a:rPr>
                        <a:t>escogida </a:t>
                      </a:r>
                      <a:r>
                        <a:rPr sz="1550" spc="20" dirty="0">
                          <a:latin typeface="Carlito"/>
                          <a:cs typeface="Carlito"/>
                        </a:rPr>
                        <a:t>se </a:t>
                      </a:r>
                      <a:r>
                        <a:rPr sz="1550" spc="35" dirty="0">
                          <a:latin typeface="Carlito"/>
                          <a:cs typeface="Carlito"/>
                        </a:rPr>
                        <a:t>aleja </a:t>
                      </a:r>
                      <a:r>
                        <a:rPr sz="1550" spc="20" dirty="0">
                          <a:latin typeface="Carlito"/>
                          <a:cs typeface="Carlito"/>
                        </a:rPr>
                        <a:t>de </a:t>
                      </a:r>
                      <a:r>
                        <a:rPr sz="1550" spc="40" dirty="0">
                          <a:latin typeface="Carlito"/>
                          <a:cs typeface="Carlito"/>
                        </a:rPr>
                        <a:t>la  </a:t>
                      </a:r>
                      <a:r>
                        <a:rPr sz="1550" spc="25" dirty="0">
                          <a:latin typeface="Carlito"/>
                          <a:cs typeface="Carlito"/>
                        </a:rPr>
                        <a:t>que </a:t>
                      </a:r>
                      <a:r>
                        <a:rPr sz="1550" spc="20" dirty="0">
                          <a:latin typeface="Carlito"/>
                          <a:cs typeface="Carlito"/>
                        </a:rPr>
                        <a:t>se </a:t>
                      </a:r>
                      <a:r>
                        <a:rPr sz="1550" dirty="0">
                          <a:latin typeface="Carlito"/>
                          <a:cs typeface="Carlito"/>
                        </a:rPr>
                        <a:t>habría </a:t>
                      </a:r>
                      <a:r>
                        <a:rPr sz="1550" spc="20" dirty="0">
                          <a:latin typeface="Carlito"/>
                          <a:cs typeface="Carlito"/>
                        </a:rPr>
                        <a:t>brindado  </a:t>
                      </a:r>
                      <a:r>
                        <a:rPr sz="1550" spc="35" dirty="0">
                          <a:latin typeface="Carlito"/>
                          <a:cs typeface="Carlito"/>
                        </a:rPr>
                        <a:t>Posibilidad </a:t>
                      </a:r>
                      <a:r>
                        <a:rPr sz="1550" spc="20" dirty="0">
                          <a:latin typeface="Carlito"/>
                          <a:cs typeface="Carlito"/>
                        </a:rPr>
                        <a:t>de interpretación  </a:t>
                      </a:r>
                      <a:r>
                        <a:rPr sz="1550" spc="25" dirty="0">
                          <a:latin typeface="Carlito"/>
                          <a:cs typeface="Carlito"/>
                        </a:rPr>
                        <a:t>errónea </a:t>
                      </a:r>
                      <a:r>
                        <a:rPr sz="1550" dirty="0">
                          <a:latin typeface="Carlito"/>
                          <a:cs typeface="Carlito"/>
                        </a:rPr>
                        <a:t>al </a:t>
                      </a:r>
                      <a:r>
                        <a:rPr sz="1550" spc="20" dirty="0">
                          <a:latin typeface="Carlito"/>
                          <a:cs typeface="Carlito"/>
                        </a:rPr>
                        <a:t>desconocer </a:t>
                      </a:r>
                      <a:r>
                        <a:rPr sz="1550" spc="40" dirty="0">
                          <a:latin typeface="Carlito"/>
                          <a:cs typeface="Carlito"/>
                        </a:rPr>
                        <a:t>el </a:t>
                      </a:r>
                      <a:r>
                        <a:rPr sz="1550" dirty="0">
                          <a:latin typeface="Carlito"/>
                          <a:cs typeface="Carlito"/>
                        </a:rPr>
                        <a:t>marco</a:t>
                      </a:r>
                      <a:r>
                        <a:rPr sz="1550" spc="-21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550" spc="20" dirty="0">
                          <a:latin typeface="Carlito"/>
                          <a:cs typeface="Carlito"/>
                        </a:rPr>
                        <a:t>de  </a:t>
                      </a:r>
                      <a:r>
                        <a:rPr sz="1550" spc="30" dirty="0">
                          <a:latin typeface="Carlito"/>
                          <a:cs typeface="Carlito"/>
                        </a:rPr>
                        <a:t>referencia </a:t>
                      </a:r>
                      <a:r>
                        <a:rPr sz="1550" spc="35" dirty="0">
                          <a:latin typeface="Carlito"/>
                          <a:cs typeface="Carlito"/>
                        </a:rPr>
                        <a:t>del</a:t>
                      </a:r>
                      <a:r>
                        <a:rPr sz="1550" spc="-7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550" spc="20" dirty="0">
                          <a:latin typeface="Carlito"/>
                          <a:cs typeface="Carlito"/>
                        </a:rPr>
                        <a:t>informante</a:t>
                      </a:r>
                      <a:endParaRPr sz="1550">
                        <a:latin typeface="Carlito"/>
                        <a:cs typeface="Carlito"/>
                      </a:endParaRPr>
                    </a:p>
                  </a:txBody>
                  <a:tcPr marL="0" marR="0" marT="88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95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</a:pPr>
                      <a:r>
                        <a:rPr sz="1550" b="1" spc="25" dirty="0">
                          <a:latin typeface="Carlito"/>
                          <a:cs typeface="Carlito"/>
                        </a:rPr>
                        <a:t>Uso</a:t>
                      </a:r>
                      <a:endParaRPr sz="155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0979" marR="215265" indent="11430" algn="ctr">
                        <a:lnSpc>
                          <a:spcPct val="112500"/>
                        </a:lnSpc>
                        <a:spcBef>
                          <a:spcPts val="50"/>
                        </a:spcBef>
                      </a:pPr>
                      <a:r>
                        <a:rPr sz="1550" spc="-10" dirty="0">
                          <a:latin typeface="Carlito"/>
                          <a:cs typeface="Carlito"/>
                        </a:rPr>
                        <a:t>El </a:t>
                      </a:r>
                      <a:r>
                        <a:rPr sz="1550" spc="30" dirty="0">
                          <a:latin typeface="Carlito"/>
                          <a:cs typeface="Carlito"/>
                        </a:rPr>
                        <a:t>tema </a:t>
                      </a:r>
                      <a:r>
                        <a:rPr sz="1550" spc="40" dirty="0">
                          <a:latin typeface="Carlito"/>
                          <a:cs typeface="Carlito"/>
                        </a:rPr>
                        <a:t>es </a:t>
                      </a:r>
                      <a:r>
                        <a:rPr sz="1550" spc="30" dirty="0">
                          <a:latin typeface="Carlito"/>
                          <a:cs typeface="Carlito"/>
                        </a:rPr>
                        <a:t>complejo  </a:t>
                      </a:r>
                      <a:r>
                        <a:rPr sz="1550" spc="25" dirty="0">
                          <a:latin typeface="Carlito"/>
                          <a:cs typeface="Carlito"/>
                        </a:rPr>
                        <a:t>Opciones </a:t>
                      </a:r>
                      <a:r>
                        <a:rPr sz="1550" spc="20" dirty="0">
                          <a:latin typeface="Carlito"/>
                          <a:cs typeface="Carlito"/>
                        </a:rPr>
                        <a:t>de </a:t>
                      </a:r>
                      <a:r>
                        <a:rPr sz="1550" spc="30" dirty="0">
                          <a:latin typeface="Carlito"/>
                          <a:cs typeface="Carlito"/>
                        </a:rPr>
                        <a:t>respuesta</a:t>
                      </a:r>
                      <a:r>
                        <a:rPr sz="1550" spc="-15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550" spc="20" dirty="0">
                          <a:latin typeface="Carlito"/>
                          <a:cs typeface="Carlito"/>
                        </a:rPr>
                        <a:t>no  están </a:t>
                      </a:r>
                      <a:r>
                        <a:rPr sz="1550" spc="45" dirty="0">
                          <a:latin typeface="Carlito"/>
                          <a:cs typeface="Carlito"/>
                        </a:rPr>
                        <a:t>bien </a:t>
                      </a:r>
                      <a:r>
                        <a:rPr sz="1550" spc="35" dirty="0">
                          <a:latin typeface="Carlito"/>
                          <a:cs typeface="Carlito"/>
                        </a:rPr>
                        <a:t>definidas  </a:t>
                      </a:r>
                      <a:r>
                        <a:rPr sz="1550" spc="25" dirty="0">
                          <a:latin typeface="Carlito"/>
                          <a:cs typeface="Carlito"/>
                        </a:rPr>
                        <a:t>Investigación</a:t>
                      </a:r>
                      <a:r>
                        <a:rPr sz="1550" spc="-6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550" spc="25" dirty="0">
                          <a:latin typeface="Carlito"/>
                          <a:cs typeface="Carlito"/>
                        </a:rPr>
                        <a:t>exploratoria</a:t>
                      </a:r>
                      <a:endParaRPr sz="1550">
                        <a:latin typeface="Carlito"/>
                        <a:cs typeface="Carlito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07645" marR="208279" algn="ctr">
                        <a:lnSpc>
                          <a:spcPct val="112400"/>
                        </a:lnSpc>
                        <a:spcBef>
                          <a:spcPts val="50"/>
                        </a:spcBef>
                      </a:pPr>
                      <a:r>
                        <a:rPr sz="1550" spc="40" dirty="0">
                          <a:latin typeface="Carlito"/>
                          <a:cs typeface="Carlito"/>
                        </a:rPr>
                        <a:t>Posibles </a:t>
                      </a:r>
                      <a:r>
                        <a:rPr sz="1550" spc="25" dirty="0">
                          <a:latin typeface="Carlito"/>
                          <a:cs typeface="Carlito"/>
                        </a:rPr>
                        <a:t>respuestas</a:t>
                      </a:r>
                      <a:r>
                        <a:rPr sz="1550" spc="-12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550" spc="10" dirty="0">
                          <a:latin typeface="Carlito"/>
                          <a:cs typeface="Carlito"/>
                        </a:rPr>
                        <a:t>conocidas,  </a:t>
                      </a:r>
                      <a:r>
                        <a:rPr sz="1550" spc="25" dirty="0">
                          <a:latin typeface="Carlito"/>
                          <a:cs typeface="Carlito"/>
                        </a:rPr>
                        <a:t>limitadas </a:t>
                      </a:r>
                      <a:r>
                        <a:rPr sz="1550" spc="15" dirty="0">
                          <a:latin typeface="Carlito"/>
                          <a:cs typeface="Carlito"/>
                        </a:rPr>
                        <a:t>y</a:t>
                      </a:r>
                      <a:r>
                        <a:rPr sz="1550" spc="-7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550" spc="35" dirty="0">
                          <a:latin typeface="Carlito"/>
                          <a:cs typeface="Carlito"/>
                        </a:rPr>
                        <a:t>definidas</a:t>
                      </a:r>
                      <a:endParaRPr sz="1550">
                        <a:latin typeface="Carlito"/>
                        <a:cs typeface="Carlito"/>
                      </a:endParaRPr>
                    </a:p>
                    <a:p>
                      <a:pPr marL="140335" marR="151765" algn="ctr">
                        <a:lnSpc>
                          <a:spcPct val="112400"/>
                        </a:lnSpc>
                        <a:spcBef>
                          <a:spcPts val="5"/>
                        </a:spcBef>
                      </a:pPr>
                      <a:r>
                        <a:rPr sz="1550" spc="20" dirty="0">
                          <a:latin typeface="Carlito"/>
                          <a:cs typeface="Carlito"/>
                        </a:rPr>
                        <a:t>Estudios de </a:t>
                      </a:r>
                      <a:r>
                        <a:rPr sz="1550" spc="35" dirty="0">
                          <a:latin typeface="Carlito"/>
                          <a:cs typeface="Carlito"/>
                        </a:rPr>
                        <a:t>opinión </a:t>
                      </a:r>
                      <a:r>
                        <a:rPr sz="1550" spc="15" dirty="0">
                          <a:latin typeface="Carlito"/>
                          <a:cs typeface="Carlito"/>
                        </a:rPr>
                        <a:t>o </a:t>
                      </a:r>
                      <a:r>
                        <a:rPr sz="1550" spc="20" dirty="0">
                          <a:latin typeface="Carlito"/>
                          <a:cs typeface="Carlito"/>
                        </a:rPr>
                        <a:t>temas</a:t>
                      </a:r>
                      <a:r>
                        <a:rPr sz="1550" spc="-21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550" spc="5" dirty="0">
                          <a:latin typeface="Carlito"/>
                          <a:cs typeface="Carlito"/>
                        </a:rPr>
                        <a:t>con  teorías </a:t>
                      </a:r>
                      <a:r>
                        <a:rPr sz="1550" spc="15" dirty="0">
                          <a:latin typeface="Carlito"/>
                          <a:cs typeface="Carlito"/>
                        </a:rPr>
                        <a:t>o </a:t>
                      </a:r>
                      <a:r>
                        <a:rPr sz="1550" spc="35" dirty="0">
                          <a:latin typeface="Carlito"/>
                          <a:cs typeface="Carlito"/>
                        </a:rPr>
                        <a:t>hipótesis</a:t>
                      </a:r>
                      <a:r>
                        <a:rPr sz="1550" spc="-114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550" spc="25" dirty="0">
                          <a:latin typeface="Carlito"/>
                          <a:cs typeface="Carlito"/>
                        </a:rPr>
                        <a:t>establecidas</a:t>
                      </a:r>
                      <a:endParaRPr sz="1550">
                        <a:latin typeface="Carlito"/>
                        <a:cs typeface="Carlito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23" y="0"/>
            <a:ext cx="9142730" cy="6858000"/>
            <a:chOff x="1423" y="0"/>
            <a:chExt cx="9142730" cy="6858000"/>
          </a:xfrm>
        </p:grpSpPr>
        <p:sp>
          <p:nvSpPr>
            <p:cNvPr id="3" name="object 3"/>
            <p:cNvSpPr/>
            <p:nvPr/>
          </p:nvSpPr>
          <p:spPr>
            <a:xfrm>
              <a:off x="1196340" y="88392"/>
              <a:ext cx="6626352" cy="110642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96340" y="682751"/>
              <a:ext cx="2851404" cy="11064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" marR="508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Preguntas </a:t>
            </a:r>
            <a:r>
              <a:rPr spc="-5" dirty="0"/>
              <a:t>según </a:t>
            </a:r>
            <a:r>
              <a:rPr spc="-15" dirty="0"/>
              <a:t>información  consultada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464480" y="2225527"/>
            <a:ext cx="2234565" cy="11753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50" spc="-20" dirty="0">
                <a:latin typeface="Carlito"/>
                <a:cs typeface="Carlito"/>
              </a:rPr>
              <a:t>Hechos</a:t>
            </a:r>
            <a:endParaRPr sz="2350">
              <a:latin typeface="Carlito"/>
              <a:cs typeface="Carlito"/>
            </a:endParaRPr>
          </a:p>
          <a:p>
            <a:pPr>
              <a:lnSpc>
                <a:spcPct val="100000"/>
              </a:lnSpc>
            </a:pPr>
            <a:endParaRPr sz="2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350" spc="-5" dirty="0">
                <a:latin typeface="Carlito"/>
                <a:cs typeface="Carlito"/>
              </a:rPr>
              <a:t>Acción /</a:t>
            </a:r>
            <a:r>
              <a:rPr sz="2350" spc="-20" dirty="0">
                <a:latin typeface="Carlito"/>
                <a:cs typeface="Carlito"/>
              </a:rPr>
              <a:t> </a:t>
            </a:r>
            <a:r>
              <a:rPr sz="2350" spc="-15" dirty="0">
                <a:latin typeface="Carlito"/>
                <a:cs typeface="Carlito"/>
              </a:rPr>
              <a:t>Conducta</a:t>
            </a:r>
            <a:endParaRPr sz="2350">
              <a:latin typeface="Carlito"/>
              <a:cs typeface="Carli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83492" y="3810759"/>
            <a:ext cx="1232535" cy="3829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50" spc="5" dirty="0">
                <a:latin typeface="Carlito"/>
                <a:cs typeface="Carlito"/>
              </a:rPr>
              <a:t>P</a:t>
            </a:r>
            <a:r>
              <a:rPr sz="2350" spc="-45" dirty="0">
                <a:latin typeface="Carlito"/>
                <a:cs typeface="Carlito"/>
              </a:rPr>
              <a:t>r</a:t>
            </a:r>
            <a:r>
              <a:rPr sz="2350" spc="-60" dirty="0">
                <a:latin typeface="Carlito"/>
                <a:cs typeface="Carlito"/>
              </a:rPr>
              <a:t>e</a:t>
            </a:r>
            <a:r>
              <a:rPr sz="2350" spc="5" dirty="0">
                <a:latin typeface="Carlito"/>
                <a:cs typeface="Carlito"/>
              </a:rPr>
              <a:t>g</a:t>
            </a:r>
            <a:r>
              <a:rPr sz="2350" spc="-10" dirty="0">
                <a:latin typeface="Carlito"/>
                <a:cs typeface="Carlito"/>
              </a:rPr>
              <a:t>u</a:t>
            </a:r>
            <a:r>
              <a:rPr sz="2350" spc="-20" dirty="0">
                <a:latin typeface="Carlito"/>
                <a:cs typeface="Carlito"/>
              </a:rPr>
              <a:t>n</a:t>
            </a:r>
            <a:r>
              <a:rPr sz="2350" spc="-5" dirty="0">
                <a:latin typeface="Carlito"/>
                <a:cs typeface="Carlito"/>
              </a:rPr>
              <a:t>t</a:t>
            </a:r>
            <a:r>
              <a:rPr sz="2350" spc="-20" dirty="0">
                <a:latin typeface="Carlito"/>
                <a:cs typeface="Carlito"/>
              </a:rPr>
              <a:t>a</a:t>
            </a:r>
            <a:r>
              <a:rPr sz="2350" spc="-5" dirty="0">
                <a:latin typeface="Carlito"/>
                <a:cs typeface="Carlito"/>
              </a:rPr>
              <a:t>s</a:t>
            </a:r>
            <a:endParaRPr sz="2350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64480" y="3810759"/>
            <a:ext cx="1158240" cy="3829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50" spc="-20" dirty="0">
                <a:latin typeface="Carlito"/>
                <a:cs typeface="Carlito"/>
              </a:rPr>
              <a:t>Intención</a:t>
            </a:r>
            <a:endParaRPr sz="2350">
              <a:latin typeface="Carlito"/>
              <a:cs typeface="Carli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64480" y="4603610"/>
            <a:ext cx="987425" cy="11753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50" spc="-5" dirty="0">
                <a:latin typeface="Carlito"/>
                <a:cs typeface="Carlito"/>
              </a:rPr>
              <a:t>O</a:t>
            </a:r>
            <a:r>
              <a:rPr sz="2350" spc="-10" dirty="0">
                <a:latin typeface="Carlito"/>
                <a:cs typeface="Carlito"/>
              </a:rPr>
              <a:t>p</a:t>
            </a:r>
            <a:r>
              <a:rPr sz="2350" dirty="0">
                <a:latin typeface="Carlito"/>
                <a:cs typeface="Carlito"/>
              </a:rPr>
              <a:t>i</a:t>
            </a:r>
            <a:r>
              <a:rPr sz="2350" spc="-10" dirty="0">
                <a:latin typeface="Carlito"/>
                <a:cs typeface="Carlito"/>
              </a:rPr>
              <a:t>n</a:t>
            </a:r>
            <a:r>
              <a:rPr sz="2350" dirty="0">
                <a:latin typeface="Carlito"/>
                <a:cs typeface="Carlito"/>
              </a:rPr>
              <a:t>i</a:t>
            </a:r>
            <a:r>
              <a:rPr sz="2350" spc="-20" dirty="0">
                <a:latin typeface="Carlito"/>
                <a:cs typeface="Carlito"/>
              </a:rPr>
              <a:t>ó</a:t>
            </a:r>
            <a:r>
              <a:rPr sz="2350" spc="-5" dirty="0">
                <a:latin typeface="Carlito"/>
                <a:cs typeface="Carlito"/>
              </a:rPr>
              <a:t>n</a:t>
            </a:r>
            <a:endParaRPr sz="2350">
              <a:latin typeface="Carlito"/>
              <a:cs typeface="Carlito"/>
            </a:endParaRPr>
          </a:p>
          <a:p>
            <a:pPr>
              <a:lnSpc>
                <a:spcPct val="100000"/>
              </a:lnSpc>
            </a:pPr>
            <a:endParaRPr sz="2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350" spc="-10" dirty="0">
                <a:latin typeface="Carlito"/>
                <a:cs typeface="Carlito"/>
              </a:rPr>
              <a:t>Actitud</a:t>
            </a:r>
            <a:endParaRPr sz="2350">
              <a:latin typeface="Carlito"/>
              <a:cs typeface="Carlit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927992" y="2238227"/>
            <a:ext cx="353060" cy="3517900"/>
          </a:xfrm>
          <a:custGeom>
            <a:avLst/>
            <a:gdLst/>
            <a:ahLst/>
            <a:cxnLst/>
            <a:rect l="l" t="t" r="r" b="b"/>
            <a:pathLst>
              <a:path w="353060" h="3517900">
                <a:moveTo>
                  <a:pt x="353043" y="3517779"/>
                </a:moveTo>
                <a:lnTo>
                  <a:pt x="284294" y="3511514"/>
                </a:lnTo>
                <a:lnTo>
                  <a:pt x="228172" y="3494428"/>
                </a:lnTo>
                <a:lnTo>
                  <a:pt x="190343" y="3469086"/>
                </a:lnTo>
                <a:lnTo>
                  <a:pt x="176474" y="3438052"/>
                </a:lnTo>
                <a:lnTo>
                  <a:pt x="176474" y="1835090"/>
                </a:lnTo>
                <a:lnTo>
                  <a:pt x="162607" y="1804059"/>
                </a:lnTo>
                <a:lnTo>
                  <a:pt x="124788" y="1778716"/>
                </a:lnTo>
                <a:lnTo>
                  <a:pt x="68694" y="1761629"/>
                </a:lnTo>
                <a:lnTo>
                  <a:pt x="0" y="1755363"/>
                </a:lnTo>
                <a:lnTo>
                  <a:pt x="68694" y="1749098"/>
                </a:lnTo>
                <a:lnTo>
                  <a:pt x="124788" y="1732012"/>
                </a:lnTo>
                <a:lnTo>
                  <a:pt x="162607" y="1706676"/>
                </a:lnTo>
                <a:lnTo>
                  <a:pt x="176474" y="1675655"/>
                </a:lnTo>
                <a:lnTo>
                  <a:pt x="176474" y="72658"/>
                </a:lnTo>
                <a:lnTo>
                  <a:pt x="190343" y="41645"/>
                </a:lnTo>
                <a:lnTo>
                  <a:pt x="228172" y="16307"/>
                </a:lnTo>
                <a:lnTo>
                  <a:pt x="281727" y="0"/>
                </a:lnTo>
              </a:path>
            </a:pathLst>
          </a:custGeom>
          <a:ln w="14131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4335" y="338328"/>
            <a:ext cx="5323332" cy="1216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14602" y="470738"/>
            <a:ext cx="462216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20" dirty="0"/>
              <a:t>Preguntas </a:t>
            </a:r>
            <a:r>
              <a:rPr sz="4300" spc="-5" dirty="0"/>
              <a:t>de</a:t>
            </a:r>
            <a:r>
              <a:rPr sz="4300" spc="-25" dirty="0"/>
              <a:t> </a:t>
            </a:r>
            <a:r>
              <a:rPr sz="4300" spc="-10" dirty="0"/>
              <a:t>hechos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1596897" y="1379656"/>
            <a:ext cx="7094220" cy="43091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700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spc="-15" dirty="0">
                <a:latin typeface="Carlito"/>
                <a:cs typeface="Carlito"/>
              </a:rPr>
              <a:t>Datos </a:t>
            </a:r>
            <a:r>
              <a:rPr sz="3200" spc="-10" dirty="0">
                <a:latin typeface="Carlito"/>
                <a:cs typeface="Carlito"/>
              </a:rPr>
              <a:t>relativos </a:t>
            </a:r>
            <a:r>
              <a:rPr sz="3200" dirty="0">
                <a:latin typeface="Carlito"/>
                <a:cs typeface="Carlito"/>
              </a:rPr>
              <a:t>a la</a:t>
            </a:r>
            <a:r>
              <a:rPr sz="3200" spc="-10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persona.</a:t>
            </a:r>
            <a:endParaRPr sz="3200">
              <a:latin typeface="Carlito"/>
              <a:cs typeface="Carlito"/>
            </a:endParaRPr>
          </a:p>
          <a:p>
            <a:pPr marL="295910" marR="1231265" indent="-283845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spc="-5" dirty="0">
                <a:latin typeface="Carlito"/>
                <a:cs typeface="Carlito"/>
              </a:rPr>
              <a:t>Se </a:t>
            </a:r>
            <a:r>
              <a:rPr sz="3200" spc="-15" dirty="0">
                <a:latin typeface="Carlito"/>
                <a:cs typeface="Carlito"/>
              </a:rPr>
              <a:t>pregunta </a:t>
            </a:r>
            <a:r>
              <a:rPr sz="3200" spc="-10" dirty="0">
                <a:latin typeface="Carlito"/>
                <a:cs typeface="Carlito"/>
              </a:rPr>
              <a:t>algo </a:t>
            </a:r>
            <a:r>
              <a:rPr sz="3200" spc="-5" dirty="0">
                <a:latin typeface="Carlito"/>
                <a:cs typeface="Carlito"/>
              </a:rPr>
              <a:t>tangible, </a:t>
            </a:r>
            <a:r>
              <a:rPr sz="3200" spc="-15" dirty="0">
                <a:latin typeface="Carlito"/>
                <a:cs typeface="Carlito"/>
              </a:rPr>
              <a:t>fácil </a:t>
            </a:r>
            <a:r>
              <a:rPr sz="3200" spc="-240" dirty="0">
                <a:latin typeface="Carlito"/>
                <a:cs typeface="Carlito"/>
              </a:rPr>
              <a:t>de  </a:t>
            </a:r>
            <a:r>
              <a:rPr sz="3200" spc="-5" dirty="0">
                <a:latin typeface="Carlito"/>
                <a:cs typeface="Carlito"/>
              </a:rPr>
              <a:t>responder </a:t>
            </a:r>
            <a:r>
              <a:rPr sz="3200" dirty="0">
                <a:latin typeface="Carlito"/>
                <a:cs typeface="Carlito"/>
              </a:rPr>
              <a:t>y</a:t>
            </a:r>
            <a:r>
              <a:rPr sz="3200" spc="-10" dirty="0">
                <a:latin typeface="Carlito"/>
                <a:cs typeface="Carlito"/>
              </a:rPr>
              <a:t> preciso.</a:t>
            </a:r>
            <a:endParaRPr sz="3200">
              <a:latin typeface="Carlito"/>
              <a:cs typeface="Carlito"/>
            </a:endParaRPr>
          </a:p>
          <a:p>
            <a:pPr marL="295910" marR="1325880" indent="-283845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spc="-5" dirty="0">
                <a:latin typeface="Carlito"/>
                <a:cs typeface="Carlito"/>
              </a:rPr>
              <a:t>Sinceridad </a:t>
            </a:r>
            <a:r>
              <a:rPr sz="3200" spc="-10" dirty="0">
                <a:latin typeface="Carlito"/>
                <a:cs typeface="Carlito"/>
              </a:rPr>
              <a:t>grande </a:t>
            </a:r>
            <a:r>
              <a:rPr sz="3200" dirty="0">
                <a:latin typeface="Carlito"/>
                <a:cs typeface="Carlito"/>
              </a:rPr>
              <a:t>y no </a:t>
            </a:r>
            <a:r>
              <a:rPr sz="3200" spc="-65" dirty="0">
                <a:latin typeface="Carlito"/>
                <a:cs typeface="Carlito"/>
              </a:rPr>
              <a:t>respuesta  </a:t>
            </a:r>
            <a:r>
              <a:rPr sz="3200" spc="-5" dirty="0">
                <a:latin typeface="Carlito"/>
                <a:cs typeface="Carlito"/>
              </a:rPr>
              <a:t>reducida.</a:t>
            </a:r>
            <a:endParaRPr sz="3200">
              <a:latin typeface="Carlito"/>
              <a:cs typeface="Carlito"/>
            </a:endParaRPr>
          </a:p>
          <a:p>
            <a:pPr marL="295910" indent="-283845">
              <a:lnSpc>
                <a:spcPct val="100000"/>
              </a:lnSpc>
              <a:spcBef>
                <a:spcPts val="605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spc="-5" dirty="0">
                <a:latin typeface="Carlito"/>
                <a:cs typeface="Carlito"/>
              </a:rPr>
              <a:t>Ejemplos: </a:t>
            </a:r>
            <a:r>
              <a:rPr sz="3200" dirty="0">
                <a:latin typeface="Carlito"/>
                <a:cs typeface="Carlito"/>
              </a:rPr>
              <a:t>edad, </a:t>
            </a:r>
            <a:r>
              <a:rPr sz="3200" spc="-20" dirty="0">
                <a:latin typeface="Carlito"/>
                <a:cs typeface="Carlito"/>
              </a:rPr>
              <a:t>profesión, </a:t>
            </a:r>
            <a:r>
              <a:rPr sz="3200" spc="-10" dirty="0">
                <a:latin typeface="Carlito"/>
                <a:cs typeface="Carlito"/>
              </a:rPr>
              <a:t>domicilio,</a:t>
            </a:r>
            <a:r>
              <a:rPr sz="3200" spc="50" dirty="0">
                <a:latin typeface="Carlito"/>
                <a:cs typeface="Carlito"/>
              </a:rPr>
              <a:t> </a:t>
            </a:r>
            <a:r>
              <a:rPr sz="3200" spc="-95" dirty="0">
                <a:latin typeface="Carlito"/>
                <a:cs typeface="Carlito"/>
              </a:rPr>
              <a:t>etc.</a:t>
            </a:r>
            <a:endParaRPr sz="3200">
              <a:latin typeface="Carlito"/>
              <a:cs typeface="Carlito"/>
            </a:endParaRPr>
          </a:p>
          <a:p>
            <a:pPr marL="295910" marR="266700" indent="-283845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spc="-5" dirty="0">
                <a:latin typeface="Carlito"/>
                <a:cs typeface="Carlito"/>
              </a:rPr>
              <a:t>Excepciones: ingreso </a:t>
            </a:r>
            <a:r>
              <a:rPr sz="3200" dirty="0">
                <a:latin typeface="Carlito"/>
                <a:cs typeface="Carlito"/>
              </a:rPr>
              <a:t>o </a:t>
            </a:r>
            <a:r>
              <a:rPr sz="3200" spc="-10" dirty="0">
                <a:latin typeface="Carlito"/>
                <a:cs typeface="Carlito"/>
              </a:rPr>
              <a:t>salario, </a:t>
            </a:r>
            <a:r>
              <a:rPr sz="3200" spc="-65" dirty="0">
                <a:latin typeface="Carlito"/>
                <a:cs typeface="Carlito"/>
              </a:rPr>
              <a:t>tenencia  </a:t>
            </a:r>
            <a:r>
              <a:rPr sz="3200" dirty="0">
                <a:latin typeface="Carlito"/>
                <a:cs typeface="Carlito"/>
              </a:rPr>
              <a:t>de </a:t>
            </a:r>
            <a:r>
              <a:rPr sz="3200" spc="-20" dirty="0">
                <a:latin typeface="Carlito"/>
                <a:cs typeface="Carlito"/>
              </a:rPr>
              <a:t>artefactos,</a:t>
            </a:r>
            <a:r>
              <a:rPr sz="3200" spc="-15" dirty="0">
                <a:latin typeface="Carlito"/>
                <a:cs typeface="Carlito"/>
              </a:rPr>
              <a:t> etc.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956422" y="5685947"/>
            <a:ext cx="1152131" cy="11263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4335" y="338328"/>
            <a:ext cx="7746492" cy="1216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14602" y="470738"/>
            <a:ext cx="704723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20" dirty="0"/>
              <a:t>Preguntas </a:t>
            </a:r>
            <a:r>
              <a:rPr sz="4300" spc="-5" dirty="0"/>
              <a:t>de acción o</a:t>
            </a:r>
            <a:r>
              <a:rPr sz="4300" spc="20" dirty="0"/>
              <a:t> </a:t>
            </a:r>
            <a:r>
              <a:rPr sz="4300" spc="-20" dirty="0"/>
              <a:t>conducta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1596897" y="1560631"/>
            <a:ext cx="6972934" cy="490474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700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spc="-15" dirty="0">
                <a:latin typeface="Carlito"/>
                <a:cs typeface="Carlito"/>
              </a:rPr>
              <a:t>Pregunta </a:t>
            </a:r>
            <a:r>
              <a:rPr sz="3200" spc="-5" dirty="0">
                <a:latin typeface="Carlito"/>
                <a:cs typeface="Carlito"/>
              </a:rPr>
              <a:t>si </a:t>
            </a:r>
            <a:r>
              <a:rPr sz="3200" dirty="0">
                <a:latin typeface="Carlito"/>
                <a:cs typeface="Carlito"/>
              </a:rPr>
              <a:t>ha </a:t>
            </a:r>
            <a:r>
              <a:rPr sz="3200" spc="-10" dirty="0">
                <a:latin typeface="Carlito"/>
                <a:cs typeface="Carlito"/>
              </a:rPr>
              <a:t>realizado </a:t>
            </a:r>
            <a:r>
              <a:rPr sz="3200" dirty="0">
                <a:latin typeface="Carlito"/>
                <a:cs typeface="Carlito"/>
              </a:rPr>
              <a:t>o </a:t>
            </a:r>
            <a:r>
              <a:rPr sz="3200" spc="-5" dirty="0">
                <a:latin typeface="Carlito"/>
                <a:cs typeface="Carlito"/>
              </a:rPr>
              <a:t>no </a:t>
            </a:r>
            <a:r>
              <a:rPr sz="3200" dirty="0">
                <a:latin typeface="Carlito"/>
                <a:cs typeface="Carlito"/>
              </a:rPr>
              <a:t>algún</a:t>
            </a:r>
            <a:r>
              <a:rPr sz="3200" spc="-5" dirty="0">
                <a:latin typeface="Carlito"/>
                <a:cs typeface="Carlito"/>
              </a:rPr>
              <a:t> </a:t>
            </a:r>
            <a:r>
              <a:rPr sz="3200" spc="-80" dirty="0">
                <a:latin typeface="Carlito"/>
                <a:cs typeface="Carlito"/>
              </a:rPr>
              <a:t>acto.</a:t>
            </a:r>
            <a:endParaRPr sz="3200">
              <a:latin typeface="Carlito"/>
              <a:cs typeface="Carlito"/>
            </a:endParaRPr>
          </a:p>
          <a:p>
            <a:pPr marL="295910" marR="356870" indent="-283845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spc="-15" dirty="0">
                <a:latin typeface="Carlito"/>
                <a:cs typeface="Carlito"/>
              </a:rPr>
              <a:t>Respuestas </a:t>
            </a:r>
            <a:r>
              <a:rPr sz="3200" spc="-5" dirty="0">
                <a:latin typeface="Carlito"/>
                <a:cs typeface="Carlito"/>
              </a:rPr>
              <a:t>precisas (se </a:t>
            </a:r>
            <a:r>
              <a:rPr sz="3200" spc="-15" dirty="0">
                <a:latin typeface="Carlito"/>
                <a:cs typeface="Carlito"/>
              </a:rPr>
              <a:t>refieren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114" dirty="0">
                <a:latin typeface="Carlito"/>
                <a:cs typeface="Carlito"/>
              </a:rPr>
              <a:t>algo  </a:t>
            </a:r>
            <a:r>
              <a:rPr sz="3200" spc="-15" dirty="0">
                <a:latin typeface="Carlito"/>
                <a:cs typeface="Carlito"/>
              </a:rPr>
              <a:t>concreto).</a:t>
            </a:r>
            <a:endParaRPr sz="3200">
              <a:latin typeface="Carlito"/>
              <a:cs typeface="Carlito"/>
            </a:endParaRPr>
          </a:p>
          <a:p>
            <a:pPr marL="295910" indent="-283845">
              <a:lnSpc>
                <a:spcPct val="100000"/>
              </a:lnSpc>
              <a:spcBef>
                <a:spcPts val="605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spc="-5" dirty="0">
                <a:latin typeface="Carlito"/>
                <a:cs typeface="Carlito"/>
              </a:rPr>
              <a:t>Ejemplo:</a:t>
            </a:r>
            <a:endParaRPr sz="3200">
              <a:latin typeface="Carlito"/>
              <a:cs typeface="Carlito"/>
            </a:endParaRPr>
          </a:p>
          <a:p>
            <a:pPr marL="570230" lvl="1" indent="-238125">
              <a:lnSpc>
                <a:spcPct val="100000"/>
              </a:lnSpc>
              <a:spcBef>
                <a:spcPts val="605"/>
              </a:spcBef>
              <a:buClr>
                <a:srgbClr val="93B6D2"/>
              </a:buClr>
              <a:buFont typeface="Verdana"/>
              <a:buChar char="◦"/>
              <a:tabLst>
                <a:tab pos="570865" algn="l"/>
              </a:tabLst>
            </a:pPr>
            <a:r>
              <a:rPr sz="3000" spc="-60" dirty="0">
                <a:latin typeface="Carlito"/>
                <a:cs typeface="Carlito"/>
              </a:rPr>
              <a:t>¿Votó </a:t>
            </a:r>
            <a:r>
              <a:rPr sz="3000" spc="-20" dirty="0">
                <a:latin typeface="Carlito"/>
                <a:cs typeface="Carlito"/>
              </a:rPr>
              <a:t>usted </a:t>
            </a:r>
            <a:r>
              <a:rPr sz="3000" spc="-10" dirty="0">
                <a:latin typeface="Carlito"/>
                <a:cs typeface="Carlito"/>
              </a:rPr>
              <a:t>en </a:t>
            </a:r>
            <a:r>
              <a:rPr sz="3000" dirty="0">
                <a:latin typeface="Carlito"/>
                <a:cs typeface="Carlito"/>
              </a:rPr>
              <a:t>las </a:t>
            </a:r>
            <a:r>
              <a:rPr sz="3000" spc="-5" dirty="0">
                <a:latin typeface="Carlito"/>
                <a:cs typeface="Carlito"/>
              </a:rPr>
              <a:t>pasadas</a:t>
            </a:r>
            <a:r>
              <a:rPr sz="3000" spc="25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elecciones?</a:t>
            </a:r>
            <a:endParaRPr sz="3000">
              <a:latin typeface="Carlito"/>
              <a:cs typeface="Carlito"/>
            </a:endParaRPr>
          </a:p>
          <a:p>
            <a:pPr marL="570230" lvl="1" indent="-238125">
              <a:lnSpc>
                <a:spcPct val="100000"/>
              </a:lnSpc>
              <a:spcBef>
                <a:spcPts val="605"/>
              </a:spcBef>
              <a:buClr>
                <a:srgbClr val="93B6D2"/>
              </a:buClr>
              <a:buFont typeface="Verdana"/>
              <a:buChar char="◦"/>
              <a:tabLst>
                <a:tab pos="570865" algn="l"/>
              </a:tabLst>
            </a:pPr>
            <a:r>
              <a:rPr sz="3000" spc="-20" dirty="0">
                <a:latin typeface="Carlito"/>
                <a:cs typeface="Carlito"/>
              </a:rPr>
              <a:t>¿Por </a:t>
            </a:r>
            <a:r>
              <a:rPr sz="3000" spc="-5" dirty="0">
                <a:latin typeface="Carlito"/>
                <a:cs typeface="Carlito"/>
              </a:rPr>
              <a:t>quién </a:t>
            </a:r>
            <a:r>
              <a:rPr sz="3000" spc="-15" dirty="0">
                <a:latin typeface="Carlito"/>
                <a:cs typeface="Carlito"/>
              </a:rPr>
              <a:t>votó?</a:t>
            </a:r>
            <a:endParaRPr sz="3000">
              <a:latin typeface="Carlito"/>
              <a:cs typeface="Carlito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lr>
                <a:srgbClr val="93B6D2"/>
              </a:buClr>
              <a:buFont typeface="Verdana"/>
              <a:buChar char="◦"/>
            </a:pPr>
            <a:endParaRPr sz="4100">
              <a:latin typeface="Carlito"/>
              <a:cs typeface="Carlito"/>
            </a:endParaRPr>
          </a:p>
          <a:p>
            <a:pPr marL="570230" lvl="1" indent="-238125">
              <a:lnSpc>
                <a:spcPct val="100000"/>
              </a:lnSpc>
              <a:buClr>
                <a:srgbClr val="93B6D2"/>
              </a:buClr>
              <a:buFont typeface="Verdana"/>
              <a:buChar char="◦"/>
              <a:tabLst>
                <a:tab pos="570865" algn="l"/>
              </a:tabLst>
            </a:pPr>
            <a:r>
              <a:rPr sz="3000" spc="-55" dirty="0">
                <a:latin typeface="Carlito"/>
                <a:cs typeface="Carlito"/>
              </a:rPr>
              <a:t>Temas </a:t>
            </a:r>
            <a:r>
              <a:rPr sz="3000" spc="-10" dirty="0">
                <a:latin typeface="Carlito"/>
                <a:cs typeface="Carlito"/>
              </a:rPr>
              <a:t>delicados: religión, política,</a:t>
            </a:r>
            <a:r>
              <a:rPr sz="3000" spc="70" dirty="0">
                <a:latin typeface="Carlito"/>
                <a:cs typeface="Carlito"/>
              </a:rPr>
              <a:t> </a:t>
            </a:r>
            <a:r>
              <a:rPr sz="3000" spc="-15" dirty="0">
                <a:latin typeface="Carlito"/>
                <a:cs typeface="Carlito"/>
              </a:rPr>
              <a:t>etc.</a:t>
            </a:r>
            <a:endParaRPr sz="3000">
              <a:latin typeface="Carlito"/>
              <a:cs typeface="Carlito"/>
            </a:endParaRPr>
          </a:p>
          <a:p>
            <a:pPr marL="570230" lvl="1" indent="-238125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Font typeface="Verdana"/>
              <a:buChar char="◦"/>
              <a:tabLst>
                <a:tab pos="570865" algn="l"/>
              </a:tabLst>
            </a:pPr>
            <a:r>
              <a:rPr sz="3000" spc="-10" dirty="0">
                <a:latin typeface="Carlito"/>
                <a:cs typeface="Carlito"/>
              </a:rPr>
              <a:t>Problemas </a:t>
            </a:r>
            <a:r>
              <a:rPr sz="3000" spc="-5" dirty="0">
                <a:latin typeface="Carlito"/>
                <a:cs typeface="Carlito"/>
              </a:rPr>
              <a:t>de </a:t>
            </a:r>
            <a:r>
              <a:rPr sz="3000" spc="-15" dirty="0">
                <a:latin typeface="Carlito"/>
                <a:cs typeface="Carlito"/>
              </a:rPr>
              <a:t>recuerdo (eventos</a:t>
            </a:r>
            <a:r>
              <a:rPr sz="3000" spc="-55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lejanos)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76063" y="4324565"/>
            <a:ext cx="1152131" cy="10211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4335" y="338328"/>
            <a:ext cx="5818632" cy="1216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14602" y="470738"/>
            <a:ext cx="511937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20" dirty="0"/>
              <a:t>Preguntas </a:t>
            </a:r>
            <a:r>
              <a:rPr sz="4300" spc="-5" dirty="0"/>
              <a:t>de</a:t>
            </a:r>
            <a:r>
              <a:rPr sz="4300" spc="5" dirty="0"/>
              <a:t> </a:t>
            </a:r>
            <a:r>
              <a:rPr sz="4300" spc="-20" dirty="0"/>
              <a:t>intención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1596897" y="1455242"/>
            <a:ext cx="7247890" cy="49326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756920" indent="-283845">
              <a:lnSpc>
                <a:spcPct val="100000"/>
              </a:lnSpc>
              <a:spcBef>
                <a:spcPts val="105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dirty="0">
                <a:latin typeface="Carlito"/>
                <a:cs typeface="Carlito"/>
              </a:rPr>
              <a:t>Cómo actuaría </a:t>
            </a:r>
            <a:r>
              <a:rPr sz="3200" spc="-5" dirty="0">
                <a:latin typeface="Carlito"/>
                <a:cs typeface="Carlito"/>
              </a:rPr>
              <a:t>si </a:t>
            </a:r>
            <a:r>
              <a:rPr sz="3200" spc="-10" dirty="0">
                <a:latin typeface="Carlito"/>
                <a:cs typeface="Carlito"/>
              </a:rPr>
              <a:t>eventualmente </a:t>
            </a:r>
            <a:r>
              <a:rPr sz="3200" dirty="0">
                <a:latin typeface="Carlito"/>
                <a:cs typeface="Carlito"/>
              </a:rPr>
              <a:t>se </a:t>
            </a:r>
            <a:r>
              <a:rPr sz="3200" spc="-220" dirty="0">
                <a:latin typeface="Carlito"/>
                <a:cs typeface="Carlito"/>
              </a:rPr>
              <a:t>le  </a:t>
            </a:r>
            <a:r>
              <a:rPr sz="3200" spc="-20" dirty="0">
                <a:latin typeface="Carlito"/>
                <a:cs typeface="Carlito"/>
              </a:rPr>
              <a:t>presentara </a:t>
            </a:r>
            <a:r>
              <a:rPr sz="3200" dirty="0">
                <a:latin typeface="Carlito"/>
                <a:cs typeface="Carlito"/>
              </a:rPr>
              <a:t>la</a:t>
            </a:r>
            <a:r>
              <a:rPr sz="3200" spc="-5" dirty="0">
                <a:latin typeface="Carlito"/>
                <a:cs typeface="Carlito"/>
              </a:rPr>
              <a:t> ocasión.</a:t>
            </a:r>
            <a:endParaRPr sz="3200">
              <a:latin typeface="Carlito"/>
              <a:cs typeface="Carlito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spc="-20" dirty="0">
                <a:latin typeface="Carlito"/>
                <a:cs typeface="Carlito"/>
              </a:rPr>
              <a:t>Respuesta </a:t>
            </a:r>
            <a:r>
              <a:rPr sz="3200" spc="-5" dirty="0">
                <a:latin typeface="Carlito"/>
                <a:cs typeface="Carlito"/>
              </a:rPr>
              <a:t>difícil (situación</a:t>
            </a:r>
            <a:r>
              <a:rPr sz="3200" spc="6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hipotética).</a:t>
            </a:r>
            <a:endParaRPr sz="3200">
              <a:latin typeface="Carlito"/>
              <a:cs typeface="Carlito"/>
            </a:endParaRPr>
          </a:p>
          <a:p>
            <a:pPr marL="295910" marR="303530" indent="-283845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dirty="0">
                <a:latin typeface="Carlito"/>
                <a:cs typeface="Carlito"/>
              </a:rPr>
              <a:t>No es </a:t>
            </a:r>
            <a:r>
              <a:rPr sz="3200" spc="-5" dirty="0">
                <a:latin typeface="Carlito"/>
                <a:cs typeface="Carlito"/>
              </a:rPr>
              <a:t>una indicación </a:t>
            </a:r>
            <a:r>
              <a:rPr sz="3200" spc="-15" dirty="0">
                <a:latin typeface="Carlito"/>
                <a:cs typeface="Carlito"/>
              </a:rPr>
              <a:t>segura </a:t>
            </a:r>
            <a:r>
              <a:rPr sz="3200" dirty="0">
                <a:latin typeface="Carlito"/>
                <a:cs typeface="Carlito"/>
              </a:rPr>
              <a:t>de la </a:t>
            </a:r>
            <a:r>
              <a:rPr sz="3200" spc="-75" dirty="0">
                <a:latin typeface="Carlito"/>
                <a:cs typeface="Carlito"/>
              </a:rPr>
              <a:t>acción  </a:t>
            </a:r>
            <a:r>
              <a:rPr sz="3200" spc="-5" dirty="0">
                <a:latin typeface="Carlito"/>
                <a:cs typeface="Carlito"/>
              </a:rPr>
              <a:t>que </a:t>
            </a:r>
            <a:r>
              <a:rPr sz="3200" spc="-10" dirty="0">
                <a:latin typeface="Carlito"/>
                <a:cs typeface="Carlito"/>
              </a:rPr>
              <a:t>realizaría si tuviera </a:t>
            </a:r>
            <a:r>
              <a:rPr sz="3200" spc="-5" dirty="0">
                <a:latin typeface="Carlito"/>
                <a:cs typeface="Carlito"/>
              </a:rPr>
              <a:t>que</a:t>
            </a:r>
            <a:r>
              <a:rPr sz="3200" spc="30" dirty="0">
                <a:latin typeface="Carlito"/>
                <a:cs typeface="Carlito"/>
              </a:rPr>
              <a:t> </a:t>
            </a:r>
            <a:r>
              <a:rPr sz="3200" spc="-50" dirty="0">
                <a:latin typeface="Carlito"/>
                <a:cs typeface="Carlito"/>
              </a:rPr>
              <a:t>actuar.</a:t>
            </a:r>
            <a:endParaRPr sz="3200">
              <a:latin typeface="Carlito"/>
              <a:cs typeface="Carlito"/>
            </a:endParaRPr>
          </a:p>
          <a:p>
            <a:pPr marL="295910" indent="-283845">
              <a:lnSpc>
                <a:spcPct val="100000"/>
              </a:lnSpc>
              <a:spcBef>
                <a:spcPts val="220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spc="-5" dirty="0">
                <a:latin typeface="Carlito"/>
                <a:cs typeface="Carlito"/>
              </a:rPr>
              <a:t>Ejemplos:</a:t>
            </a:r>
            <a:endParaRPr sz="3200">
              <a:latin typeface="Carlito"/>
              <a:cs typeface="Carlito"/>
            </a:endParaRPr>
          </a:p>
          <a:p>
            <a:pPr marL="570230" marR="294640" lvl="1" indent="-238125">
              <a:lnSpc>
                <a:spcPts val="3240"/>
              </a:lnSpc>
              <a:spcBef>
                <a:spcPts val="655"/>
              </a:spcBef>
              <a:buClr>
                <a:srgbClr val="93B6D2"/>
              </a:buClr>
              <a:buFont typeface="Verdana"/>
              <a:buChar char="◦"/>
              <a:tabLst>
                <a:tab pos="570865" algn="l"/>
              </a:tabLst>
            </a:pPr>
            <a:r>
              <a:rPr sz="3000" spc="-20" dirty="0">
                <a:latin typeface="Carlito"/>
                <a:cs typeface="Carlito"/>
              </a:rPr>
              <a:t>¿Por </a:t>
            </a:r>
            <a:r>
              <a:rPr sz="3000" spc="-10" dirty="0">
                <a:latin typeface="Carlito"/>
                <a:cs typeface="Carlito"/>
              </a:rPr>
              <a:t>quién votaría </a:t>
            </a:r>
            <a:r>
              <a:rPr sz="3000" spc="-20" dirty="0">
                <a:latin typeface="Carlito"/>
                <a:cs typeface="Carlito"/>
              </a:rPr>
              <a:t>usted para </a:t>
            </a:r>
            <a:r>
              <a:rPr sz="3000" spc="-15" dirty="0">
                <a:latin typeface="Carlito"/>
                <a:cs typeface="Carlito"/>
              </a:rPr>
              <a:t>presidente,  </a:t>
            </a:r>
            <a:r>
              <a:rPr sz="3000" spc="-5" dirty="0">
                <a:latin typeface="Carlito"/>
                <a:cs typeface="Carlito"/>
              </a:rPr>
              <a:t>si </a:t>
            </a:r>
            <a:r>
              <a:rPr sz="3000" dirty="0">
                <a:latin typeface="Carlito"/>
                <a:cs typeface="Carlito"/>
              </a:rPr>
              <a:t>las </a:t>
            </a:r>
            <a:r>
              <a:rPr sz="3000" spc="-5" dirty="0">
                <a:latin typeface="Carlito"/>
                <a:cs typeface="Carlito"/>
              </a:rPr>
              <a:t>elecciones </a:t>
            </a:r>
            <a:r>
              <a:rPr sz="3000" spc="-15" dirty="0">
                <a:latin typeface="Carlito"/>
                <a:cs typeface="Carlito"/>
              </a:rPr>
              <a:t>fueran</a:t>
            </a:r>
            <a:r>
              <a:rPr sz="3000" spc="-40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hoy?</a:t>
            </a:r>
            <a:endParaRPr sz="3000">
              <a:latin typeface="Carlito"/>
              <a:cs typeface="Carlito"/>
            </a:endParaRPr>
          </a:p>
          <a:p>
            <a:pPr marL="570230" marR="5080" lvl="1" indent="-238125">
              <a:lnSpc>
                <a:spcPts val="3240"/>
              </a:lnSpc>
              <a:spcBef>
                <a:spcPts val="605"/>
              </a:spcBef>
              <a:buClr>
                <a:srgbClr val="93B6D2"/>
              </a:buClr>
              <a:buFont typeface="Verdana"/>
              <a:buChar char="◦"/>
              <a:tabLst>
                <a:tab pos="570865" algn="l"/>
              </a:tabLst>
            </a:pPr>
            <a:r>
              <a:rPr sz="3000" spc="-5" dirty="0">
                <a:latin typeface="Carlito"/>
                <a:cs typeface="Carlito"/>
              </a:rPr>
              <a:t>¿Qué </a:t>
            </a:r>
            <a:r>
              <a:rPr sz="3000" spc="-25" dirty="0">
                <a:latin typeface="Carlito"/>
                <a:cs typeface="Carlito"/>
              </a:rPr>
              <a:t>carrera </a:t>
            </a:r>
            <a:r>
              <a:rPr sz="3000" spc="-10" dirty="0">
                <a:latin typeface="Carlito"/>
                <a:cs typeface="Carlito"/>
              </a:rPr>
              <a:t>piensa seguir </a:t>
            </a:r>
            <a:r>
              <a:rPr sz="3000" dirty="0">
                <a:latin typeface="Carlito"/>
                <a:cs typeface="Carlito"/>
              </a:rPr>
              <a:t>cuando </a:t>
            </a:r>
            <a:r>
              <a:rPr sz="3000" spc="-10" dirty="0">
                <a:latin typeface="Carlito"/>
                <a:cs typeface="Carlito"/>
              </a:rPr>
              <a:t>termine  </a:t>
            </a:r>
            <a:r>
              <a:rPr sz="3000" dirty="0">
                <a:latin typeface="Carlito"/>
                <a:cs typeface="Carlito"/>
              </a:rPr>
              <a:t>la</a:t>
            </a:r>
            <a:r>
              <a:rPr sz="3000" spc="-5" dirty="0">
                <a:latin typeface="Carlito"/>
                <a:cs typeface="Carlito"/>
              </a:rPr>
              <a:t> secundaria?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150986" y="5877266"/>
            <a:ext cx="957491" cy="9574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4335" y="338328"/>
            <a:ext cx="5433060" cy="1216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14602" y="470738"/>
            <a:ext cx="473329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20" dirty="0"/>
              <a:t>Preguntas </a:t>
            </a:r>
            <a:r>
              <a:rPr sz="4300" spc="-5" dirty="0"/>
              <a:t>de </a:t>
            </a:r>
            <a:r>
              <a:rPr sz="4300" spc="-10" dirty="0"/>
              <a:t>opinión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1596897" y="1564386"/>
            <a:ext cx="7045325" cy="42189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5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dirty="0">
                <a:latin typeface="Carlito"/>
                <a:cs typeface="Carlito"/>
              </a:rPr>
              <a:t>Piden al individuo </a:t>
            </a:r>
            <a:r>
              <a:rPr sz="3200" spc="-5" dirty="0">
                <a:latin typeface="Carlito"/>
                <a:cs typeface="Carlito"/>
              </a:rPr>
              <a:t>que </a:t>
            </a:r>
            <a:r>
              <a:rPr sz="3200" spc="-20" dirty="0">
                <a:latin typeface="Carlito"/>
                <a:cs typeface="Carlito"/>
              </a:rPr>
              <a:t>diga </a:t>
            </a:r>
            <a:r>
              <a:rPr sz="3200" dirty="0">
                <a:latin typeface="Carlito"/>
                <a:cs typeface="Carlito"/>
              </a:rPr>
              <a:t>lo </a:t>
            </a:r>
            <a:r>
              <a:rPr sz="3200" spc="-5" dirty="0">
                <a:latin typeface="Carlito"/>
                <a:cs typeface="Carlito"/>
              </a:rPr>
              <a:t>que </a:t>
            </a:r>
            <a:r>
              <a:rPr sz="3200" spc="-80" dirty="0">
                <a:latin typeface="Carlito"/>
                <a:cs typeface="Carlito"/>
              </a:rPr>
              <a:t>piensa  </a:t>
            </a:r>
            <a:r>
              <a:rPr sz="3200" dirty="0">
                <a:latin typeface="Carlito"/>
                <a:cs typeface="Carlito"/>
              </a:rPr>
              <a:t>o</a:t>
            </a:r>
            <a:r>
              <a:rPr sz="3200" spc="-10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siente.</a:t>
            </a:r>
            <a:endParaRPr sz="3200">
              <a:latin typeface="Carlito"/>
              <a:cs typeface="Carlito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spc="-20" dirty="0">
                <a:latin typeface="Carlito"/>
                <a:cs typeface="Carlito"/>
              </a:rPr>
              <a:t>Respuesta </a:t>
            </a:r>
            <a:r>
              <a:rPr sz="3200" dirty="0">
                <a:latin typeface="Carlito"/>
                <a:cs typeface="Carlito"/>
              </a:rPr>
              <a:t>más </a:t>
            </a:r>
            <a:r>
              <a:rPr sz="3200" spc="-5" dirty="0">
                <a:latin typeface="Carlito"/>
                <a:cs typeface="Carlito"/>
              </a:rPr>
              <a:t>difícil </a:t>
            </a:r>
            <a:r>
              <a:rPr sz="3200" dirty="0">
                <a:latin typeface="Carlito"/>
                <a:cs typeface="Carlito"/>
              </a:rPr>
              <a:t>y menos</a:t>
            </a:r>
            <a:r>
              <a:rPr sz="3200" spc="2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precisa.</a:t>
            </a:r>
            <a:endParaRPr sz="3200">
              <a:latin typeface="Carlito"/>
              <a:cs typeface="Carlito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spc="-15" dirty="0">
                <a:latin typeface="Carlito"/>
                <a:cs typeface="Carlito"/>
              </a:rPr>
              <a:t>Alto </a:t>
            </a:r>
            <a:r>
              <a:rPr sz="3200" spc="-5" dirty="0">
                <a:latin typeface="Carlito"/>
                <a:cs typeface="Carlito"/>
              </a:rPr>
              <a:t>riesgo de </a:t>
            </a:r>
            <a:r>
              <a:rPr sz="3200" spc="-25" dirty="0">
                <a:latin typeface="Carlito"/>
                <a:cs typeface="Carlito"/>
              </a:rPr>
              <a:t>falta </a:t>
            </a:r>
            <a:r>
              <a:rPr sz="3200" spc="-5" dirty="0">
                <a:latin typeface="Carlito"/>
                <a:cs typeface="Carlito"/>
              </a:rPr>
              <a:t>de</a:t>
            </a:r>
            <a:r>
              <a:rPr sz="3200" spc="5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sinceridad.</a:t>
            </a:r>
            <a:endParaRPr sz="3200">
              <a:latin typeface="Carlito"/>
              <a:cs typeface="Carlito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spc="-5" dirty="0">
                <a:latin typeface="Carlito"/>
                <a:cs typeface="Carlito"/>
              </a:rPr>
              <a:t>Ejemplos:</a:t>
            </a:r>
            <a:endParaRPr sz="3200">
              <a:latin typeface="Carlito"/>
              <a:cs typeface="Carlito"/>
            </a:endParaRPr>
          </a:p>
          <a:p>
            <a:pPr marL="570230" marR="177165" lvl="1" indent="-238125">
              <a:lnSpc>
                <a:spcPct val="100000"/>
              </a:lnSpc>
              <a:spcBef>
                <a:spcPts val="610"/>
              </a:spcBef>
              <a:buClr>
                <a:srgbClr val="93B6D2"/>
              </a:buClr>
              <a:buFont typeface="Verdana"/>
              <a:buChar char="◦"/>
              <a:tabLst>
                <a:tab pos="570865" algn="l"/>
              </a:tabLst>
            </a:pPr>
            <a:r>
              <a:rPr sz="3000" spc="-5" dirty="0">
                <a:latin typeface="Carlito"/>
                <a:cs typeface="Carlito"/>
              </a:rPr>
              <a:t>¿Cuál </a:t>
            </a:r>
            <a:r>
              <a:rPr sz="3000" dirty="0">
                <a:latin typeface="Carlito"/>
                <a:cs typeface="Carlito"/>
              </a:rPr>
              <a:t>es, </a:t>
            </a:r>
            <a:r>
              <a:rPr sz="3000" spc="-10" dirty="0">
                <a:latin typeface="Carlito"/>
                <a:cs typeface="Carlito"/>
              </a:rPr>
              <a:t>en </a:t>
            </a:r>
            <a:r>
              <a:rPr sz="3000" spc="-5" dirty="0">
                <a:latin typeface="Carlito"/>
                <a:cs typeface="Carlito"/>
              </a:rPr>
              <a:t>su opinión, </a:t>
            </a:r>
            <a:r>
              <a:rPr sz="3000" dirty="0">
                <a:latin typeface="Carlito"/>
                <a:cs typeface="Carlito"/>
              </a:rPr>
              <a:t>el </a:t>
            </a:r>
            <a:r>
              <a:rPr sz="3000" spc="-15" dirty="0">
                <a:latin typeface="Carlito"/>
                <a:cs typeface="Carlito"/>
              </a:rPr>
              <a:t>candidato </a:t>
            </a:r>
            <a:r>
              <a:rPr sz="3000" spc="-5" dirty="0">
                <a:latin typeface="Carlito"/>
                <a:cs typeface="Carlito"/>
              </a:rPr>
              <a:t>que  haría un </a:t>
            </a:r>
            <a:r>
              <a:rPr sz="3000" dirty="0">
                <a:latin typeface="Carlito"/>
                <a:cs typeface="Carlito"/>
              </a:rPr>
              <a:t>mejor</a:t>
            </a:r>
            <a:r>
              <a:rPr sz="3000" spc="-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gobierno?</a:t>
            </a:r>
            <a:endParaRPr sz="3000">
              <a:latin typeface="Carlito"/>
              <a:cs typeface="Carlito"/>
            </a:endParaRPr>
          </a:p>
          <a:p>
            <a:pPr marL="570230" lvl="1" indent="-238125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Font typeface="Verdana"/>
              <a:buChar char="◦"/>
              <a:tabLst>
                <a:tab pos="570865" algn="l"/>
              </a:tabLst>
            </a:pPr>
            <a:r>
              <a:rPr sz="3000" spc="-5" dirty="0">
                <a:latin typeface="Carlito"/>
                <a:cs typeface="Carlito"/>
              </a:rPr>
              <a:t>¿Qué opina de </a:t>
            </a:r>
            <a:r>
              <a:rPr sz="3000" spc="-10" dirty="0">
                <a:latin typeface="Carlito"/>
                <a:cs typeface="Carlito"/>
              </a:rPr>
              <a:t>la </a:t>
            </a:r>
            <a:r>
              <a:rPr sz="3000" spc="-15" dirty="0">
                <a:latin typeface="Carlito"/>
                <a:cs typeface="Carlito"/>
              </a:rPr>
              <a:t>fertilización </a:t>
            </a:r>
            <a:r>
              <a:rPr sz="3000" spc="-10" dirty="0">
                <a:latin typeface="Carlito"/>
                <a:cs typeface="Carlito"/>
              </a:rPr>
              <a:t>in</a:t>
            </a:r>
            <a:r>
              <a:rPr sz="3000" spc="-20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vitro?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028431" y="5302731"/>
            <a:ext cx="1080122" cy="15251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4335" y="338328"/>
            <a:ext cx="7274052" cy="1216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14602" y="470738"/>
            <a:ext cx="657415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20" dirty="0"/>
              <a:t>Preguntas </a:t>
            </a:r>
            <a:r>
              <a:rPr sz="4300" spc="-5" dirty="0"/>
              <a:t>de actitud tipo</a:t>
            </a:r>
            <a:r>
              <a:rPr sz="4300" spc="30" dirty="0"/>
              <a:t> </a:t>
            </a:r>
            <a:r>
              <a:rPr sz="4300" spc="-30" dirty="0"/>
              <a:t>test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1596897" y="1455242"/>
            <a:ext cx="6843395" cy="41573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937894" indent="-283845">
              <a:lnSpc>
                <a:spcPct val="100000"/>
              </a:lnSpc>
              <a:spcBef>
                <a:spcPts val="105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spc="-15" dirty="0">
                <a:latin typeface="Carlito"/>
                <a:cs typeface="Carlito"/>
              </a:rPr>
              <a:t>Conjunto </a:t>
            </a:r>
            <a:r>
              <a:rPr sz="3200" dirty="0">
                <a:latin typeface="Carlito"/>
                <a:cs typeface="Carlito"/>
              </a:rPr>
              <a:t>de </a:t>
            </a:r>
            <a:r>
              <a:rPr sz="3200" spc="-10" dirty="0">
                <a:latin typeface="Carlito"/>
                <a:cs typeface="Carlito"/>
              </a:rPr>
              <a:t>ítems con </a:t>
            </a:r>
            <a:r>
              <a:rPr sz="3200" spc="-5" dirty="0">
                <a:latin typeface="Carlito"/>
                <a:cs typeface="Carlito"/>
              </a:rPr>
              <a:t>las </a:t>
            </a:r>
            <a:r>
              <a:rPr sz="3200" spc="-75" dirty="0">
                <a:latin typeface="Carlito"/>
                <a:cs typeface="Carlito"/>
              </a:rPr>
              <a:t>mismas  </a:t>
            </a:r>
            <a:r>
              <a:rPr sz="3200" spc="-5" dirty="0">
                <a:latin typeface="Carlito"/>
                <a:cs typeface="Carlito"/>
              </a:rPr>
              <a:t>opciones de </a:t>
            </a:r>
            <a:r>
              <a:rPr sz="3200" spc="-15" dirty="0">
                <a:latin typeface="Carlito"/>
                <a:cs typeface="Carlito"/>
              </a:rPr>
              <a:t>respuesta</a:t>
            </a:r>
            <a:r>
              <a:rPr sz="3200" spc="-2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(escala).</a:t>
            </a:r>
            <a:endParaRPr sz="3200">
              <a:latin typeface="Carlito"/>
              <a:cs typeface="Carlito"/>
            </a:endParaRPr>
          </a:p>
          <a:p>
            <a:pPr marL="295910" marR="5080" indent="-283845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spc="-15" dirty="0">
                <a:latin typeface="Carlito"/>
                <a:cs typeface="Carlito"/>
              </a:rPr>
              <a:t>Respuestas </a:t>
            </a:r>
            <a:r>
              <a:rPr sz="3200" spc="-10" dirty="0">
                <a:latin typeface="Carlito"/>
                <a:cs typeface="Carlito"/>
              </a:rPr>
              <a:t>constituyen </a:t>
            </a:r>
            <a:r>
              <a:rPr sz="3200" spc="-5" dirty="0">
                <a:latin typeface="Carlito"/>
                <a:cs typeface="Carlito"/>
              </a:rPr>
              <a:t>un indicador </a:t>
            </a:r>
            <a:r>
              <a:rPr sz="3200" spc="-229" dirty="0">
                <a:latin typeface="Carlito"/>
                <a:cs typeface="Carlito"/>
              </a:rPr>
              <a:t>de  </a:t>
            </a:r>
            <a:r>
              <a:rPr sz="3200" dirty="0">
                <a:latin typeface="Carlito"/>
                <a:cs typeface="Carlito"/>
              </a:rPr>
              <a:t>un </a:t>
            </a:r>
            <a:r>
              <a:rPr sz="3200" spc="-5" dirty="0">
                <a:latin typeface="Carlito"/>
                <a:cs typeface="Carlito"/>
              </a:rPr>
              <a:t>hecho </a:t>
            </a:r>
            <a:r>
              <a:rPr sz="3200" dirty="0">
                <a:latin typeface="Carlito"/>
                <a:cs typeface="Carlito"/>
              </a:rPr>
              <a:t>o actitud que no </a:t>
            </a:r>
            <a:r>
              <a:rPr sz="3200" spc="-5" dirty="0">
                <a:latin typeface="Carlito"/>
                <a:cs typeface="Carlito"/>
              </a:rPr>
              <a:t>se </a:t>
            </a:r>
            <a:r>
              <a:rPr sz="3200" spc="-10" dirty="0">
                <a:latin typeface="Carlito"/>
                <a:cs typeface="Carlito"/>
              </a:rPr>
              <a:t>revelaría  </a:t>
            </a:r>
            <a:r>
              <a:rPr sz="3200" spc="-15" dirty="0">
                <a:latin typeface="Carlito"/>
                <a:cs typeface="Carlito"/>
              </a:rPr>
              <a:t>directamente.</a:t>
            </a:r>
            <a:endParaRPr sz="3200">
              <a:latin typeface="Carlito"/>
              <a:cs typeface="Carlito"/>
            </a:endParaRPr>
          </a:p>
          <a:p>
            <a:pPr marL="295910" indent="-283845">
              <a:lnSpc>
                <a:spcPct val="100000"/>
              </a:lnSpc>
              <a:spcBef>
                <a:spcPts val="605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spc="-10" dirty="0">
                <a:latin typeface="Carlito"/>
                <a:cs typeface="Carlito"/>
              </a:rPr>
              <a:t>Orientaciones </a:t>
            </a:r>
            <a:r>
              <a:rPr sz="3200" dirty="0">
                <a:latin typeface="Carlito"/>
                <a:cs typeface="Carlito"/>
              </a:rPr>
              <a:t>de la</a:t>
            </a:r>
            <a:r>
              <a:rPr sz="3200" spc="-10" dirty="0">
                <a:latin typeface="Carlito"/>
                <a:cs typeface="Carlito"/>
              </a:rPr>
              <a:t> personalidad.</a:t>
            </a:r>
            <a:endParaRPr sz="3200">
              <a:latin typeface="Carlito"/>
              <a:cs typeface="Carlito"/>
            </a:endParaRPr>
          </a:p>
          <a:p>
            <a:pPr marL="295910" marR="373380" indent="-283845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spc="-10" dirty="0">
                <a:latin typeface="Carlito"/>
                <a:cs typeface="Carlito"/>
              </a:rPr>
              <a:t>Estudios </a:t>
            </a:r>
            <a:r>
              <a:rPr sz="3200" spc="-5" dirty="0">
                <a:latin typeface="Carlito"/>
                <a:cs typeface="Carlito"/>
              </a:rPr>
              <a:t>sociopolíticos, </a:t>
            </a:r>
            <a:r>
              <a:rPr sz="3200" spc="-10" dirty="0">
                <a:latin typeface="Carlito"/>
                <a:cs typeface="Carlito"/>
              </a:rPr>
              <a:t>psicológicos </a:t>
            </a:r>
            <a:r>
              <a:rPr sz="3200" spc="-400" dirty="0">
                <a:latin typeface="Carlito"/>
                <a:cs typeface="Carlito"/>
              </a:rPr>
              <a:t>y  </a:t>
            </a:r>
            <a:r>
              <a:rPr sz="3200" spc="-10" dirty="0">
                <a:latin typeface="Carlito"/>
                <a:cs typeface="Carlito"/>
              </a:rPr>
              <a:t>educativos.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164323" y="5517214"/>
            <a:ext cx="1944243" cy="12961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4335" y="338328"/>
            <a:ext cx="7274052" cy="1216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14602" y="470738"/>
            <a:ext cx="657415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20" dirty="0"/>
              <a:t>Preguntas </a:t>
            </a:r>
            <a:r>
              <a:rPr sz="4300" spc="-5" dirty="0"/>
              <a:t>de actitud tipo</a:t>
            </a:r>
            <a:r>
              <a:rPr sz="4300" spc="30" dirty="0"/>
              <a:t> </a:t>
            </a:r>
            <a:r>
              <a:rPr sz="4300" spc="-30" dirty="0"/>
              <a:t>test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1204975" y="1309204"/>
            <a:ext cx="7813040" cy="1711960"/>
          </a:xfrm>
          <a:prstGeom prst="rect">
            <a:avLst/>
          </a:prstGeom>
        </p:spPr>
        <p:txBody>
          <a:bodyPr vert="horz" wrap="square" lIns="0" tIns="1593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sz="2550" spc="-665" dirty="0">
                <a:solidFill>
                  <a:srgbClr val="93B6D2"/>
                </a:solidFill>
                <a:latin typeface="Arial"/>
                <a:cs typeface="Arial"/>
              </a:rPr>
              <a:t></a:t>
            </a:r>
            <a:r>
              <a:rPr sz="2550" spc="-640" dirty="0">
                <a:solidFill>
                  <a:srgbClr val="93B6D2"/>
                </a:solidFill>
                <a:latin typeface="Arial"/>
                <a:cs typeface="Arial"/>
              </a:rPr>
              <a:t> </a:t>
            </a:r>
            <a:r>
              <a:rPr sz="3200" spc="-5" dirty="0">
                <a:latin typeface="Carlito"/>
                <a:cs typeface="Carlito"/>
              </a:rPr>
              <a:t>Ejemplo:</a:t>
            </a:r>
            <a:endParaRPr sz="3200">
              <a:latin typeface="Carlito"/>
              <a:cs typeface="Carlito"/>
            </a:endParaRPr>
          </a:p>
          <a:p>
            <a:pPr marL="295910" marR="5080">
              <a:lnSpc>
                <a:spcPct val="102400"/>
              </a:lnSpc>
              <a:spcBef>
                <a:spcPts val="919"/>
              </a:spcBef>
            </a:pPr>
            <a:r>
              <a:rPr sz="2800" spc="-5" dirty="0">
                <a:latin typeface="Carlito"/>
                <a:cs typeface="Carlito"/>
              </a:rPr>
              <a:t>En </a:t>
            </a:r>
            <a:r>
              <a:rPr sz="2800" spc="-10" dirty="0">
                <a:latin typeface="Carlito"/>
                <a:cs typeface="Carlito"/>
              </a:rPr>
              <a:t>qué </a:t>
            </a:r>
            <a:r>
              <a:rPr sz="2800" spc="-5" dirty="0">
                <a:latin typeface="Carlito"/>
                <a:cs typeface="Carlito"/>
              </a:rPr>
              <a:t>medida </a:t>
            </a:r>
            <a:r>
              <a:rPr sz="2800" spc="-25" dirty="0">
                <a:latin typeface="Carlito"/>
                <a:cs typeface="Carlito"/>
              </a:rPr>
              <a:t>está </a:t>
            </a:r>
            <a:r>
              <a:rPr sz="2800" spc="-5" dirty="0">
                <a:latin typeface="Carlito"/>
                <a:cs typeface="Carlito"/>
              </a:rPr>
              <a:t>Ud de </a:t>
            </a:r>
            <a:r>
              <a:rPr sz="2800" spc="-15" dirty="0">
                <a:latin typeface="Carlito"/>
                <a:cs typeface="Carlito"/>
              </a:rPr>
              <a:t>acuerdo </a:t>
            </a:r>
            <a:r>
              <a:rPr sz="2800" spc="-5" dirty="0">
                <a:latin typeface="Carlito"/>
                <a:cs typeface="Carlito"/>
              </a:rPr>
              <a:t>o en </a:t>
            </a:r>
            <a:r>
              <a:rPr sz="2800" spc="-15" dirty="0">
                <a:latin typeface="Carlito"/>
                <a:cs typeface="Carlito"/>
              </a:rPr>
              <a:t>desacuerdo  con realizar </a:t>
            </a:r>
            <a:r>
              <a:rPr sz="2800" spc="-10" dirty="0">
                <a:latin typeface="Carlito"/>
                <a:cs typeface="Carlito"/>
              </a:rPr>
              <a:t>aborto </a:t>
            </a:r>
            <a:r>
              <a:rPr sz="2800" spc="-5" dirty="0">
                <a:latin typeface="Carlito"/>
                <a:cs typeface="Carlito"/>
              </a:rPr>
              <a:t>en las </a:t>
            </a:r>
            <a:r>
              <a:rPr sz="2800" spc="-15" dirty="0">
                <a:latin typeface="Carlito"/>
                <a:cs typeface="Carlito"/>
              </a:rPr>
              <a:t>siguientes</a:t>
            </a:r>
            <a:r>
              <a:rPr sz="2800" spc="8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circunstancias</a:t>
            </a:r>
            <a:r>
              <a:rPr sz="3200" spc="-10" dirty="0">
                <a:latin typeface="Carlito"/>
                <a:cs typeface="Carlito"/>
              </a:rPr>
              <a:t>:</a:t>
            </a:r>
            <a:endParaRPr sz="3200">
              <a:latin typeface="Carlito"/>
              <a:cs typeface="Carli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03603" y="3141002"/>
            <a:ext cx="7705090" cy="3672840"/>
            <a:chOff x="1403603" y="3141002"/>
            <a:chExt cx="7705090" cy="3672840"/>
          </a:xfrm>
        </p:grpSpPr>
        <p:sp>
          <p:nvSpPr>
            <p:cNvPr id="6" name="object 6"/>
            <p:cNvSpPr/>
            <p:nvPr/>
          </p:nvSpPr>
          <p:spPr>
            <a:xfrm>
              <a:off x="7668387" y="5949280"/>
              <a:ext cx="1440179" cy="86409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03603" y="3141002"/>
              <a:ext cx="7416800" cy="261112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4335" y="338328"/>
            <a:ext cx="4134612" cy="1216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14602" y="470738"/>
            <a:ext cx="3434079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20" dirty="0"/>
              <a:t>Preguntas</a:t>
            </a:r>
            <a:r>
              <a:rPr sz="4300" spc="-45" dirty="0"/>
              <a:t> </a:t>
            </a:r>
            <a:r>
              <a:rPr sz="4300" spc="-20" dirty="0"/>
              <a:t>filtro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1596897" y="1455242"/>
            <a:ext cx="6863715" cy="46767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805180" indent="-283845">
              <a:lnSpc>
                <a:spcPct val="100000"/>
              </a:lnSpc>
              <a:spcBef>
                <a:spcPts val="105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spc="-5" dirty="0">
                <a:latin typeface="Carlito"/>
                <a:cs typeface="Carlito"/>
              </a:rPr>
              <a:t>Buscan determinar si </a:t>
            </a:r>
            <a:r>
              <a:rPr sz="3200" dirty="0">
                <a:latin typeface="Carlito"/>
                <a:cs typeface="Carlito"/>
              </a:rPr>
              <a:t>las </a:t>
            </a:r>
            <a:r>
              <a:rPr sz="3200" spc="-65" dirty="0">
                <a:latin typeface="Carlito"/>
                <a:cs typeface="Carlito"/>
              </a:rPr>
              <a:t>preguntas  </a:t>
            </a:r>
            <a:r>
              <a:rPr sz="3200" spc="-10" dirty="0">
                <a:latin typeface="Carlito"/>
                <a:cs typeface="Carlito"/>
              </a:rPr>
              <a:t>siguientes </a:t>
            </a:r>
            <a:r>
              <a:rPr sz="3200" spc="-5" dirty="0">
                <a:latin typeface="Carlito"/>
                <a:cs typeface="Carlito"/>
              </a:rPr>
              <a:t>son </a:t>
            </a:r>
            <a:r>
              <a:rPr sz="3200" dirty="0">
                <a:latin typeface="Carlito"/>
                <a:cs typeface="Carlito"/>
              </a:rPr>
              <a:t>o </a:t>
            </a:r>
            <a:r>
              <a:rPr sz="3200" spc="-5" dirty="0">
                <a:latin typeface="Carlito"/>
                <a:cs typeface="Carlito"/>
              </a:rPr>
              <a:t>no</a:t>
            </a:r>
            <a:r>
              <a:rPr sz="3200" spc="1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aplicables.</a:t>
            </a:r>
            <a:endParaRPr sz="3200">
              <a:latin typeface="Carlito"/>
              <a:cs typeface="Carlito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spc="-155" dirty="0">
                <a:latin typeface="Arimo"/>
                <a:cs typeface="Arimo"/>
              </a:rPr>
              <a:t>Corresponden </a:t>
            </a:r>
            <a:r>
              <a:rPr sz="3200" spc="-245" dirty="0">
                <a:latin typeface="Arimo"/>
                <a:cs typeface="Arimo"/>
              </a:rPr>
              <a:t>a</a:t>
            </a:r>
            <a:r>
              <a:rPr sz="3200" spc="-180" dirty="0">
                <a:latin typeface="Arimo"/>
                <a:cs typeface="Arimo"/>
              </a:rPr>
              <a:t> </a:t>
            </a:r>
            <a:r>
              <a:rPr sz="3200" spc="-140" dirty="0">
                <a:latin typeface="Arimo"/>
                <a:cs typeface="Arimo"/>
              </a:rPr>
              <a:t>“pases”.</a:t>
            </a:r>
            <a:endParaRPr sz="3200">
              <a:latin typeface="Arimo"/>
              <a:cs typeface="Arimo"/>
            </a:endParaRPr>
          </a:p>
          <a:p>
            <a:pPr marL="295910" marR="5080" indent="-283845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spc="-5" dirty="0">
                <a:latin typeface="Carlito"/>
                <a:cs typeface="Carlito"/>
              </a:rPr>
              <a:t>Ejemplo: opinión </a:t>
            </a:r>
            <a:r>
              <a:rPr sz="3200" dirty="0">
                <a:latin typeface="Carlito"/>
                <a:cs typeface="Carlito"/>
              </a:rPr>
              <a:t>de </a:t>
            </a:r>
            <a:r>
              <a:rPr sz="3200" spc="-15" dirty="0">
                <a:latin typeface="Carlito"/>
                <a:cs typeface="Carlito"/>
              </a:rPr>
              <a:t>estudiantes  universitarios sobre </a:t>
            </a:r>
            <a:r>
              <a:rPr sz="3200" spc="-5" dirty="0">
                <a:latin typeface="Carlito"/>
                <a:cs typeface="Carlito"/>
              </a:rPr>
              <a:t>educación</a:t>
            </a:r>
            <a:r>
              <a:rPr sz="3200" spc="50" dirty="0">
                <a:latin typeface="Carlito"/>
                <a:cs typeface="Carlito"/>
              </a:rPr>
              <a:t> </a:t>
            </a:r>
            <a:r>
              <a:rPr sz="3200" spc="-40" dirty="0">
                <a:latin typeface="Carlito"/>
                <a:cs typeface="Carlito"/>
              </a:rPr>
              <a:t>superior.</a:t>
            </a:r>
            <a:endParaRPr sz="3200">
              <a:latin typeface="Carlito"/>
              <a:cs typeface="Carlito"/>
            </a:endParaRPr>
          </a:p>
          <a:p>
            <a:pPr marL="570230" marR="391160" lvl="1" indent="-238125">
              <a:lnSpc>
                <a:spcPct val="100000"/>
              </a:lnSpc>
              <a:spcBef>
                <a:spcPts val="615"/>
              </a:spcBef>
              <a:buClr>
                <a:srgbClr val="93B6D2"/>
              </a:buClr>
              <a:buFont typeface="Verdana"/>
              <a:buChar char="◦"/>
              <a:tabLst>
                <a:tab pos="570865" algn="l"/>
              </a:tabLst>
            </a:pPr>
            <a:r>
              <a:rPr sz="3000" spc="-15" dirty="0">
                <a:latin typeface="Carlito"/>
                <a:cs typeface="Carlito"/>
              </a:rPr>
              <a:t>¿Está </a:t>
            </a:r>
            <a:r>
              <a:rPr sz="3000" spc="-5" dirty="0">
                <a:latin typeface="Carlito"/>
                <a:cs typeface="Carlito"/>
              </a:rPr>
              <a:t>Ud. matriculado </a:t>
            </a:r>
            <a:r>
              <a:rPr sz="3000" spc="-10" dirty="0">
                <a:latin typeface="Carlito"/>
                <a:cs typeface="Carlito"/>
              </a:rPr>
              <a:t>actualmente </a:t>
            </a:r>
            <a:r>
              <a:rPr sz="3000" dirty="0">
                <a:latin typeface="Carlito"/>
                <a:cs typeface="Carlito"/>
              </a:rPr>
              <a:t>en  alguna</a:t>
            </a:r>
            <a:r>
              <a:rPr sz="3000" spc="-15" dirty="0">
                <a:latin typeface="Carlito"/>
                <a:cs typeface="Carlito"/>
              </a:rPr>
              <a:t> universidad?</a:t>
            </a:r>
            <a:endParaRPr sz="3000">
              <a:latin typeface="Carlito"/>
              <a:cs typeface="Carlito"/>
            </a:endParaRPr>
          </a:p>
          <a:p>
            <a:pPr marL="570230" marR="809625" lvl="2">
              <a:lnSpc>
                <a:spcPct val="116700"/>
              </a:lnSpc>
              <a:buSzPct val="96666"/>
              <a:buAutoNum type="arabicPeriod"/>
              <a:tabLst>
                <a:tab pos="861060" algn="l"/>
                <a:tab pos="1294765" algn="l"/>
                <a:tab pos="6045835" algn="l"/>
              </a:tabLst>
            </a:pPr>
            <a:r>
              <a:rPr sz="3000" dirty="0">
                <a:latin typeface="Carlito"/>
                <a:cs typeface="Carlito"/>
              </a:rPr>
              <a:t>Sí	</a:t>
            </a:r>
            <a:r>
              <a:rPr sz="3000" spc="-10" dirty="0">
                <a:latin typeface="Carlito"/>
                <a:cs typeface="Carlito"/>
              </a:rPr>
              <a:t>Cuál </a:t>
            </a:r>
            <a:r>
              <a:rPr sz="3000" u="heavy" spc="-10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	</a:t>
            </a:r>
            <a:r>
              <a:rPr sz="3000" dirty="0">
                <a:latin typeface="Carlito"/>
                <a:cs typeface="Carlito"/>
              </a:rPr>
              <a:t> 2.No </a:t>
            </a:r>
            <a:r>
              <a:rPr sz="3000" spc="-5" dirty="0">
                <a:latin typeface="Carlito"/>
                <a:cs typeface="Carlito"/>
              </a:rPr>
              <a:t>(TERMINE LA</a:t>
            </a:r>
            <a:r>
              <a:rPr sz="3000" spc="-30" dirty="0">
                <a:latin typeface="Carlito"/>
                <a:cs typeface="Carlito"/>
              </a:rPr>
              <a:t> ENTREVISTA)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12405" y="5517214"/>
            <a:ext cx="1296162" cy="12961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23" y="0"/>
            <a:ext cx="9142730" cy="6858000"/>
            <a:chOff x="1423" y="0"/>
            <a:chExt cx="9142730" cy="6858000"/>
          </a:xfrm>
        </p:grpSpPr>
        <p:sp>
          <p:nvSpPr>
            <p:cNvPr id="3" name="object 3"/>
            <p:cNvSpPr/>
            <p:nvPr/>
          </p:nvSpPr>
          <p:spPr>
            <a:xfrm>
              <a:off x="1196340" y="89916"/>
              <a:ext cx="6888480" cy="11064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96340" y="684275"/>
              <a:ext cx="3151632" cy="11064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" marR="50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Detalles </a:t>
            </a:r>
            <a:r>
              <a:rPr spc="-5" dirty="0"/>
              <a:t>de </a:t>
            </a:r>
            <a:r>
              <a:rPr dirty="0"/>
              <a:t>la </a:t>
            </a:r>
            <a:r>
              <a:rPr spc="-15" dirty="0"/>
              <a:t>construcción </a:t>
            </a:r>
            <a:r>
              <a:rPr spc="-5" dirty="0"/>
              <a:t>del  cuestionario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48866" y="2094687"/>
            <a:ext cx="7559040" cy="40411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845">
              <a:lnSpc>
                <a:spcPts val="3635"/>
              </a:lnSpc>
              <a:spcBef>
                <a:spcPts val="105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spc="-10" dirty="0">
                <a:latin typeface="Carlito"/>
                <a:cs typeface="Carlito"/>
              </a:rPr>
              <a:t>Orden </a:t>
            </a:r>
            <a:r>
              <a:rPr sz="3200" dirty="0">
                <a:latin typeface="Carlito"/>
                <a:cs typeface="Carlito"/>
              </a:rPr>
              <a:t>de </a:t>
            </a:r>
            <a:r>
              <a:rPr sz="3200" spc="-5" dirty="0">
                <a:latin typeface="Carlito"/>
                <a:cs typeface="Carlito"/>
              </a:rPr>
              <a:t>las </a:t>
            </a:r>
            <a:r>
              <a:rPr sz="3200" spc="-10" dirty="0">
                <a:latin typeface="Carlito"/>
                <a:cs typeface="Carlito"/>
              </a:rPr>
              <a:t>preguntas: generales</a:t>
            </a:r>
            <a:r>
              <a:rPr sz="3200" spc="-20" dirty="0">
                <a:latin typeface="Carlito"/>
                <a:cs typeface="Carlito"/>
              </a:rPr>
              <a:t> </a:t>
            </a:r>
            <a:r>
              <a:rPr sz="3200" spc="5" dirty="0">
                <a:latin typeface="Wingdings"/>
                <a:cs typeface="Wingdings"/>
              </a:rPr>
              <a:t></a:t>
            </a:r>
            <a:endParaRPr sz="3200">
              <a:latin typeface="Wingdings"/>
              <a:cs typeface="Wingdings"/>
            </a:endParaRPr>
          </a:p>
          <a:p>
            <a:pPr marL="295910">
              <a:lnSpc>
                <a:spcPts val="3635"/>
              </a:lnSpc>
            </a:pPr>
            <a:r>
              <a:rPr sz="3200" spc="-5" dirty="0">
                <a:latin typeface="Carlito"/>
                <a:cs typeface="Carlito"/>
              </a:rPr>
              <a:t>específicas</a:t>
            </a:r>
            <a:endParaRPr sz="3200">
              <a:latin typeface="Carlito"/>
              <a:cs typeface="Carlito"/>
            </a:endParaRPr>
          </a:p>
          <a:p>
            <a:pPr marL="295910" indent="-283845">
              <a:lnSpc>
                <a:spcPct val="100000"/>
              </a:lnSpc>
              <a:spcBef>
                <a:spcPts val="215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spc="-10" dirty="0">
                <a:latin typeface="Carlito"/>
                <a:cs typeface="Carlito"/>
              </a:rPr>
              <a:t>Número </a:t>
            </a:r>
            <a:r>
              <a:rPr sz="3200" spc="-5" dirty="0">
                <a:latin typeface="Carlito"/>
                <a:cs typeface="Carlito"/>
              </a:rPr>
              <a:t>de </a:t>
            </a:r>
            <a:r>
              <a:rPr sz="3200" spc="-15" dirty="0">
                <a:latin typeface="Carlito"/>
                <a:cs typeface="Carlito"/>
              </a:rPr>
              <a:t>preguntas:</a:t>
            </a:r>
            <a:r>
              <a:rPr sz="3200" spc="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intermedio</a:t>
            </a:r>
            <a:endParaRPr sz="3200">
              <a:latin typeface="Carlito"/>
              <a:cs typeface="Carlito"/>
            </a:endParaRPr>
          </a:p>
          <a:p>
            <a:pPr marL="295910" indent="-283845">
              <a:lnSpc>
                <a:spcPct val="100000"/>
              </a:lnSpc>
              <a:spcBef>
                <a:spcPts val="220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spc="-10" dirty="0">
                <a:latin typeface="Carlito"/>
                <a:cs typeface="Carlito"/>
              </a:rPr>
              <a:t>Redacción </a:t>
            </a:r>
            <a:r>
              <a:rPr sz="3200" dirty="0">
                <a:latin typeface="Carlito"/>
                <a:cs typeface="Carlito"/>
              </a:rPr>
              <a:t>de las </a:t>
            </a:r>
            <a:r>
              <a:rPr sz="3200" spc="-10" dirty="0">
                <a:latin typeface="Carlito"/>
                <a:cs typeface="Carlito"/>
              </a:rPr>
              <a:t>preguntas: </a:t>
            </a:r>
            <a:r>
              <a:rPr sz="3200" spc="-5" dirty="0">
                <a:latin typeface="Carlito"/>
                <a:cs typeface="Carlito"/>
              </a:rPr>
              <a:t>simples </a:t>
            </a:r>
            <a:r>
              <a:rPr sz="3200" dirty="0">
                <a:latin typeface="Carlito"/>
                <a:cs typeface="Carlito"/>
              </a:rPr>
              <a:t>y</a:t>
            </a:r>
            <a:r>
              <a:rPr sz="3200" spc="5" dirty="0">
                <a:latin typeface="Carlito"/>
                <a:cs typeface="Carlito"/>
              </a:rPr>
              <a:t> </a:t>
            </a:r>
            <a:r>
              <a:rPr sz="3200" spc="-70" dirty="0">
                <a:latin typeface="Carlito"/>
                <a:cs typeface="Carlito"/>
              </a:rPr>
              <a:t>claras</a:t>
            </a:r>
            <a:endParaRPr sz="3200">
              <a:latin typeface="Carlito"/>
              <a:cs typeface="Carlito"/>
            </a:endParaRPr>
          </a:p>
          <a:p>
            <a:pPr marL="295910" indent="-283845">
              <a:lnSpc>
                <a:spcPct val="100000"/>
              </a:lnSpc>
              <a:spcBef>
                <a:spcPts val="215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spc="-5" dirty="0">
                <a:latin typeface="Carlito"/>
                <a:cs typeface="Carlito"/>
              </a:rPr>
              <a:t>Modulación: bloques </a:t>
            </a:r>
            <a:r>
              <a:rPr sz="3200" dirty="0">
                <a:latin typeface="Carlito"/>
                <a:cs typeface="Carlito"/>
              </a:rPr>
              <a:t>o</a:t>
            </a:r>
            <a:r>
              <a:rPr sz="3200" spc="2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temas</a:t>
            </a:r>
            <a:endParaRPr sz="3200">
              <a:latin typeface="Carlito"/>
              <a:cs typeface="Carlito"/>
            </a:endParaRPr>
          </a:p>
          <a:p>
            <a:pPr marL="295910" indent="-283845">
              <a:lnSpc>
                <a:spcPct val="100000"/>
              </a:lnSpc>
              <a:spcBef>
                <a:spcPts val="220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spc="-5" dirty="0">
                <a:latin typeface="Carlito"/>
                <a:cs typeface="Carlito"/>
              </a:rPr>
              <a:t>Instrucciones </a:t>
            </a:r>
            <a:r>
              <a:rPr sz="3200" spc="-20" dirty="0">
                <a:latin typeface="Carlito"/>
                <a:cs typeface="Carlito"/>
              </a:rPr>
              <a:t>para </a:t>
            </a:r>
            <a:r>
              <a:rPr sz="3200" dirty="0">
                <a:latin typeface="Carlito"/>
                <a:cs typeface="Carlito"/>
              </a:rPr>
              <a:t>el</a:t>
            </a:r>
            <a:r>
              <a:rPr sz="3200" spc="30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entrevistador</a:t>
            </a:r>
            <a:endParaRPr sz="3200">
              <a:latin typeface="Carlito"/>
              <a:cs typeface="Carlito"/>
            </a:endParaRPr>
          </a:p>
          <a:p>
            <a:pPr marL="295910" indent="-283845">
              <a:lnSpc>
                <a:spcPct val="100000"/>
              </a:lnSpc>
              <a:spcBef>
                <a:spcPts val="215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spc="-10" dirty="0">
                <a:latin typeface="Carlito"/>
                <a:cs typeface="Carlito"/>
              </a:rPr>
              <a:t>Introducción: objetivo </a:t>
            </a:r>
            <a:r>
              <a:rPr sz="3200" spc="-5" dirty="0">
                <a:latin typeface="Carlito"/>
                <a:cs typeface="Carlito"/>
              </a:rPr>
              <a:t>del</a:t>
            </a:r>
            <a:r>
              <a:rPr sz="3200" spc="1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estudio</a:t>
            </a:r>
            <a:endParaRPr sz="3200">
              <a:latin typeface="Carlito"/>
              <a:cs typeface="Carlito"/>
            </a:endParaRPr>
          </a:p>
          <a:p>
            <a:pPr marL="295910" indent="-283845">
              <a:lnSpc>
                <a:spcPct val="100000"/>
              </a:lnSpc>
              <a:spcBef>
                <a:spcPts val="215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dirty="0">
                <a:latin typeface="Carlito"/>
                <a:cs typeface="Carlito"/>
              </a:rPr>
              <a:t>Prueba </a:t>
            </a:r>
            <a:r>
              <a:rPr sz="3200" spc="-5" dirty="0">
                <a:latin typeface="Carlito"/>
                <a:cs typeface="Carlito"/>
              </a:rPr>
              <a:t>del cuestionario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4335" y="338328"/>
            <a:ext cx="5548884" cy="1216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14602" y="470738"/>
            <a:ext cx="7095998" cy="67390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15" dirty="0" err="1"/>
              <a:t>Problemas</a:t>
            </a:r>
            <a:r>
              <a:rPr sz="4300" spc="-55" dirty="0"/>
              <a:t> </a:t>
            </a:r>
            <a:r>
              <a:rPr sz="4300" spc="-20" dirty="0" err="1"/>
              <a:t>frecuentes</a:t>
            </a:r>
            <a:r>
              <a:rPr lang="es-ES" sz="4300" spc="-20" dirty="0"/>
              <a:t> (pág. 91)</a:t>
            </a:r>
            <a:endParaRPr sz="4300" dirty="0"/>
          </a:p>
        </p:txBody>
      </p:sp>
      <p:sp>
        <p:nvSpPr>
          <p:cNvPr id="4" name="object 4"/>
          <p:cNvSpPr txBox="1"/>
          <p:nvPr/>
        </p:nvSpPr>
        <p:spPr>
          <a:xfrm>
            <a:off x="1596897" y="1992839"/>
            <a:ext cx="6235065" cy="340995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700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spc="-5" dirty="0">
                <a:latin typeface="Carlito"/>
                <a:cs typeface="Carlito"/>
              </a:rPr>
              <a:t>Lenguaje</a:t>
            </a:r>
            <a:r>
              <a:rPr sz="3200" spc="-10" dirty="0">
                <a:latin typeface="Carlito"/>
                <a:cs typeface="Carlito"/>
              </a:rPr>
              <a:t> utilizado</a:t>
            </a:r>
            <a:endParaRPr sz="3200">
              <a:latin typeface="Carlito"/>
              <a:cs typeface="Carlito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spc="-15" dirty="0">
                <a:latin typeface="Carlito"/>
                <a:cs typeface="Carlito"/>
              </a:rPr>
              <a:t>Preguntas </a:t>
            </a:r>
            <a:r>
              <a:rPr sz="3200" spc="-5" dirty="0">
                <a:latin typeface="Carlito"/>
                <a:cs typeface="Carlito"/>
              </a:rPr>
              <a:t>bidimensionales </a:t>
            </a:r>
            <a:r>
              <a:rPr sz="3200" dirty="0">
                <a:latin typeface="Carlito"/>
                <a:cs typeface="Carlito"/>
              </a:rPr>
              <a:t>o</a:t>
            </a:r>
            <a:r>
              <a:rPr sz="3200" spc="55" dirty="0">
                <a:latin typeface="Carlito"/>
                <a:cs typeface="Carlito"/>
              </a:rPr>
              <a:t> </a:t>
            </a:r>
            <a:r>
              <a:rPr sz="3200" spc="-65" dirty="0">
                <a:latin typeface="Carlito"/>
                <a:cs typeface="Carlito"/>
              </a:rPr>
              <a:t>dobles</a:t>
            </a:r>
            <a:endParaRPr sz="3200">
              <a:latin typeface="Carlito"/>
              <a:cs typeface="Carlito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spc="-15" dirty="0">
                <a:latin typeface="Carlito"/>
                <a:cs typeface="Carlito"/>
              </a:rPr>
              <a:t>Preguntas</a:t>
            </a:r>
            <a:r>
              <a:rPr sz="3200" spc="-5" dirty="0">
                <a:latin typeface="Carlito"/>
                <a:cs typeface="Carlito"/>
              </a:rPr>
              <a:t> ambiguas</a:t>
            </a:r>
            <a:endParaRPr sz="3200">
              <a:latin typeface="Carlito"/>
              <a:cs typeface="Carlito"/>
            </a:endParaRPr>
          </a:p>
          <a:p>
            <a:pPr marL="295910" indent="-283845">
              <a:lnSpc>
                <a:spcPct val="100000"/>
              </a:lnSpc>
              <a:spcBef>
                <a:spcPts val="605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spc="-5" dirty="0">
                <a:latin typeface="Carlito"/>
                <a:cs typeface="Carlito"/>
              </a:rPr>
              <a:t>Doble </a:t>
            </a:r>
            <a:r>
              <a:rPr sz="3200" spc="-10" dirty="0">
                <a:latin typeface="Carlito"/>
                <a:cs typeface="Carlito"/>
              </a:rPr>
              <a:t>negación</a:t>
            </a:r>
            <a:endParaRPr sz="3200">
              <a:latin typeface="Carlito"/>
              <a:cs typeface="Carlito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spc="-15" dirty="0">
                <a:latin typeface="Carlito"/>
                <a:cs typeface="Carlito"/>
              </a:rPr>
              <a:t>Preguntas </a:t>
            </a:r>
            <a:r>
              <a:rPr sz="3200" spc="-20" dirty="0">
                <a:latin typeface="Carlito"/>
                <a:cs typeface="Carlito"/>
              </a:rPr>
              <a:t>cargadas </a:t>
            </a:r>
            <a:r>
              <a:rPr sz="3200" dirty="0">
                <a:latin typeface="Carlito"/>
                <a:cs typeface="Carlito"/>
              </a:rPr>
              <a:t>o</a:t>
            </a:r>
            <a:r>
              <a:rPr sz="3200" spc="2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sesgadas</a:t>
            </a:r>
            <a:endParaRPr sz="3200">
              <a:latin typeface="Carlito"/>
              <a:cs typeface="Carlito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79687"/>
              <a:buFont typeface="Arial"/>
              <a:buChar char=""/>
              <a:tabLst>
                <a:tab pos="296545" algn="l"/>
              </a:tabLst>
            </a:pPr>
            <a:r>
              <a:rPr sz="3200" spc="-15" dirty="0">
                <a:latin typeface="Carlito"/>
                <a:cs typeface="Carlito"/>
              </a:rPr>
              <a:t>Preguntas </a:t>
            </a:r>
            <a:r>
              <a:rPr sz="3200" dirty="0">
                <a:latin typeface="Carlito"/>
                <a:cs typeface="Carlito"/>
              </a:rPr>
              <a:t>de</a:t>
            </a:r>
            <a:r>
              <a:rPr sz="3200" spc="-10" dirty="0">
                <a:latin typeface="Carlito"/>
                <a:cs typeface="Carlito"/>
              </a:rPr>
              <a:t> conocimiento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093C89-91B6-4AFF-9EFC-FE9C268EE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217" y="207086"/>
            <a:ext cx="6163564" cy="600164"/>
          </a:xfrm>
        </p:spPr>
        <p:txBody>
          <a:bodyPr/>
          <a:lstStyle/>
          <a:p>
            <a:r>
              <a:rPr lang="es-ES" dirty="0"/>
              <a:t>Consideraciones éticas (1)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3A74EE-EAFE-412C-A669-228786CC8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6897" y="1455242"/>
            <a:ext cx="7186295" cy="5279009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dirty="0"/>
              <a:t>A la privacidad de los demás y a los acuerdos de confidencialidad.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dirty="0"/>
              <a:t>A las comunidades donde se recogen los datos; y las protegemos contra el daño que les pudiera acaecer por el mal uso de los resultados.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dirty="0"/>
              <a:t>No debemos suprimir o desvirtuar la labor de los demás.</a:t>
            </a:r>
          </a:p>
        </p:txBody>
      </p:sp>
    </p:spTree>
    <p:extLst>
      <p:ext uri="{BB962C8B-B14F-4D97-AF65-F5344CB8AC3E}">
        <p14:creationId xmlns:p14="http://schemas.microsoft.com/office/powerpoint/2010/main" val="7859706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093C89-91B6-4AFF-9EFC-FE9C268EE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Consideraciones éticas (2)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3A74EE-EAFE-412C-A669-228786CC8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9200" y="1676400"/>
            <a:ext cx="2984500" cy="4471853"/>
          </a:xfrm>
        </p:spPr>
        <p:txBody>
          <a:bodyPr/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400" dirty="0"/>
              <a:t>Buscar la objetividad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400" dirty="0"/>
              <a:t>Aclarar obligaciones y funciones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400" dirty="0"/>
              <a:t>Exhibir competencia profesional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400" dirty="0"/>
              <a:t>Evaluar alternativas imparcialmente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71C649-7E5E-4746-96B3-ABACA8A7AA11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4948158" y="1676400"/>
            <a:ext cx="3730625" cy="4208844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400" dirty="0"/>
              <a:t>Mantener confianza en las estadísticas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400" dirty="0"/>
              <a:t>Evitar intereses conflictivos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400" dirty="0"/>
              <a:t>Comunicar principios éticos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400" dirty="0"/>
              <a:t>Resguardar información sensible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368600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31719" y="2441447"/>
            <a:ext cx="5205983" cy="11338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57601" y="2563825"/>
            <a:ext cx="45542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25" dirty="0">
                <a:latin typeface="Carlito"/>
                <a:cs typeface="Carlito"/>
              </a:rPr>
              <a:t>DUDAS </a:t>
            </a:r>
            <a:r>
              <a:rPr sz="4000" b="1" spc="-5" dirty="0">
                <a:latin typeface="Carlito"/>
                <a:cs typeface="Carlito"/>
              </a:rPr>
              <a:t>O</a:t>
            </a:r>
            <a:r>
              <a:rPr sz="4000" b="1" spc="-25" dirty="0">
                <a:latin typeface="Carlito"/>
                <a:cs typeface="Carlito"/>
              </a:rPr>
              <a:t> </a:t>
            </a:r>
            <a:r>
              <a:rPr sz="4000" b="1" spc="-80" dirty="0">
                <a:latin typeface="Carlito"/>
                <a:cs typeface="Carlito"/>
              </a:rPr>
              <a:t>CONSULTAS</a:t>
            </a:r>
            <a:endParaRPr sz="4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380351" y="1700783"/>
            <a:ext cx="1571625" cy="2438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Words>1328</Words>
  <Application>Microsoft Office PowerPoint</Application>
  <PresentationFormat>Presentación en pantalla (4:3)</PresentationFormat>
  <Paragraphs>206</Paragraphs>
  <Slides>30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8" baseType="lpstr">
      <vt:lpstr>Arial</vt:lpstr>
      <vt:lpstr>Arimo</vt:lpstr>
      <vt:lpstr>Calibri</vt:lpstr>
      <vt:lpstr>Carlito</vt:lpstr>
      <vt:lpstr>Times New Roman</vt:lpstr>
      <vt:lpstr>Verdana</vt:lpstr>
      <vt:lpstr>Wingdings</vt:lpstr>
      <vt:lpstr>Office Theme</vt:lpstr>
      <vt:lpstr>Presentación de PowerPoint</vt:lpstr>
      <vt:lpstr>FUENTES DE DATOS Y  TÉCNICAS DE RECOLECCIÓN</vt:lpstr>
      <vt:lpstr>Información</vt:lpstr>
      <vt:lpstr>Fuentes de información</vt:lpstr>
      <vt:lpstr>Fuentes de información</vt:lpstr>
      <vt:lpstr>Técnicas para recolección de datos</vt:lpstr>
      <vt:lpstr>Técnicas para recolección de datos</vt:lpstr>
      <vt:lpstr>Etapas de la investigación estadística (pág.50)</vt:lpstr>
      <vt:lpstr>EL CUESTIONARIO</vt:lpstr>
      <vt:lpstr>Preguntas</vt:lpstr>
      <vt:lpstr>Ejemplo</vt:lpstr>
      <vt:lpstr>Preguntas según forma de  preguntar</vt:lpstr>
      <vt:lpstr>Preguntas cerradas</vt:lpstr>
      <vt:lpstr>Preguntas abiertas</vt:lpstr>
      <vt:lpstr>Preguntas abiertas de registro  cerrado</vt:lpstr>
      <vt:lpstr>Preguntas semi-abiertas</vt:lpstr>
      <vt:lpstr>Ventajas y desventajas comparativas</vt:lpstr>
      <vt:lpstr>Preguntas según información  consultada</vt:lpstr>
      <vt:lpstr>Preguntas de hechos</vt:lpstr>
      <vt:lpstr>Preguntas de acción o conducta</vt:lpstr>
      <vt:lpstr>Preguntas de intención</vt:lpstr>
      <vt:lpstr>Preguntas de opinión</vt:lpstr>
      <vt:lpstr>Preguntas de actitud tipo test</vt:lpstr>
      <vt:lpstr>Preguntas de actitud tipo test</vt:lpstr>
      <vt:lpstr>Preguntas filtro</vt:lpstr>
      <vt:lpstr>Detalles de la construcción del  cuestionario</vt:lpstr>
      <vt:lpstr>Problemas frecuentes (pág. 91)</vt:lpstr>
      <vt:lpstr>Consideraciones éticas (1)</vt:lpstr>
      <vt:lpstr>Consideraciones éticas (2)</vt:lpstr>
      <vt:lpstr>DUDAS O CONSULTAS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Naturaleza de la Estadística</dc:title>
  <dc:creator>lalope2</dc:creator>
  <cp:lastModifiedBy>Jorge Andrés Pacheco Rivas</cp:lastModifiedBy>
  <cp:revision>10</cp:revision>
  <dcterms:created xsi:type="dcterms:W3CDTF">2021-06-12T18:49:13Z</dcterms:created>
  <dcterms:modified xsi:type="dcterms:W3CDTF">2023-03-25T03:49:13Z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2015-02-10T00:00:00Z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2021-06-12T00:00:00Z</vt:filetime>
  </property>
</Properties>
</file>